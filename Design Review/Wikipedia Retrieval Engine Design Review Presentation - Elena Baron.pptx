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78" r:id="rId6"/>
    <p:sldId id="260" r:id="rId7"/>
    <p:sldId id="261" r:id="rId8"/>
    <p:sldId id="262" r:id="rId9"/>
    <p:sldId id="263" r:id="rId10"/>
    <p:sldId id="275" r:id="rId11"/>
    <p:sldId id="264" r:id="rId12"/>
    <p:sldId id="270" r:id="rId13"/>
    <p:sldId id="266" r:id="rId14"/>
    <p:sldId id="274" r:id="rId15"/>
    <p:sldId id="271" r:id="rId16"/>
    <p:sldId id="277" r:id="rId17"/>
    <p:sldId id="272" r:id="rId18"/>
    <p:sldId id="273" r:id="rId19"/>
    <p:sldId id="267" r:id="rId20"/>
    <p:sldId id="276" r:id="rId21"/>
    <p:sldId id="265" r:id="rId22"/>
    <p:sldId id="268" r:id="rId23"/>
    <p:sldId id="26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41"/>
    <p:restoredTop sz="71936"/>
  </p:normalViewPr>
  <p:slideViewPr>
    <p:cSldViewPr snapToGrid="0">
      <p:cViewPr varScale="1">
        <p:scale>
          <a:sx n="108" d="100"/>
          <a:sy n="108" d="100"/>
        </p:scale>
        <p:origin x="263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Share of cost</c:v>
                </c:pt>
              </c:strCache>
            </c:strRef>
          </c:tx>
          <c:invertIfNegative val="1"/>
          <c:dPt>
            <c:idx val="0"/>
            <c:invertIfNegative val="1"/>
            <c:bubble3D val="0"/>
            <c:spPr>
              <a:solidFill>
                <a:srgbClr val="A31F34"/>
              </a:solidFill>
            </c:spPr>
            <c:extLst>
              <c:ext xmlns:c16="http://schemas.microsoft.com/office/drawing/2014/chart" uri="{C3380CC4-5D6E-409C-BE32-E72D297353CC}">
                <c16:uniqueId val="{00000001-E26A-4445-ACC2-E05D8FD3A372}"/>
              </c:ext>
            </c:extLst>
          </c:dPt>
          <c:dPt>
            <c:idx val="1"/>
            <c:invertIfNegative val="1"/>
            <c:bubble3D val="0"/>
            <c:spPr>
              <a:solidFill>
                <a:srgbClr val="A31F34"/>
              </a:solidFill>
            </c:spPr>
            <c:extLst>
              <c:ext xmlns:c16="http://schemas.microsoft.com/office/drawing/2014/chart" uri="{C3380CC4-5D6E-409C-BE32-E72D297353CC}">
                <c16:uniqueId val="{00000003-E26A-4445-ACC2-E05D8FD3A372}"/>
              </c:ext>
            </c:extLst>
          </c:dPt>
          <c:dPt>
            <c:idx val="2"/>
            <c:invertIfNegative val="1"/>
            <c:bubble3D val="0"/>
            <c:spPr>
              <a:solidFill>
                <a:srgbClr val="BFBFBF"/>
              </a:solidFill>
            </c:spPr>
            <c:extLst>
              <c:ext xmlns:c16="http://schemas.microsoft.com/office/drawing/2014/chart" uri="{C3380CC4-5D6E-409C-BE32-E72D297353CC}">
                <c16:uniqueId val="{00000005-E26A-4445-ACC2-E05D8FD3A372}"/>
              </c:ext>
            </c:extLst>
          </c:dPt>
          <c:dPt>
            <c:idx val="3"/>
            <c:invertIfNegative val="1"/>
            <c:bubble3D val="0"/>
            <c:spPr>
              <a:solidFill>
                <a:srgbClr val="BFBFBF"/>
              </a:solidFill>
            </c:spPr>
            <c:extLst>
              <c:ext xmlns:c16="http://schemas.microsoft.com/office/drawing/2014/chart" uri="{C3380CC4-5D6E-409C-BE32-E72D297353CC}">
                <c16:uniqueId val="{00000007-E26A-4445-ACC2-E05D8FD3A372}"/>
              </c:ext>
            </c:extLst>
          </c:dPt>
          <c:dPt>
            <c:idx val="4"/>
            <c:invertIfNegative val="1"/>
            <c:bubble3D val="0"/>
            <c:spPr>
              <a:solidFill>
                <a:srgbClr val="BFBFBF"/>
              </a:solidFill>
            </c:spPr>
            <c:extLst>
              <c:ext xmlns:c16="http://schemas.microsoft.com/office/drawing/2014/chart" uri="{C3380CC4-5D6E-409C-BE32-E72D297353CC}">
                <c16:uniqueId val="{00000009-E26A-4445-ACC2-E05D8FD3A372}"/>
              </c:ext>
            </c:extLst>
          </c:dPt>
          <c:dLbls>
            <c:dLbl>
              <c:idx val="0"/>
              <c:tx>
                <c:rich>
                  <a:bodyPr/>
                  <a:lstStyle/>
                  <a:p>
                    <a:r>
                      <a:rPr lang="en-US" sz="1400" b="1">
                        <a:solidFill>
                          <a:srgbClr val="111111"/>
                        </a:solidFill>
                        <a:latin typeface="Calibri"/>
                      </a:rPr>
                      <a:t>58.7%  ·  $0.063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26A-4445-ACC2-E05D8FD3A372}"/>
                </c:ext>
              </c:extLst>
            </c:dLbl>
            <c:dLbl>
              <c:idx val="1"/>
              <c:tx>
                <c:rich>
                  <a:bodyPr/>
                  <a:lstStyle/>
                  <a:p>
                    <a:r>
                      <a:rPr lang="en-US" sz="1400" b="1">
                        <a:solidFill>
                          <a:srgbClr val="111111"/>
                        </a:solidFill>
                        <a:latin typeface="Calibri"/>
                      </a:rPr>
                      <a:t>34.6%  ·  $0.037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26A-4445-ACC2-E05D8FD3A372}"/>
                </c:ext>
              </c:extLst>
            </c:dLbl>
            <c:dLbl>
              <c:idx val="2"/>
              <c:tx>
                <c:rich>
                  <a:bodyPr/>
                  <a:lstStyle/>
                  <a:p>
                    <a:r>
                      <a:rPr lang="en-US" sz="1400" b="0">
                        <a:solidFill>
                          <a:srgbClr val="111111"/>
                        </a:solidFill>
                        <a:latin typeface="Calibri"/>
                      </a:rPr>
                      <a:t>3.1%  ·  $0.003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E26A-4445-ACC2-E05D8FD3A372}"/>
                </c:ext>
              </c:extLst>
            </c:dLbl>
            <c:dLbl>
              <c:idx val="3"/>
              <c:tx>
                <c:rich>
                  <a:bodyPr/>
                  <a:lstStyle/>
                  <a:p>
                    <a:r>
                      <a:rPr lang="en-US" sz="1400" b="0">
                        <a:solidFill>
                          <a:srgbClr val="111111"/>
                        </a:solidFill>
                        <a:latin typeface="Calibri"/>
                      </a:rPr>
                      <a:t>2.9%  ·  $0.003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E26A-4445-ACC2-E05D8FD3A372}"/>
                </c:ext>
              </c:extLst>
            </c:dLbl>
            <c:dLbl>
              <c:idx val="4"/>
              <c:tx>
                <c:rich>
                  <a:bodyPr/>
                  <a:lstStyle/>
                  <a:p>
                    <a:r>
                      <a:rPr lang="en-US" sz="1400" b="0">
                        <a:solidFill>
                          <a:srgbClr val="111111"/>
                        </a:solidFill>
                        <a:latin typeface="Calibri"/>
                      </a:rPr>
                      <a:t>0.8%  ·  $0.001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E26A-4445-ACC2-E05D8FD3A37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Assessor</c:v>
                </c:pt>
                <c:pt idx="1">
                  <c:v>Answer</c:v>
                </c:pt>
                <c:pt idx="2">
                  <c:v>Table planner</c:v>
                </c:pt>
                <c:pt idx="3">
                  <c:v>Table-of-contents review</c:v>
                </c:pt>
                <c:pt idx="4">
                  <c:v>Decomposer</c:v>
                </c:pt>
              </c:strCache>
            </c:strRef>
          </c:cat>
          <c:val>
            <c:numRef>
              <c:f>Sheet1!$B$2:$B$6</c:f>
              <c:numCache>
                <c:formatCode>0.0%</c:formatCode>
                <c:ptCount val="5"/>
                <c:pt idx="0">
                  <c:v>0.58685270156381686</c:v>
                </c:pt>
                <c:pt idx="1">
                  <c:v>0.34572525517370539</c:v>
                </c:pt>
                <c:pt idx="2">
                  <c:v>3.108905328214252E-2</c:v>
                </c:pt>
                <c:pt idx="3">
                  <c:v>2.8654368386553043E-2</c:v>
                </c:pt>
                <c:pt idx="4">
                  <c:v>7.6786215937821884E-3</c:v>
                </c:pt>
              </c:numCache>
            </c:numRef>
          </c:val>
          <c:extLst>
            <c:ext xmlns:c16="http://schemas.microsoft.com/office/drawing/2014/chart" uri="{C3380CC4-5D6E-409C-BE32-E72D297353CC}">
              <c16:uniqueId val="{0000000A-E26A-4445-ACC2-E05D8FD3A372}"/>
            </c:ext>
          </c:extLst>
        </c:ser>
        <c:dLbls>
          <c:showLegendKey val="0"/>
          <c:showVal val="0"/>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D8D8D8"/>
            </a:solidFill>
          </a:ln>
        </c:spPr>
        <c:txPr>
          <a:bodyPr/>
          <a:lstStyle/>
          <a:p>
            <a:pPr>
              <a:defRPr sz="1400">
                <a:solidFill>
                  <a:srgbClr val="111111"/>
                </a:solidFill>
              </a:defRPr>
            </a:pPr>
            <a:endParaRPr lang="en-US"/>
          </a:p>
        </c:txPr>
        <c:crossAx val="-2113994440"/>
        <c:crosses val="autoZero"/>
        <c:auto val="1"/>
        <c:lblAlgn val="ctr"/>
        <c:lblOffset val="100"/>
        <c:noMultiLvlLbl val="0"/>
      </c:catAx>
      <c:valAx>
        <c:axId val="-2113994440"/>
        <c:scaling>
          <c:orientation val="minMax"/>
          <c:max val="0.85"/>
          <c:min val="0"/>
        </c:scaling>
        <c:delete val="1"/>
        <c:axPos val="t"/>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11111"/>
                </a:solidFill>
                <a:latin typeface="Calibri"/>
              </a:rPr>
              <a:t>Answer quality (pass 1, partial 0.5, fail 0)</a:t>
            </a:r>
          </a:p>
        </c:rich>
      </c:tx>
      <c:overlay val="0"/>
    </c:title>
    <c:autoTitleDeleted val="0"/>
    <c:plotArea>
      <c:layout>
        <c:manualLayout>
          <c:layoutTarget val="inner"/>
          <c:xMode val="edge"/>
          <c:yMode val="edge"/>
          <c:x val="0.06"/>
          <c:y val="0.27"/>
          <c:w val="0.8"/>
          <c:h val="0.52"/>
        </c:manualLayout>
      </c:layout>
      <c:lineChart>
        <c:grouping val="standard"/>
        <c:varyColors val="0"/>
        <c:ser>
          <c:idx val="0"/>
          <c:order val="0"/>
          <c:tx>
            <c:strRef>
              <c:f>Sheet1!$B$1</c:f>
              <c:strCache>
                <c:ptCount val="1"/>
                <c:pt idx="0">
                  <c:v>Validation set (25 questions, mostly text)</c:v>
                </c:pt>
              </c:strCache>
            </c:strRef>
          </c:tx>
          <c:spPr>
            <a:ln w="28575">
              <a:solidFill>
                <a:srgbClr val="087E8B"/>
              </a:solidFill>
            </a:ln>
          </c:spPr>
          <c:marker>
            <c:symbol val="circle"/>
            <c:size val="7"/>
            <c:spPr>
              <a:solidFill>
                <a:srgbClr val="087E8B"/>
              </a:solidFill>
              <a:ln>
                <a:solidFill>
                  <a:srgbClr val="087E8B"/>
                </a:solidFill>
              </a:ln>
            </c:spPr>
          </c:marker>
          <c:dLbls>
            <c:dLbl>
              <c:idx val="0"/>
              <c:spPr/>
              <c:txPr>
                <a:bodyPr/>
                <a:lstStyle/>
                <a:p>
                  <a:pPr>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6C1-7B49-8D29-5648A4651F1E}"/>
                </c:ext>
              </c:extLst>
            </c:dLbl>
            <c:dLbl>
              <c:idx val="1"/>
              <c:spPr/>
              <c:txPr>
                <a:bodyPr/>
                <a:lstStyle/>
                <a:p>
                  <a:pPr>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6C1-7B49-8D29-5648A4651F1E}"/>
                </c:ext>
              </c:extLst>
            </c:dLbl>
            <c:dLbl>
              <c:idx val="2"/>
              <c:spPr/>
              <c:txPr>
                <a:bodyPr/>
                <a:lstStyle/>
                <a:p>
                  <a:pPr>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6C1-7B49-8D29-5648A4651F1E}"/>
                </c:ext>
              </c:extLst>
            </c:dLbl>
            <c:dLbl>
              <c:idx val="3"/>
              <c:spPr/>
              <c:txPr>
                <a:bodyPr/>
                <a:lstStyle/>
                <a:p>
                  <a:pPr>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6C1-7B49-8D29-5648A4651F1E}"/>
                </c:ext>
              </c:extLst>
            </c:dLbl>
            <c:dLbl>
              <c:idx val="4"/>
              <c:spPr/>
              <c:txPr>
                <a:bodyPr/>
                <a:lstStyle/>
                <a:p>
                  <a:pPr>
                    <a:defRPr sz="1200" b="1"/>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6C1-7B49-8D29-5648A4651F1E}"/>
                </c:ext>
              </c:extLst>
            </c:dLbl>
            <c:numFmt formatCode="0.000" sourceLinked="0"/>
            <c:spPr>
              <a:noFill/>
              <a:ln>
                <a:noFill/>
              </a:ln>
              <a:effectLst/>
            </c:spPr>
            <c:txPr>
              <a:bodyPr/>
              <a:lstStyle/>
              <a:p>
                <a:pPr>
                  <a:defRPr sz="1200">
                    <a:solidFill>
                      <a:srgbClr val="11111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3.1 Vector K=7</c:v>
                </c:pt>
                <c:pt idx="1">
                  <c:v>4.1 Graph retriever</c:v>
                </c:pt>
                <c:pt idx="2">
                  <c:v>5.1 Agent, sections</c:v>
                </c:pt>
                <c:pt idx="3">
                  <c:v>6.1 Whole articles</c:v>
                </c:pt>
                <c:pt idx="4">
                  <c:v>7.1 Safeguards + Router B</c:v>
                </c:pt>
              </c:strCache>
            </c:strRef>
          </c:cat>
          <c:val>
            <c:numRef>
              <c:f>Sheet1!$B$2:$B$6</c:f>
              <c:numCache>
                <c:formatCode>0.000</c:formatCode>
                <c:ptCount val="5"/>
                <c:pt idx="0">
                  <c:v>0.90700000000000003</c:v>
                </c:pt>
                <c:pt idx="1">
                  <c:v>0.88500000000000001</c:v>
                </c:pt>
                <c:pt idx="2">
                  <c:v>0.88</c:v>
                </c:pt>
                <c:pt idx="3">
                  <c:v>0.86</c:v>
                </c:pt>
                <c:pt idx="4">
                  <c:v>0.93300000000000005</c:v>
                </c:pt>
              </c:numCache>
            </c:numRef>
          </c:val>
          <c:smooth val="0"/>
          <c:extLst>
            <c:ext xmlns:c16="http://schemas.microsoft.com/office/drawing/2014/chart" uri="{C3380CC4-5D6E-409C-BE32-E72D297353CC}">
              <c16:uniqueId val="{00000005-C6C1-7B49-8D29-5648A4651F1E}"/>
            </c:ext>
          </c:extLst>
        </c:ser>
        <c:ser>
          <c:idx val="1"/>
          <c:order val="1"/>
          <c:tx>
            <c:strRef>
              <c:f>Sheet1!$C$1</c:f>
              <c:strCache>
                <c:ptCount val="1"/>
                <c:pt idx="0">
                  <c:v>GT test set (19 questions, mostly tables)</c:v>
                </c:pt>
              </c:strCache>
            </c:strRef>
          </c:tx>
          <c:spPr>
            <a:ln w="28575">
              <a:solidFill>
                <a:srgbClr val="A31F34"/>
              </a:solidFill>
            </a:ln>
          </c:spPr>
          <c:marker>
            <c:symbol val="circle"/>
            <c:size val="7"/>
            <c:spPr>
              <a:solidFill>
                <a:srgbClr val="A31F34"/>
              </a:solidFill>
              <a:ln>
                <a:solidFill>
                  <a:srgbClr val="A31F34"/>
                </a:solidFill>
              </a:ln>
            </c:spPr>
          </c:marker>
          <c:dLbls>
            <c:dLbl>
              <c:idx val="0"/>
              <c:spPr/>
              <c:txPr>
                <a:bodyPr/>
                <a:lstStyle/>
                <a:p>
                  <a:pPr>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6C1-7B49-8D29-5648A4651F1E}"/>
                </c:ext>
              </c:extLst>
            </c:dLbl>
            <c:dLbl>
              <c:idx val="1"/>
              <c:spPr/>
              <c:txPr>
                <a:bodyPr/>
                <a:lstStyle/>
                <a:p>
                  <a:pPr>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6C1-7B49-8D29-5648A4651F1E}"/>
                </c:ext>
              </c:extLst>
            </c:dLbl>
            <c:dLbl>
              <c:idx val="2"/>
              <c:spPr/>
              <c:txPr>
                <a:bodyPr/>
                <a:lstStyle/>
                <a:p>
                  <a:pPr>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6C1-7B49-8D29-5648A4651F1E}"/>
                </c:ext>
              </c:extLst>
            </c:dLbl>
            <c:dLbl>
              <c:idx val="3"/>
              <c:spPr/>
              <c:txPr>
                <a:bodyPr/>
                <a:lstStyle/>
                <a:p>
                  <a:pPr>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6C1-7B49-8D29-5648A4651F1E}"/>
                </c:ext>
              </c:extLst>
            </c:dLbl>
            <c:dLbl>
              <c:idx val="4"/>
              <c:spPr/>
              <c:txPr>
                <a:bodyPr/>
                <a:lstStyle/>
                <a:p>
                  <a:pPr>
                    <a:defRPr sz="1200" b="1"/>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6C1-7B49-8D29-5648A4651F1E}"/>
                </c:ext>
              </c:extLst>
            </c:dLbl>
            <c:numFmt formatCode="0.000" sourceLinked="0"/>
            <c:spPr>
              <a:noFill/>
              <a:ln>
                <a:noFill/>
              </a:ln>
              <a:effectLst/>
            </c:spPr>
            <c:txPr>
              <a:bodyPr/>
              <a:lstStyle/>
              <a:p>
                <a:pPr>
                  <a:defRPr sz="1200">
                    <a:solidFill>
                      <a:srgbClr val="11111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3.1 Vector K=7</c:v>
                </c:pt>
                <c:pt idx="1">
                  <c:v>4.1 Graph retriever</c:v>
                </c:pt>
                <c:pt idx="2">
                  <c:v>5.1 Agent, sections</c:v>
                </c:pt>
                <c:pt idx="3">
                  <c:v>6.1 Whole articles</c:v>
                </c:pt>
                <c:pt idx="4">
                  <c:v>7.1 Safeguards + Router B</c:v>
                </c:pt>
              </c:strCache>
            </c:strRef>
          </c:cat>
          <c:val>
            <c:numRef>
              <c:f>Sheet1!$C$2:$C$6</c:f>
              <c:numCache>
                <c:formatCode>0.000</c:formatCode>
                <c:ptCount val="5"/>
                <c:pt idx="0">
                  <c:v>0.747</c:v>
                </c:pt>
                <c:pt idx="1">
                  <c:v>0.754</c:v>
                </c:pt>
                <c:pt idx="2">
                  <c:v>0.754</c:v>
                </c:pt>
                <c:pt idx="3">
                  <c:v>0.78900000000000003</c:v>
                </c:pt>
                <c:pt idx="4">
                  <c:v>0.86799999999999999</c:v>
                </c:pt>
              </c:numCache>
            </c:numRef>
          </c:val>
          <c:smooth val="0"/>
          <c:extLst>
            <c:ext xmlns:c16="http://schemas.microsoft.com/office/drawing/2014/chart" uri="{C3380CC4-5D6E-409C-BE32-E72D297353CC}">
              <c16:uniqueId val="{0000000B-C6C1-7B49-8D29-5648A4651F1E}"/>
            </c:ext>
          </c:extLst>
        </c:ser>
        <c:ser>
          <c:idx val="2"/>
          <c:order val="2"/>
          <c:tx>
            <c:strRef>
              <c:f>Sheet1!$D$1</c:f>
              <c:strCache>
                <c:ptCount val="1"/>
                <c:pt idx="0">
                  <c:v>gpt-5.4 in every role</c:v>
                </c:pt>
              </c:strCache>
            </c:strRef>
          </c:tx>
          <c:spPr>
            <a:ln>
              <a:noFill/>
            </a:ln>
          </c:spPr>
          <c:marker>
            <c:symbol val="circle"/>
            <c:size val="10"/>
            <c:spPr>
              <a:noFill/>
              <a:ln w="19050">
                <a:solidFill>
                  <a:srgbClr val="8C8C8C"/>
                </a:solidFill>
              </a:ln>
            </c:spPr>
          </c:marker>
          <c:dLbls>
            <c:dLbl>
              <c:idx val="3"/>
              <c:tx>
                <c:rich>
                  <a:bodyPr/>
                  <a:lstStyle/>
                  <a:p>
                    <a:r>
                      <a:rPr lang="en-US" sz="1100" b="0">
                        <a:solidFill>
                          <a:srgbClr val="5E5E5E"/>
                        </a:solidFill>
                        <a:latin typeface="Calibri"/>
                      </a:rPr>
                      <a:t>gpt-5.4: 0.960 (1 run)</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C6C1-7B49-8D29-5648A4651F1E}"/>
                </c:ext>
              </c:extLst>
            </c:dLbl>
            <c:dLbl>
              <c:idx val="4"/>
              <c:tx>
                <c:rich>
                  <a:bodyPr/>
                  <a:lstStyle/>
                  <a:p>
                    <a:r>
                      <a:rPr lang="en-US" sz="1100" b="0">
                        <a:solidFill>
                          <a:srgbClr val="5E5E5E"/>
                        </a:solidFill>
                        <a:latin typeface="Calibri"/>
                      </a:rPr>
                      <a:t>gpt-5.4: 0.886 (3 runs)</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C6C1-7B49-8D29-5648A4651F1E}"/>
                </c:ext>
              </c:extLst>
            </c:dLbl>
            <c:numFmt formatCode="0.000" sourceLinked="0"/>
            <c:spPr>
              <a:noFill/>
              <a:ln>
                <a:noFill/>
              </a:ln>
              <a:effectLst/>
            </c:spPr>
            <c:txPr>
              <a:bodyPr/>
              <a:lstStyle/>
              <a:p>
                <a:pPr>
                  <a:defRPr sz="1200">
                    <a:solidFill>
                      <a:srgbClr val="11111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3.1 Vector K=7</c:v>
                </c:pt>
                <c:pt idx="1">
                  <c:v>4.1 Graph retriever</c:v>
                </c:pt>
                <c:pt idx="2">
                  <c:v>5.1 Agent, sections</c:v>
                </c:pt>
                <c:pt idx="3">
                  <c:v>6.1 Whole articles</c:v>
                </c:pt>
                <c:pt idx="4">
                  <c:v>7.1 Safeguards + Router B</c:v>
                </c:pt>
              </c:strCache>
            </c:strRef>
          </c:cat>
          <c:val>
            <c:numRef>
              <c:f>Sheet1!$D$2:$D$6</c:f>
              <c:numCache>
                <c:formatCode>General</c:formatCode>
                <c:ptCount val="5"/>
                <c:pt idx="3" formatCode="0.000">
                  <c:v>0.96</c:v>
                </c:pt>
                <c:pt idx="4" formatCode="0.000">
                  <c:v>0.88600000000000001</c:v>
                </c:pt>
              </c:numCache>
            </c:numRef>
          </c:val>
          <c:smooth val="0"/>
          <c:extLst>
            <c:ext xmlns:c16="http://schemas.microsoft.com/office/drawing/2014/chart" uri="{C3380CC4-5D6E-409C-BE32-E72D297353CC}">
              <c16:uniqueId val="{0000000E-C6C1-7B49-8D29-5648A4651F1E}"/>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nextTo"/>
        <c:spPr>
          <a:ln>
            <a:solidFill>
              <a:srgbClr val="D8D8D8"/>
            </a:solidFill>
          </a:ln>
        </c:spPr>
        <c:txPr>
          <a:bodyPr/>
          <a:lstStyle/>
          <a:p>
            <a:pPr>
              <a:defRPr sz="1200">
                <a:solidFill>
                  <a:srgbClr val="111111"/>
                </a:solidFill>
              </a:defRPr>
            </a:pPr>
            <a:endParaRPr lang="en-US"/>
          </a:p>
        </c:txPr>
        <c:crossAx val="2140495176"/>
        <c:crosses val="autoZero"/>
        <c:auto val="1"/>
        <c:lblAlgn val="ctr"/>
        <c:lblOffset val="100"/>
        <c:noMultiLvlLbl val="0"/>
      </c:catAx>
      <c:valAx>
        <c:axId val="2140495176"/>
        <c:scaling>
          <c:orientation val="minMax"/>
          <c:max val="1"/>
          <c:min val="0.7"/>
        </c:scaling>
        <c:delete val="0"/>
        <c:axPos val="l"/>
        <c:majorGridlines>
          <c:spPr>
            <a:ln w="9525">
              <a:solidFill>
                <a:srgbClr val="D8D8D8"/>
              </a:solidFill>
            </a:ln>
          </c:spPr>
        </c:majorGridlines>
        <c:numFmt formatCode="0.00" sourceLinked="0"/>
        <c:majorTickMark val="none"/>
        <c:minorTickMark val="none"/>
        <c:tickLblPos val="nextTo"/>
        <c:spPr>
          <a:ln>
            <a:noFill/>
          </a:ln>
        </c:spPr>
        <c:txPr>
          <a:bodyPr/>
          <a:lstStyle/>
          <a:p>
            <a:pPr>
              <a:defRPr sz="1100">
                <a:solidFill>
                  <a:srgbClr val="5E5E5E"/>
                </a:solidFill>
              </a:defRPr>
            </a:pPr>
            <a:endParaRPr lang="en-US"/>
          </a:p>
        </c:txPr>
        <c:crossAx val="2118791784"/>
        <c:crosses val="autoZero"/>
        <c:crossBetween val="between"/>
        <c:majorUnit val="0.1"/>
      </c:valAx>
    </c:plotArea>
    <c:legend>
      <c:legendPos val="t"/>
      <c:overlay val="0"/>
      <c:txPr>
        <a:bodyPr/>
        <a:lstStyle/>
        <a:p>
          <a:pPr>
            <a:defRPr sz="1200">
              <a:latin typeface="Calibri"/>
            </a:defRPr>
          </a:pPr>
          <a:endParaRPr lang="en-US"/>
        </a:p>
      </c:txPr>
    </c:legend>
    <c:plotVisOnly val="1"/>
    <c:dispBlanksAs val="gap"/>
    <c:showDLblsOverMax val="0"/>
  </c:chart>
  <c:txPr>
    <a:bodyPr/>
    <a:lstStyle/>
    <a:p>
      <a:pPr>
        <a:defRPr sz="1200">
          <a:solidFill>
            <a:srgbClr val="111111"/>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11111"/>
                </a:solidFill>
                <a:latin typeface="Calibri"/>
              </a:rPr>
              <a:t>Article recall (share of each question's source articles found)</a:t>
            </a:r>
          </a:p>
        </c:rich>
      </c:tx>
      <c:overlay val="0"/>
    </c:title>
    <c:autoTitleDeleted val="0"/>
    <c:plotArea>
      <c:layout>
        <c:manualLayout>
          <c:layoutTarget val="inner"/>
          <c:xMode val="edge"/>
          <c:yMode val="edge"/>
          <c:x val="0.06"/>
          <c:y val="0.32"/>
          <c:w val="0.8"/>
          <c:h val="0.42"/>
        </c:manualLayout>
      </c:layout>
      <c:lineChart>
        <c:grouping val="standard"/>
        <c:varyColors val="0"/>
        <c:ser>
          <c:idx val="0"/>
          <c:order val="0"/>
          <c:tx>
            <c:strRef>
              <c:f>Sheet1!$B$1</c:f>
              <c:strCache>
                <c:ptCount val="1"/>
                <c:pt idx="0">
                  <c:v>Validation set (25 questions, mostly text)</c:v>
                </c:pt>
              </c:strCache>
            </c:strRef>
          </c:tx>
          <c:spPr>
            <a:ln w="28575">
              <a:solidFill>
                <a:srgbClr val="087E8B"/>
              </a:solidFill>
            </a:ln>
          </c:spPr>
          <c:marker>
            <c:symbol val="circle"/>
            <c:size val="7"/>
            <c:spPr>
              <a:solidFill>
                <a:srgbClr val="087E8B"/>
              </a:solidFill>
              <a:ln>
                <a:solidFill>
                  <a:srgbClr val="087E8B"/>
                </a:solidFill>
              </a:ln>
            </c:spPr>
          </c:marker>
          <c:dLbls>
            <c:dLbl>
              <c:idx val="0"/>
              <c:spPr/>
              <c:txPr>
                <a:bodyPr/>
                <a:lstStyle/>
                <a:p>
                  <a:pPr>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55B-A943-B8F2-DFE192EB6CFA}"/>
                </c:ext>
              </c:extLst>
            </c:dLbl>
            <c:dLbl>
              <c:idx val="1"/>
              <c:spPr/>
              <c:txPr>
                <a:bodyPr/>
                <a:lstStyle/>
                <a:p>
                  <a:pPr>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55B-A943-B8F2-DFE192EB6CFA}"/>
                </c:ext>
              </c:extLst>
            </c:dLbl>
            <c:dLbl>
              <c:idx val="2"/>
              <c:delete val="1"/>
              <c:extLst>
                <c:ext xmlns:c15="http://schemas.microsoft.com/office/drawing/2012/chart" uri="{CE6537A1-D6FC-4f65-9D91-7224C49458BB}"/>
                <c:ext xmlns:c16="http://schemas.microsoft.com/office/drawing/2014/chart" uri="{C3380CC4-5D6E-409C-BE32-E72D297353CC}">
                  <c16:uniqueId val="{00000002-E55B-A943-B8F2-DFE192EB6CFA}"/>
                </c:ext>
              </c:extLst>
            </c:dLbl>
            <c:dLbl>
              <c:idx val="3"/>
              <c:delete val="1"/>
              <c:extLst>
                <c:ext xmlns:c15="http://schemas.microsoft.com/office/drawing/2012/chart" uri="{CE6537A1-D6FC-4f65-9D91-7224C49458BB}"/>
                <c:ext xmlns:c16="http://schemas.microsoft.com/office/drawing/2014/chart" uri="{C3380CC4-5D6E-409C-BE32-E72D297353CC}">
                  <c16:uniqueId val="{00000003-E55B-A943-B8F2-DFE192EB6CFA}"/>
                </c:ext>
              </c:extLst>
            </c:dLbl>
            <c:dLbl>
              <c:idx val="4"/>
              <c:spPr/>
              <c:txPr>
                <a:bodyPr/>
                <a:lstStyle/>
                <a:p>
                  <a:pPr>
                    <a:defRPr sz="1200" b="1"/>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55B-A943-B8F2-DFE192EB6CFA}"/>
                </c:ext>
              </c:extLst>
            </c:dLbl>
            <c:numFmt formatCode="0.000" sourceLinked="0"/>
            <c:spPr>
              <a:noFill/>
              <a:ln>
                <a:noFill/>
              </a:ln>
              <a:effectLst/>
            </c:spPr>
            <c:txPr>
              <a:bodyPr/>
              <a:lstStyle/>
              <a:p>
                <a:pPr>
                  <a:defRPr sz="1200">
                    <a:solidFill>
                      <a:srgbClr val="11111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3.1 Vector K=7</c:v>
                </c:pt>
                <c:pt idx="1">
                  <c:v>4.1 Graph retriever</c:v>
                </c:pt>
                <c:pt idx="2">
                  <c:v>5.1 Agent, sections</c:v>
                </c:pt>
                <c:pt idx="3">
                  <c:v>6.1 Whole articles</c:v>
                </c:pt>
                <c:pt idx="4">
                  <c:v>7.1 Safeguards + Router B</c:v>
                </c:pt>
              </c:strCache>
            </c:strRef>
          </c:cat>
          <c:val>
            <c:numRef>
              <c:f>Sheet1!$B$2:$B$6</c:f>
              <c:numCache>
                <c:formatCode>0.000</c:formatCode>
                <c:ptCount val="5"/>
                <c:pt idx="0">
                  <c:v>0.97299999999999998</c:v>
                </c:pt>
                <c:pt idx="1">
                  <c:v>0.97299999999999998</c:v>
                </c:pt>
                <c:pt idx="2">
                  <c:v>1</c:v>
                </c:pt>
                <c:pt idx="3">
                  <c:v>1</c:v>
                </c:pt>
                <c:pt idx="4">
                  <c:v>0.99299999999999999</c:v>
                </c:pt>
              </c:numCache>
            </c:numRef>
          </c:val>
          <c:smooth val="0"/>
          <c:extLst>
            <c:ext xmlns:c16="http://schemas.microsoft.com/office/drawing/2014/chart" uri="{C3380CC4-5D6E-409C-BE32-E72D297353CC}">
              <c16:uniqueId val="{00000005-E55B-A943-B8F2-DFE192EB6CFA}"/>
            </c:ext>
          </c:extLst>
        </c:ser>
        <c:ser>
          <c:idx val="1"/>
          <c:order val="1"/>
          <c:tx>
            <c:strRef>
              <c:f>Sheet1!$C$1</c:f>
              <c:strCache>
                <c:ptCount val="1"/>
                <c:pt idx="0">
                  <c:v>GT test set (19 questions, mostly tables)</c:v>
                </c:pt>
              </c:strCache>
            </c:strRef>
          </c:tx>
          <c:spPr>
            <a:ln w="28575">
              <a:solidFill>
                <a:srgbClr val="A31F34"/>
              </a:solidFill>
            </a:ln>
          </c:spPr>
          <c:marker>
            <c:symbol val="circle"/>
            <c:size val="7"/>
            <c:spPr>
              <a:solidFill>
                <a:srgbClr val="A31F34"/>
              </a:solidFill>
              <a:ln>
                <a:solidFill>
                  <a:srgbClr val="A31F34"/>
                </a:solidFill>
              </a:ln>
            </c:spPr>
          </c:marker>
          <c:dLbls>
            <c:dLbl>
              <c:idx val="0"/>
              <c:spPr/>
              <c:txPr>
                <a:bodyPr/>
                <a:lstStyle/>
                <a:p>
                  <a:pPr>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55B-A943-B8F2-DFE192EB6CFA}"/>
                </c:ext>
              </c:extLst>
            </c:dLbl>
            <c:dLbl>
              <c:idx val="1"/>
              <c:spPr/>
              <c:txPr>
                <a:bodyPr/>
                <a:lstStyle/>
                <a:p>
                  <a:pPr>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55B-A943-B8F2-DFE192EB6CFA}"/>
                </c:ext>
              </c:extLst>
            </c:dLbl>
            <c:dLbl>
              <c:idx val="2"/>
              <c:spPr/>
              <c:txPr>
                <a:bodyPr/>
                <a:lstStyle/>
                <a:p>
                  <a:pPr>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55B-A943-B8F2-DFE192EB6CFA}"/>
                </c:ext>
              </c:extLst>
            </c:dLbl>
            <c:dLbl>
              <c:idx val="3"/>
              <c:spPr/>
              <c:txPr>
                <a:bodyPr/>
                <a:lstStyle/>
                <a:p>
                  <a:pPr>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55B-A943-B8F2-DFE192EB6CFA}"/>
                </c:ext>
              </c:extLst>
            </c:dLbl>
            <c:dLbl>
              <c:idx val="4"/>
              <c:spPr/>
              <c:txPr>
                <a:bodyPr/>
                <a:lstStyle/>
                <a:p>
                  <a:pPr>
                    <a:defRPr sz="1200" b="1"/>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55B-A943-B8F2-DFE192EB6CFA}"/>
                </c:ext>
              </c:extLst>
            </c:dLbl>
            <c:numFmt formatCode="0.000" sourceLinked="0"/>
            <c:spPr>
              <a:noFill/>
              <a:ln>
                <a:noFill/>
              </a:ln>
              <a:effectLst/>
            </c:spPr>
            <c:txPr>
              <a:bodyPr/>
              <a:lstStyle/>
              <a:p>
                <a:pPr>
                  <a:defRPr sz="1200">
                    <a:solidFill>
                      <a:srgbClr val="11111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3.1 Vector K=7</c:v>
                </c:pt>
                <c:pt idx="1">
                  <c:v>4.1 Graph retriever</c:v>
                </c:pt>
                <c:pt idx="2">
                  <c:v>5.1 Agent, sections</c:v>
                </c:pt>
                <c:pt idx="3">
                  <c:v>6.1 Whole articles</c:v>
                </c:pt>
                <c:pt idx="4">
                  <c:v>7.1 Safeguards + Router B</c:v>
                </c:pt>
              </c:strCache>
            </c:strRef>
          </c:cat>
          <c:val>
            <c:numRef>
              <c:f>Sheet1!$C$2:$C$6</c:f>
              <c:numCache>
                <c:formatCode>0.000</c:formatCode>
                <c:ptCount val="5"/>
                <c:pt idx="0">
                  <c:v>0.89900000000000002</c:v>
                </c:pt>
                <c:pt idx="1">
                  <c:v>0.93899999999999995</c:v>
                </c:pt>
                <c:pt idx="2">
                  <c:v>1</c:v>
                </c:pt>
                <c:pt idx="3">
                  <c:v>1</c:v>
                </c:pt>
                <c:pt idx="4">
                  <c:v>1</c:v>
                </c:pt>
              </c:numCache>
            </c:numRef>
          </c:val>
          <c:smooth val="0"/>
          <c:extLst>
            <c:ext xmlns:c16="http://schemas.microsoft.com/office/drawing/2014/chart" uri="{C3380CC4-5D6E-409C-BE32-E72D297353CC}">
              <c16:uniqueId val="{0000000B-E55B-A943-B8F2-DFE192EB6CFA}"/>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nextTo"/>
        <c:spPr>
          <a:ln>
            <a:solidFill>
              <a:srgbClr val="D8D8D8"/>
            </a:solidFill>
          </a:ln>
        </c:spPr>
        <c:txPr>
          <a:bodyPr/>
          <a:lstStyle/>
          <a:p>
            <a:pPr>
              <a:defRPr sz="1200">
                <a:solidFill>
                  <a:srgbClr val="111111"/>
                </a:solidFill>
              </a:defRPr>
            </a:pPr>
            <a:endParaRPr lang="en-US"/>
          </a:p>
        </c:txPr>
        <c:crossAx val="2140495176"/>
        <c:crosses val="autoZero"/>
        <c:auto val="1"/>
        <c:lblAlgn val="ctr"/>
        <c:lblOffset val="100"/>
        <c:noMultiLvlLbl val="0"/>
      </c:catAx>
      <c:valAx>
        <c:axId val="2140495176"/>
        <c:scaling>
          <c:orientation val="minMax"/>
          <c:max val="1"/>
          <c:min val="0.85"/>
        </c:scaling>
        <c:delete val="0"/>
        <c:axPos val="l"/>
        <c:majorGridlines>
          <c:spPr>
            <a:ln w="9525">
              <a:solidFill>
                <a:srgbClr val="D8D8D8"/>
              </a:solidFill>
            </a:ln>
          </c:spPr>
        </c:majorGridlines>
        <c:numFmt formatCode="0.00" sourceLinked="0"/>
        <c:majorTickMark val="none"/>
        <c:minorTickMark val="none"/>
        <c:tickLblPos val="nextTo"/>
        <c:spPr>
          <a:ln>
            <a:noFill/>
          </a:ln>
        </c:spPr>
        <c:txPr>
          <a:bodyPr/>
          <a:lstStyle/>
          <a:p>
            <a:pPr>
              <a:defRPr sz="1100">
                <a:solidFill>
                  <a:srgbClr val="5E5E5E"/>
                </a:solidFill>
              </a:defRPr>
            </a:pPr>
            <a:endParaRPr lang="en-US"/>
          </a:p>
        </c:txPr>
        <c:crossAx val="2118791784"/>
        <c:crosses val="autoZero"/>
        <c:crossBetween val="between"/>
        <c:majorUnit val="0.05"/>
      </c:valAx>
    </c:plotArea>
    <c:plotVisOnly val="1"/>
    <c:dispBlanksAs val="gap"/>
    <c:showDLblsOverMax val="0"/>
  </c:chart>
  <c:txPr>
    <a:bodyPr/>
    <a:lstStyle/>
    <a:p>
      <a:pPr>
        <a:defRPr sz="1200">
          <a:solidFill>
            <a:srgbClr val="111111"/>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Quality</c:v>
          </c:tx>
          <c:spPr>
            <a:solidFill>
              <a:srgbClr val="A31F34"/>
            </a:solidFill>
          </c:spPr>
          <c:invertIfNegative val="1"/>
          <c:dPt>
            <c:idx val="0"/>
            <c:invertIfNegative val="0"/>
            <c:bubble3D val="0"/>
            <c:spPr>
              <a:solidFill>
                <a:srgbClr val="8B8B8B"/>
              </a:solidFill>
            </c:spPr>
            <c:extLst>
              <c:ext xmlns:c16="http://schemas.microsoft.com/office/drawing/2014/chart" uri="{C3380CC4-5D6E-409C-BE32-E72D297353CC}">
                <c16:uniqueId val="{00000001-8C4B-E04C-9E0E-4F5B3FE96EFD}"/>
              </c:ext>
            </c:extLst>
          </c:dPt>
          <c:dPt>
            <c:idx val="1"/>
            <c:invertIfNegative val="0"/>
            <c:bubble3D val="0"/>
            <c:spPr>
              <a:solidFill>
                <a:srgbClr val="8B8B8B"/>
              </a:solidFill>
            </c:spPr>
            <c:extLst>
              <c:ext xmlns:c16="http://schemas.microsoft.com/office/drawing/2014/chart" uri="{C3380CC4-5D6E-409C-BE32-E72D297353CC}">
                <c16:uniqueId val="{00000003-8C4B-E04C-9E0E-4F5B3FE96EFD}"/>
              </c:ext>
            </c:extLst>
          </c:dPt>
          <c:dPt>
            <c:idx val="2"/>
            <c:invertIfNegative val="0"/>
            <c:bubble3D val="0"/>
            <c:spPr>
              <a:solidFill>
                <a:srgbClr val="A31F34"/>
              </a:solidFill>
            </c:spPr>
            <c:extLst>
              <c:ext xmlns:c16="http://schemas.microsoft.com/office/drawing/2014/chart" uri="{C3380CC4-5D6E-409C-BE32-E72D297353CC}">
                <c16:uniqueId val="{00000005-8C4B-E04C-9E0E-4F5B3FE96EFD}"/>
              </c:ext>
            </c:extLst>
          </c:dPt>
          <c:dLbls>
            <c:spPr>
              <a:noFill/>
              <a:ln>
                <a:noFill/>
              </a:ln>
              <a:effectLst/>
            </c:spPr>
            <c:txPr>
              <a:bodyPr anchorCtr="1"/>
              <a:lstStyle/>
              <a:p>
                <a:pPr>
                  <a:defRPr sz="1050" b="1">
                    <a:solidFill>
                      <a:srgbClr val="111111"/>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5.1</c:v>
                </c:pt>
                <c:pt idx="1">
                  <c:v>6.1</c:v>
                </c:pt>
                <c:pt idx="2">
                  <c:v>7.1 final</c:v>
                </c:pt>
              </c:strCache>
            </c:strRef>
          </c:cat>
          <c:val>
            <c:numRef>
              <c:f>'Chart Data'!$B$2:$B$4</c:f>
              <c:numCache>
                <c:formatCode>0.000</c:formatCode>
                <c:ptCount val="3"/>
                <c:pt idx="0">
                  <c:v>0.88</c:v>
                </c:pt>
                <c:pt idx="1">
                  <c:v>0.86</c:v>
                </c:pt>
                <c:pt idx="2">
                  <c:v>0.93300000000000005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8C4B-E04C-9E0E-4F5B3FE96EFD}"/>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w="9525">
              <a:solidFill>
                <a:srgbClr val="E4E4E4"/>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975">
                <a:solidFill>
                  <a:srgbClr val="5E5E5E"/>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
          <c:min val="0"/>
        </c:scaling>
        <c:delete val="0"/>
        <c:axPos val="b"/>
        <c:numFmt formatCode="0.000" sourceLinked="1"/>
        <c:majorTickMark val="none"/>
        <c:minorTickMark val="none"/>
        <c:tickLblPos val="nextTo"/>
        <c:spPr>
          <a:ln w="9525">
            <a:solidFill>
              <a:srgbClr val="D8D8D8"/>
            </a:solidFill>
            <a:prstDash val="solid"/>
          </a:ln>
        </c:spPr>
        <c:txPr>
          <a:bodyPr anchorCtr="1"/>
          <a:lstStyle/>
          <a:p>
            <a:pPr>
              <a:defRPr sz="1125" b="1">
                <a:solidFill>
                  <a:srgbClr val="111111"/>
                </a:solidFill>
                <a:latin typeface="Calibri"/>
                <a:ea typeface="Calibri"/>
                <a:cs typeface="Calibri"/>
              </a:defRPr>
            </a:pPr>
            <a:endParaRPr lang="en-US"/>
          </a:p>
        </c:txPr>
        <c:crossAx val="48650112"/>
        <c:crosses val="autoZero"/>
        <c:crossBetween val="between"/>
        <c:majorUnit val="0.2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Optimized mostly for accuracy while still trying to be cost-cautious (latency was  measured and considered as a secondary signal to break a tie)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was tuned on 19 ground truth questions, with validation set having 25 questions with 10 questions are rephrased from GT and 15 completely new questions.</a:t>
            </a:r>
            <a:br>
              <a:rPr lang="en-US" dirty="0"/>
            </a:br>
            <a:br>
              <a:rPr lang="en-US" dirty="0"/>
            </a:br>
            <a:r>
              <a:rPr lang="en-US" dirty="0"/>
              <a:t>GT – table heavy</a:t>
            </a:r>
          </a:p>
          <a:p>
            <a:r>
              <a:rPr lang="en-US" dirty="0"/>
              <a:t>VAL – text heavy</a:t>
            </a:r>
          </a:p>
          <a:p>
            <a:endParaRPr lang="en-US"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question is sanitized before retrieval, and only the cleaned text is stored in conversation history. Entity decomposition drives local article retrieval.</a:t>
            </a:r>
          </a:p>
          <a:p>
            <a:endParaRPr dirty="0"/>
          </a:p>
          <a:p>
            <a:r>
              <a:rPr dirty="0"/>
              <a:t>The system reviews article tables of contents and chooses relevant sections and tables. </a:t>
            </a:r>
          </a:p>
          <a:p>
            <a:r>
              <a:rPr dirty="0"/>
              <a:t>The assessor is the control point: it can accept the evidence or request more text, graph neighbors, or a table computation.</a:t>
            </a:r>
          </a:p>
          <a:p>
            <a:endParaRPr dirty="0"/>
          </a:p>
          <a:p>
            <a:r>
              <a:rPr dirty="0"/>
              <a:t>Table operations use a deterministic executor so partial and failed computations remain visible. </a:t>
            </a:r>
          </a:p>
          <a:p>
            <a:r>
              <a:rPr dirty="0"/>
              <a:t>The answer is generated from trusted evidence and then checked for unsupported quotations and multiword names.</a:t>
            </a:r>
          </a:p>
          <a:p>
            <a:endParaRPr dirty="0"/>
          </a:p>
          <a:p>
            <a:r>
              <a:rPr dirty="0"/>
              <a:t>For the recorded submission, demonstrate one representative query and use this diagram to explain the visible steps.</a:t>
            </a:r>
          </a:p>
          <a:p>
            <a:r>
              <a:rPr dirty="0"/>
              <a:t>Evidence sources: </a:t>
            </a:r>
            <a:r>
              <a:rPr dirty="0" err="1"/>
              <a:t>survivor_agent_final.py</a:t>
            </a:r>
            <a:r>
              <a:rPr dirty="0"/>
              <a:t>; README 7.1 - performance and </a:t>
            </a:r>
            <a:r>
              <a:rPr dirty="0" err="1"/>
              <a:t>cost.md</a:t>
            </a:r>
            <a:r>
              <a:rPr dirty="0"/>
              <a:t>; README 7.1 - security </a:t>
            </a:r>
            <a:r>
              <a:rPr dirty="0" err="1"/>
              <a:t>improvements.md</a:t>
            </a:r>
            <a:r>
              <a:rPr dirty="0"/>
              <a:t>.</a:t>
            </a:r>
          </a:p>
          <a:p>
            <a:r>
              <a:rPr dirty="0"/>
              <a:t>Timing: about 1 minute 40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Checkpoint 3.1 compared repeated vector and hybrid runs. Vector K=7 produced 0.747 quality, 0.899 designated-source recall, and 127.0K context characters. The tested BM25/vector hybrid produced 0.705 quality, 0.882 recall, and 184.6K characters, so it was dropped for this corpus and configuration.</a:t>
            </a:r>
          </a:p>
          <a:p>
            <a:r>
              <a:t>The surviving initial retriever remained vector-based. Entity-aware decomposition was added because a full-question search could bury a named entity; each named person, place, event, or work receives a focused query.</a:t>
            </a:r>
          </a:p>
          <a:p>
            <a:r>
              <a:t>The link graph remained a bounded fallback. It raised GT article recall from 0.899 to 0.939, but answer quality stayed approximately flat at 0.754. That is why I describe it as a recall mechanism, not a quality winner.</a:t>
            </a:r>
          </a:p>
          <a:p>
            <a:r>
              <a:t>Evidence: README 3.1, controlled experiment inventory and findings; README 4.1, decomposition and graph experiments; README 5.1, final entity-aware retriever.</a:t>
            </a:r>
          </a:p>
          <a:p>
            <a:r>
              <a:t>Timing: about 1 minute 15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where the money goes in the final retriever, measured on the validation set. </a:t>
            </a:r>
            <a:endParaRPr lang="en-US" dirty="0"/>
          </a:p>
          <a:p>
            <a:r>
              <a:rPr dirty="0"/>
              <a:t>The assessor and the answer are 93% of the cost.</a:t>
            </a:r>
            <a:endParaRPr lang="en-US" dirty="0"/>
          </a:p>
          <a:p>
            <a:endParaRPr lang="en-US" dirty="0"/>
          </a:p>
          <a:p>
            <a:r>
              <a:rPr dirty="0"/>
              <a:t>The assessor runs about twice per question and re-reads the growing evidence each time, so it costs more than the answer itself. The decomposer, the table-of-contents review, and the table planner together are under 7%.</a:t>
            </a:r>
          </a:p>
          <a:p>
            <a:r>
              <a:rPr dirty="0"/>
              <a:t>In the final validation runs, all 36 text question-runs stayed on mini and passed. </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dirty="0"/>
              <a:t>he planner stays on mini because the exploratory strong-planner configuration requested more table evidence. </a:t>
            </a:r>
            <a:endParaRPr lang="en-US" dirty="0"/>
          </a:p>
          <a:p>
            <a:endParaRPr lang="en-US" dirty="0"/>
          </a:p>
          <a:p>
            <a:r>
              <a:rPr dirty="0"/>
              <a:t>Every later call had to reread that larger evidence, which increased prompt size and cost.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name Router B came from an experiment label, so I now explain the alternatives by what they actually changed.</a:t>
            </a:r>
          </a:p>
          <a:p>
            <a:r>
              <a:rPr dirty="0"/>
              <a:t>All mini was fast and inexpensive but averaged 0.711 quality on the GT working set.</a:t>
            </a:r>
            <a:endParaRPr lang="en-US" dirty="0"/>
          </a:p>
          <a:p>
            <a:r>
              <a:rPr dirty="0"/>
              <a:t>All gpt-5.4 produced the highest mean quality, 0.886 over three runs, but cost 0.3457 dollars per question and exposed large table-prompt tails.</a:t>
            </a:r>
            <a:endParaRPr lang="en-US" dirty="0"/>
          </a:p>
          <a:p>
            <a:endParaRPr dirty="0"/>
          </a:p>
          <a:p>
            <a:r>
              <a:rPr dirty="0"/>
              <a:t>Router A was a whole-question policy evaluated retrospectively. Before retrieval, </a:t>
            </a:r>
            <a:r>
              <a:rPr dirty="0" err="1"/>
              <a:t>Jev</a:t>
            </a:r>
            <a:r>
              <a:rPr dirty="0"/>
              <a:t> read only the question wording and classified it as simple—one text article—or complex. </a:t>
            </a:r>
            <a:endParaRPr lang="en-US" dirty="0"/>
          </a:p>
          <a:p>
            <a:r>
              <a:rPr dirty="0"/>
              <a:t>The whole question then stayed on mini or moved to gpt-5.4. At the 0.5 threshold it preserved the saved GT quality of 0.868 at 0.3274 dollars per question, only about 3 percent below all gpt-5.4. It was simulated from saved outcomes, not tested as a live routed graph.</a:t>
            </a:r>
          </a:p>
          <a:p>
            <a:r>
              <a:rPr dirty="0"/>
              <a:t>The first live question-type router waited until the TOC reviewer had an evidence-based table flag, then moved the assessor, planner, and answer to gpt-5.4. In its one exploratory run it scored 0.816 at 0.3009 dollars per question. </a:t>
            </a:r>
            <a:endParaRPr lang="en-US" dirty="0"/>
          </a:p>
          <a:p>
            <a:r>
              <a:rPr dirty="0"/>
              <a:t>The strong planner requested more table evidence, which every later call reread.</a:t>
            </a:r>
          </a:p>
          <a:p>
            <a:endParaRPr lang="en-US" dirty="0"/>
          </a:p>
          <a:p>
            <a:r>
              <a:rPr dirty="0"/>
              <a:t>The selected table policy uses the same table signal but switches only the assessor and answer. Text questions stay on mini. Keeping the table planner on mini reduced evidence growth and cost. </a:t>
            </a:r>
            <a:endParaRPr lang="en-US" dirty="0"/>
          </a:p>
          <a:p>
            <a:r>
              <a:rPr dirty="0"/>
              <a:t>Across three repeated GT runs it scored 0.868 at 0.1725 dollars and 21.3 seconds per question.</a:t>
            </a:r>
          </a:p>
          <a:p>
            <a:r>
              <a:rPr dirty="0"/>
              <a:t>Against all gpt-5.4, the observed quality difference was minus 0.018 with p equals 0.81; this is no detected difference, not proof of equivalence. List cost was 50 percent lower with p equals 0.001. It was also the only repeated routed configuration statistically higher than all mini, p equals 0.047.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limitation is a specific control-flow failure, not an internal question label. In one of 75 validation question-runs, initial retrieval found the historical life-expectancy article but missed the required United Nations population article.</a:t>
            </a:r>
          </a:p>
          <a:p>
            <a:r>
              <a:t>After two incomplete table rounds, the assessor placed the still-missing population source into table_requests without a table ID and emitted no retrieval_request. The table budget was exhausted, so the workflow terminated before graph-seeded retrieval could run. The other two runs for the same question preserved a retrieval request, found both articles, and reached full recall.</a:t>
            </a:r>
          </a:p>
          <a:p>
            <a:r>
              <a:t>The next change should normalize any source request without a valid table ID into a retrieval request. The termination check should also inspect unresolved retrieval work before stopping. A regression test should reproduce the exhausted-table-budget state.</a:t>
            </a:r>
          </a:p>
          <a:p>
            <a:r>
              <a:t>The second limitation is prompt growth. Repeated table requests can add many rows to retained evidence, and every later model call rereads them. Deterministic caps on table rounds, retained rows, and total prompt size would bound both latency and cost. When a cap is reached, the system should report incomplete evidence rather than continue silently.</a:t>
            </a:r>
          </a:p>
          <a:p>
            <a:r>
              <a:t>The third limitation is the grounding check. It compares names and quotations against current evidence, but it does not verify every relationship, arithmetic claim, or exhaustive list. It warned on 47 of 155 answers, including 6 that the judge considered fully correct. The next version should link each answer claim to supporting evidence and tune the checker on a larger labeled set while tracking both missed errors and false warnings.</a:t>
            </a:r>
          </a:p>
          <a:p>
            <a:r>
              <a:t>Evidence: README 7.1 - performance and cost.md, final validation, recall analysis, and final technical conclusion; README 7.1 - security improvements.md.</a:t>
            </a:r>
          </a:p>
          <a:p>
            <a:r>
              <a:t>Timing: about 1 minute 30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for feedback on two decisions that directly affect the final capstone submission.</a:t>
            </a:r>
          </a:p>
          <a:p>
            <a:r>
              <a:t>First, is the final model switch concrete enough for an audience seeing the system for the first time? Text questions stay on gpt-5.4-mini. A table signal switches only evidence assessment and final answer writing to gpt-5.4, while the planner remains on mini. Second, can a reviewer understand the feedback loop among retrieval, assessment, deterministic table computation, and answer generation from the architecture slide alone?</a:t>
            </a:r>
          </a:p>
          <a:p>
            <a:r>
              <a:t>After the live review, replace this slide with a conclusion that states the final design, strongest evidence, most important limitation, and next engineering action. Add the verified GitHub repository link to the final submission.</a:t>
            </a:r>
          </a:p>
          <a:p>
            <a:r>
              <a:t>Timing: use the remaining time for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real trace of GT10 from one of the final retriever's three GT runs.</a:t>
            </a:r>
          </a:p>
          <a:p>
            <a:r>
              <a:rPr dirty="0"/>
              <a:t>The decomposer turned the question into one name, Winter Olympic Games, and the search returned five candidate articles.</a:t>
            </a:r>
            <a:endParaRPr lang="en-US" dirty="0"/>
          </a:p>
          <a:p>
            <a:r>
              <a:rPr dirty="0"/>
              <a:t> The table-of-contents review kept one, picked the Sports and Current sports sections, and flagged the Sport/Years table.</a:t>
            </a:r>
            <a:endParaRPr lang="en-US" dirty="0"/>
          </a:p>
          <a:p>
            <a:r>
              <a:rPr dirty="0"/>
              <a:t> Because a table was flagged, the router switched the assessor and the answer to gpt-5.4.</a:t>
            </a:r>
            <a:endParaRPr lang="en-US" dirty="0"/>
          </a:p>
          <a:p>
            <a:endParaRPr dirty="0"/>
          </a:p>
          <a:p>
            <a:r>
              <a:rPr dirty="0"/>
              <a:t>The assessor saw only 9 of the table's 16 rows and would not answer from a partial table, so it asked for a filter. </a:t>
            </a:r>
            <a:endParaRPr lang="en-US" dirty="0"/>
          </a:p>
          <a:p>
            <a:r>
              <a:rPr dirty="0"/>
              <a:t>The mini planner wrote it as “earliest year is 1950 or later”, and Python ran it over every row: six sports, each tied to the table cells it came from.</a:t>
            </a:r>
          </a:p>
          <a:p>
            <a:r>
              <a:rPr dirty="0"/>
              <a:t>That filter avoids the trap. Bobsleigh, curling, and skeleton have a “since” year after 1950, but their first year is earlier, so they are correctly left out.</a:t>
            </a:r>
          </a:p>
          <a:p>
            <a:r>
              <a:rPr dirty="0"/>
              <a:t>The second assessment was ready, gpt-5.4 wrote the answer, and the grounding check found every name in the evidence. The judge passed it in all three runs. The whole question took 6 model calls, 16 seconds, and about 6 cents.</a:t>
            </a:r>
          </a:p>
          <a:p>
            <a:r>
              <a:rPr dirty="0"/>
              <a:t>Before the table gateway in 5.1, this question passed only in the runs where the assessor happened to call the executor.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numerical story is not that every checkpoint increased one score. Each checkpoint moved a different bottleneck.</a:t>
            </a:r>
          </a:p>
          <a:p>
            <a:r>
              <a:t>The 3.1 vector baseline scored 0.907 quality and 0.973 recall on the held-out set. The 4.1 graph survivor had the same recall and 0.885 quality. The 5.1 agentic survivor reached 1.000 recall and 0.880 quality, but the logs showed a section-versus-synthesis trade-off. The 6.1 reliability survivor remained at 1.000 recall and 0.860 quality while reducing work and improving text questions. The 7.1 final system reached 0.933 quality and 0.993 recall.</a:t>
            </a:r>
          </a:p>
          <a:p>
            <a:r>
              <a:t>Earlier checkpoint values come from their recorded campaigns, which differed in run counts and exact implementations. I use this slide as the engineering lineage. The controlled final comparison for 5.1, 6.1, and 7.1 used three validation runs per survivor.</a:t>
            </a:r>
          </a:p>
          <a:p>
            <a:r>
              <a:t>Evidence: README 4.1 validation baseline; README 5.1 final validation; README 7.1 final validation build and provenance.</a:t>
            </a:r>
          </a:p>
          <a:p>
            <a:r>
              <a:t>Timing: about 1 minute.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Jev</a:t>
            </a:r>
            <a:r>
              <a:rPr lang="en-US" dirty="0"/>
              <a:t> was tested only in the experimental </a:t>
            </a:r>
            <a:r>
              <a:rPr lang="en-US" b="1" dirty="0"/>
              <a:t>answer-check</a:t>
            </a:r>
            <a:r>
              <a:rPr lang="en-US" dirty="0"/>
              <a:t> strategies (</a:t>
            </a:r>
            <a:r>
              <a:rPr lang="en-US" sz="1200" kern="1200" dirty="0"/>
              <a:t>check</a:t>
            </a:r>
            <a:r>
              <a:rPr lang="en-US" dirty="0"/>
              <a:t> and </a:t>
            </a:r>
            <a:r>
              <a:rPr lang="en-US" sz="1200" kern="1200" dirty="0"/>
              <a:t>b-check</a:t>
            </a:r>
            <a:r>
              <a:rPr lang="en-US" dirty="0"/>
              <a:t>). Those strategies were not selected because they cost more and produced lower quality. </a:t>
            </a:r>
          </a:p>
          <a:p>
            <a:r>
              <a:rPr lang="en-US" dirty="0"/>
              <a:t>The final “Router B” makes no </a:t>
            </a:r>
            <a:r>
              <a:rPr lang="en-US" dirty="0" err="1"/>
              <a:t>Jev</a:t>
            </a:r>
            <a:r>
              <a:rPr lang="en-US" dirty="0"/>
              <a:t> calls.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
        <p:cNvGrpSpPr/>
        <p:nvPr/>
      </p:nvGrpSpPr>
      <p:grpSpPr>
        <a:xfrm>
          <a:off x="0" y="0"/>
          <a:ext cx="0" cy="0"/>
          <a:chOff x="0" y="0"/>
          <a:chExt cx="0" cy="0"/>
        </a:xfrm>
      </p:grpSpPr>
      <p:pic>
        <p:nvPicPr>
          <p:cNvPr id="4" name="Google Shape;16;p5"/>
          <p:cNvPicPr>
            <a:picLocks noChangeAspect="1"/>
          </p:cNvPicPr>
          <p:nvPr/>
        </p:nvPicPr>
        <p:blipFill rotWithShape="1">
          <a:blip r:embed="rId2">
            <a:alphaModFix/>
          </a:blip>
          <a:srcRect/>
          <a:stretch/>
        </p:blipFill>
        <p:spPr>
          <a:xfrm>
            <a:off x="0" y="0"/>
            <a:ext cx="12192000" cy="6858000"/>
          </a:xfrm>
          <a:prstGeom prst="rect">
            <a:avLst/>
          </a:prstGeom>
          <a:ln>
            <a:noFill/>
          </a:ln>
        </p:spPr>
      </p:pic>
      <p:pic>
        <p:nvPicPr>
          <p:cNvPr id="5" name="Google Shape;17;p5"/>
          <p:cNvPicPr>
            <a:picLocks noChangeAspect="1"/>
          </p:cNvPicPr>
          <p:nvPr/>
        </p:nvPicPr>
        <p:blipFill rotWithShape="1">
          <a:blip r:embed="rId3">
            <a:alphaModFix/>
          </a:blip>
          <a:srcRect/>
          <a:stretch/>
        </p:blipFill>
        <p:spPr>
          <a:xfrm>
            <a:off x="0" y="4419600"/>
            <a:ext cx="12192000" cy="2438400"/>
          </a:xfrm>
          <a:prstGeom prst="rect">
            <a:avLst/>
          </a:prstGeom>
          <a:ln>
            <a:noFill/>
          </a:ln>
        </p:spPr>
      </p:pic>
      <p:pic>
        <p:nvPicPr>
          <p:cNvPr id="6" name="Google Shape;18;p5"/>
          <p:cNvPicPr>
            <a:picLocks noChangeAspect="1"/>
          </p:cNvPicPr>
          <p:nvPr/>
        </p:nvPicPr>
        <p:blipFill rotWithShape="1">
          <a:blip r:embed="rId4">
            <a:alphaModFix/>
          </a:blip>
          <a:srcRect/>
          <a:stretch/>
        </p:blipFill>
        <p:spPr>
          <a:xfrm>
            <a:off x="9830830" y="3686830"/>
            <a:ext cx="1905000" cy="522306"/>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
        <p:cNvGrpSpPr/>
        <p:nvPr/>
      </p:nvGrpSpPr>
      <p:grpSpPr>
        <a:xfrm>
          <a:off x="0" y="0"/>
          <a:ext cx="0" cy="0"/>
          <a:chOff x="0" y="0"/>
          <a:chExt cx="0" cy="0"/>
        </a:xfrm>
      </p:grpSpPr>
      <p:pic>
        <p:nvPicPr>
          <p:cNvPr id="3" name="Google Shape;20;p6"/>
          <p:cNvPicPr>
            <a:picLocks noChangeAspect="1"/>
          </p:cNvPicPr>
          <p:nvPr/>
        </p:nvPicPr>
        <p:blipFill rotWithShape="1">
          <a:blip r:embed="rId2">
            <a:alphaModFix/>
          </a:blip>
          <a:srcRect/>
          <a:stretch/>
        </p:blipFill>
        <p:spPr>
          <a:xfrm>
            <a:off x="10797369" y="6362197"/>
            <a:ext cx="960461" cy="372478"/>
          </a:xfrm>
          <a:prstGeom prst="rect">
            <a:avLst/>
          </a:prstGeom>
          <a:ln>
            <a:noFill/>
          </a:ln>
        </p:spPr>
      </p:pic>
      <p:pic>
        <p:nvPicPr>
          <p:cNvPr id="4" name="Google Shape;21;p6"/>
          <p:cNvPicPr>
            <a:picLocks noChangeAspect="1"/>
          </p:cNvPicPr>
          <p:nvPr/>
        </p:nvPicPr>
        <p:blipFill rotWithShape="1">
          <a:blip r:embed="rId3">
            <a:alphaModFix/>
          </a:blip>
          <a:srcRect/>
          <a:stretch/>
        </p:blipFill>
        <p:spPr>
          <a:xfrm>
            <a:off x="0" y="0"/>
            <a:ext cx="12192000" cy="714375"/>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_Blank">
  <p:cSld name="7_Blank">
    <p:spTree>
      <p:nvGrpSpPr>
        <p:cNvPr id="1" name=""/>
        <p:cNvGrpSpPr/>
        <p:nvPr/>
      </p:nvGrpSpPr>
      <p:grpSpPr>
        <a:xfrm>
          <a:off x="0" y="0"/>
          <a:ext cx="0" cy="0"/>
          <a:chOff x="0" y="0"/>
          <a:chExt cx="0" cy="0"/>
        </a:xfrm>
      </p:grpSpPr>
      <p:pic>
        <p:nvPicPr>
          <p:cNvPr id="2" name="Google Shape;23;p7"/>
          <p:cNvPicPr>
            <a:picLocks noChangeAspect="1"/>
          </p:cNvPicPr>
          <p:nvPr/>
        </p:nvPicPr>
        <p:blipFill rotWithShape="1">
          <a:blip r:embed="rId2">
            <a:alphaModFix amt="5000"/>
          </a:blip>
          <a:srcRect/>
          <a:stretch/>
        </p:blipFill>
        <p:spPr>
          <a:xfrm>
            <a:off x="3976469" y="2607021"/>
            <a:ext cx="4239062" cy="1643957"/>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25" name="Google Shape;25;p8">
            <a:extLst>
              <a:ext uri="{FF2B5EF4-FFF2-40B4-BE49-F238E27FC236}">
                <a16:creationId xmlns:a16="http://schemas.microsoft.com/office/drawing/2014/main" id="{75E4A811-229D-4CF6-B141-45238101D2C2}"/>
              </a:ext>
            </a:extLst>
          </p:cNvPr>
          <p:cNvSpPr>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ormAutofit/>
          </a:bodyPr>
          <a:lstStyle>
            <a:lvl1pPr algn="ctr">
              <a:lnSpc>
                <a:spcPct val="90000"/>
              </a:lnSpc>
              <a:spcBef>
                <a:spcPts val="0"/>
              </a:spcBef>
              <a:spcAft>
                <a:spcPts val="0"/>
              </a:spcAft>
              <a:buClr>
                <a:schemeClr val="dk1"/>
              </a:buClr>
              <a:buSzPts val="6000"/>
              <a:buFont typeface="Calibri"/>
              <a:buNone/>
              <a:defRPr sz="6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6" name="Google Shape;26;p8">
            <a:extLst>
              <a:ext uri="{FF2B5EF4-FFF2-40B4-BE49-F238E27FC236}">
                <a16:creationId xmlns:a16="http://schemas.microsoft.com/office/drawing/2014/main" id="{1D590E4D-25A2-42D9-9F6E-786AA9825478}"/>
              </a:ext>
            </a:extLst>
          </p:cNvPr>
          <p:cNvSpPr>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ormAutofit/>
          </a:bodyPr>
          <a:lstStyle>
            <a:lvl1pPr algn="ctr">
              <a:lnSpc>
                <a:spcPct val="90000"/>
              </a:lnSpc>
              <a:spcBef>
                <a:spcPts val="1000"/>
              </a:spcBef>
              <a:spcAft>
                <a:spcPts val="0"/>
              </a:spcAft>
              <a:buClr>
                <a:schemeClr val="dk1"/>
              </a:buClr>
              <a:buSzPts val="2400"/>
              <a:buNone/>
              <a:defRPr sz="2400"/>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a:endParaRPr/>
          </a:p>
        </p:txBody>
      </p:sp>
      <p:sp>
        <p:nvSpPr>
          <p:cNvPr id="27" name="Google Shape;27;p8">
            <a:extLst>
              <a:ext uri="{FF2B5EF4-FFF2-40B4-BE49-F238E27FC236}">
                <a16:creationId xmlns:a16="http://schemas.microsoft.com/office/drawing/2014/main" id="{DD96B667-A372-4A24-9B1C-8338168EE547}"/>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8" name="Google Shape;28;p8">
            <a:extLst>
              <a:ext uri="{FF2B5EF4-FFF2-40B4-BE49-F238E27FC236}">
                <a16:creationId xmlns:a16="http://schemas.microsoft.com/office/drawing/2014/main" id="{DC73BEBF-1454-4D33-85D0-BF1EF4C136D0}"/>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9" name="Google Shape;29;p8">
            <a:extLst>
              <a:ext uri="{FF2B5EF4-FFF2-40B4-BE49-F238E27FC236}">
                <a16:creationId xmlns:a16="http://schemas.microsoft.com/office/drawing/2014/main" id="{AE1768F5-B8F0-4CE3-817B-0E58293B03FB}"/>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
        <p:cNvGrpSpPr/>
        <p:nvPr/>
      </p:nvGrpSpPr>
      <p:grpSpPr>
        <a:xfrm>
          <a:off x="0" y="0"/>
          <a:ext cx="0" cy="0"/>
          <a:chOff x="0" y="0"/>
          <a:chExt cx="0" cy="0"/>
        </a:xfrm>
      </p:grpSpPr>
      <p:sp>
        <p:nvSpPr>
          <p:cNvPr id="31" name="Google Shape;31;p9">
            <a:extLst>
              <a:ext uri="{FF2B5EF4-FFF2-40B4-BE49-F238E27FC236}">
                <a16:creationId xmlns:a16="http://schemas.microsoft.com/office/drawing/2014/main" id="{7896B547-FF03-4CCA-B965-63990A7CF037}"/>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2" name="Google Shape;32;p9">
            <a:extLst>
              <a:ext uri="{FF2B5EF4-FFF2-40B4-BE49-F238E27FC236}">
                <a16:creationId xmlns:a16="http://schemas.microsoft.com/office/drawing/2014/main" id="{ECBFB0D2-78F6-4752-AA2C-A662980624E3}"/>
              </a:ext>
            </a:extLst>
          </p:cNvPr>
          <p:cNvSpPr>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33" name="Google Shape;33;p9">
            <a:extLst>
              <a:ext uri="{FF2B5EF4-FFF2-40B4-BE49-F238E27FC236}">
                <a16:creationId xmlns:a16="http://schemas.microsoft.com/office/drawing/2014/main" id="{B83045C7-E66C-4B54-BFB8-8FC5738DEA44}"/>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4" name="Google Shape;34;p9">
            <a:extLst>
              <a:ext uri="{FF2B5EF4-FFF2-40B4-BE49-F238E27FC236}">
                <a16:creationId xmlns:a16="http://schemas.microsoft.com/office/drawing/2014/main" id="{6F1A0FDB-7081-4231-B80B-C6F1738A0089}"/>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5" name="Google Shape;35;p9">
            <a:extLst>
              <a:ext uri="{FF2B5EF4-FFF2-40B4-BE49-F238E27FC236}">
                <a16:creationId xmlns:a16="http://schemas.microsoft.com/office/drawing/2014/main" id="{1D9EF149-2B24-42D7-829D-B8B2F4F40E0C}"/>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37" name="Google Shape;37;p10">
            <a:extLst>
              <a:ext uri="{FF2B5EF4-FFF2-40B4-BE49-F238E27FC236}">
                <a16:creationId xmlns:a16="http://schemas.microsoft.com/office/drawing/2014/main" id="{CE1BEC93-0BE1-47B9-887A-290AB8BCCD70}"/>
              </a:ext>
            </a:extLst>
          </p:cNvPr>
          <p:cNvSpPr>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6000"/>
              <a:buFont typeface="Calibri"/>
              <a:buNone/>
              <a:defRPr sz="6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8" name="Google Shape;38;p10">
            <a:extLst>
              <a:ext uri="{FF2B5EF4-FFF2-40B4-BE49-F238E27FC236}">
                <a16:creationId xmlns:a16="http://schemas.microsoft.com/office/drawing/2014/main" id="{71AA3567-1076-4D84-93D4-711EF2C94E38}"/>
              </a:ext>
            </a:extLst>
          </p:cNvPr>
          <p:cNvSpPr>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rgbClr val="888888"/>
              </a:buClr>
              <a:buSzPts val="2400"/>
              <a:buNone/>
              <a:defRPr sz="2400">
                <a:solidFill>
                  <a:srgbClr val="888888"/>
                </a:solidFill>
              </a:defRPr>
            </a:lvl1pPr>
            <a:lvl2pPr marL="914400" indent="-228600" algn="l">
              <a:lnSpc>
                <a:spcPct val="90000"/>
              </a:lnSpc>
              <a:spcBef>
                <a:spcPts val="500"/>
              </a:spcBef>
              <a:spcAft>
                <a:spcPts val="0"/>
              </a:spcAft>
              <a:buClr>
                <a:srgbClr val="888888"/>
              </a:buClr>
              <a:buSzPts val="2000"/>
              <a:buNone/>
              <a:defRPr sz="2000">
                <a:solidFill>
                  <a:srgbClr val="888888"/>
                </a:solidFill>
              </a:defRPr>
            </a:lvl2pPr>
            <a:lvl3pPr marL="1371600" indent="-228600" algn="l">
              <a:lnSpc>
                <a:spcPct val="90000"/>
              </a:lnSpc>
              <a:spcBef>
                <a:spcPts val="500"/>
              </a:spcBef>
              <a:spcAft>
                <a:spcPts val="0"/>
              </a:spcAft>
              <a:buClr>
                <a:srgbClr val="888888"/>
              </a:buClr>
              <a:buSzPts val="1800"/>
              <a:buNone/>
              <a:defRPr sz="1800">
                <a:solidFill>
                  <a:srgbClr val="888888"/>
                </a:solidFill>
              </a:defRPr>
            </a:lvl3pPr>
            <a:lvl4pPr marL="1828800" indent="-228600" algn="l">
              <a:lnSpc>
                <a:spcPct val="90000"/>
              </a:lnSpc>
              <a:spcBef>
                <a:spcPts val="500"/>
              </a:spcBef>
              <a:spcAft>
                <a:spcPts val="0"/>
              </a:spcAft>
              <a:buClr>
                <a:srgbClr val="888888"/>
              </a:buClr>
              <a:buSzPts val="1600"/>
              <a:buNone/>
              <a:defRPr sz="1600">
                <a:solidFill>
                  <a:srgbClr val="888888"/>
                </a:solidFill>
              </a:defRPr>
            </a:lvl4pPr>
            <a:lvl5pPr marL="2286000" indent="-228600" algn="l">
              <a:lnSpc>
                <a:spcPct val="90000"/>
              </a:lnSpc>
              <a:spcBef>
                <a:spcPts val="500"/>
              </a:spcBef>
              <a:spcAft>
                <a:spcPts val="0"/>
              </a:spcAft>
              <a:buClr>
                <a:srgbClr val="888888"/>
              </a:buClr>
              <a:buSzPts val="1600"/>
              <a:buNone/>
              <a:defRPr sz="1600">
                <a:solidFill>
                  <a:srgbClr val="888888"/>
                </a:solidFill>
              </a:defRPr>
            </a:lvl5pPr>
            <a:lvl6pPr marL="2743200" indent="-228600" algn="l">
              <a:lnSpc>
                <a:spcPct val="90000"/>
              </a:lnSpc>
              <a:spcBef>
                <a:spcPts val="500"/>
              </a:spcBef>
              <a:spcAft>
                <a:spcPts val="0"/>
              </a:spcAft>
              <a:buClr>
                <a:srgbClr val="888888"/>
              </a:buClr>
              <a:buSzPts val="1600"/>
              <a:buNone/>
              <a:defRPr sz="1600">
                <a:solidFill>
                  <a:srgbClr val="888888"/>
                </a:solidFill>
              </a:defRPr>
            </a:lvl6pPr>
            <a:lvl7pPr marL="3200400" indent="-228600" algn="l">
              <a:lnSpc>
                <a:spcPct val="90000"/>
              </a:lnSpc>
              <a:spcBef>
                <a:spcPts val="500"/>
              </a:spcBef>
              <a:spcAft>
                <a:spcPts val="0"/>
              </a:spcAft>
              <a:buClr>
                <a:srgbClr val="888888"/>
              </a:buClr>
              <a:buSzPts val="1600"/>
              <a:buNone/>
              <a:defRPr sz="1600">
                <a:solidFill>
                  <a:srgbClr val="888888"/>
                </a:solidFill>
              </a:defRPr>
            </a:lvl7pPr>
            <a:lvl8pPr marL="3657600" indent="-228600" algn="l">
              <a:lnSpc>
                <a:spcPct val="90000"/>
              </a:lnSpc>
              <a:spcBef>
                <a:spcPts val="500"/>
              </a:spcBef>
              <a:spcAft>
                <a:spcPts val="0"/>
              </a:spcAft>
              <a:buClr>
                <a:srgbClr val="888888"/>
              </a:buClr>
              <a:buSzPts val="1600"/>
              <a:buNone/>
              <a:defRPr sz="1600">
                <a:solidFill>
                  <a:srgbClr val="888888"/>
                </a:solidFill>
              </a:defRPr>
            </a:lvl8pPr>
            <a:lvl9pPr marL="4114800"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10">
            <a:extLst>
              <a:ext uri="{FF2B5EF4-FFF2-40B4-BE49-F238E27FC236}">
                <a16:creationId xmlns:a16="http://schemas.microsoft.com/office/drawing/2014/main" id="{AC642796-C1CA-433C-BFD7-5E82DAC331F9}"/>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0" name="Google Shape;40;p10">
            <a:extLst>
              <a:ext uri="{FF2B5EF4-FFF2-40B4-BE49-F238E27FC236}">
                <a16:creationId xmlns:a16="http://schemas.microsoft.com/office/drawing/2014/main" id="{BB6A2AB6-E905-40E9-8A1C-B4FCA1E760A3}"/>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1" name="Google Shape;41;p10">
            <a:extLst>
              <a:ext uri="{FF2B5EF4-FFF2-40B4-BE49-F238E27FC236}">
                <a16:creationId xmlns:a16="http://schemas.microsoft.com/office/drawing/2014/main" id="{CD861A82-605A-436D-B2FE-E23C2B235486}"/>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
        <p:cNvGrpSpPr/>
        <p:nvPr/>
      </p:nvGrpSpPr>
      <p:grpSpPr>
        <a:xfrm>
          <a:off x="0" y="0"/>
          <a:ext cx="0" cy="0"/>
          <a:chOff x="0" y="0"/>
          <a:chExt cx="0" cy="0"/>
        </a:xfrm>
      </p:grpSpPr>
      <p:sp>
        <p:nvSpPr>
          <p:cNvPr id="43" name="Google Shape;43;p11">
            <a:extLst>
              <a:ext uri="{FF2B5EF4-FFF2-40B4-BE49-F238E27FC236}">
                <a16:creationId xmlns:a16="http://schemas.microsoft.com/office/drawing/2014/main" id="{2621B294-F11F-4336-B35E-6CD80817F889}"/>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4" name="Google Shape;44;p11">
            <a:extLst>
              <a:ext uri="{FF2B5EF4-FFF2-40B4-BE49-F238E27FC236}">
                <a16:creationId xmlns:a16="http://schemas.microsoft.com/office/drawing/2014/main" id="{DF9C14E5-A5CB-4239-B293-836E4D5139ED}"/>
              </a:ext>
            </a:extLst>
          </p:cNvPr>
          <p:cNvSpPr>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45" name="Google Shape;45;p11">
            <a:extLst>
              <a:ext uri="{FF2B5EF4-FFF2-40B4-BE49-F238E27FC236}">
                <a16:creationId xmlns:a16="http://schemas.microsoft.com/office/drawing/2014/main" id="{0235116B-5013-46E7-B786-12655D782549}"/>
              </a:ext>
            </a:extLst>
          </p:cNvPr>
          <p:cNvSpPr>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46" name="Google Shape;46;p11">
            <a:extLst>
              <a:ext uri="{FF2B5EF4-FFF2-40B4-BE49-F238E27FC236}">
                <a16:creationId xmlns:a16="http://schemas.microsoft.com/office/drawing/2014/main" id="{1C4EBA6C-6FB1-4D6B-A6DD-988721F7B754}"/>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7" name="Google Shape;47;p11">
            <a:extLst>
              <a:ext uri="{FF2B5EF4-FFF2-40B4-BE49-F238E27FC236}">
                <a16:creationId xmlns:a16="http://schemas.microsoft.com/office/drawing/2014/main" id="{A3BCF685-C153-412B-B9E6-5B59D6C69B07}"/>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8" name="Google Shape;48;p11">
            <a:extLst>
              <a:ext uri="{FF2B5EF4-FFF2-40B4-BE49-F238E27FC236}">
                <a16:creationId xmlns:a16="http://schemas.microsoft.com/office/drawing/2014/main" id="{5119C3C3-750F-40EC-A334-5459D888393C}"/>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
        <p:cNvGrpSpPr/>
        <p:nvPr/>
      </p:nvGrpSpPr>
      <p:grpSpPr>
        <a:xfrm>
          <a:off x="0" y="0"/>
          <a:ext cx="0" cy="0"/>
          <a:chOff x="0" y="0"/>
          <a:chExt cx="0" cy="0"/>
        </a:xfrm>
      </p:grpSpPr>
      <p:sp>
        <p:nvSpPr>
          <p:cNvPr id="50" name="Google Shape;50;p12">
            <a:extLst>
              <a:ext uri="{FF2B5EF4-FFF2-40B4-BE49-F238E27FC236}">
                <a16:creationId xmlns:a16="http://schemas.microsoft.com/office/drawing/2014/main" id="{C4621B21-C097-4FB8-8ED3-329FE00C0DA5}"/>
              </a:ext>
            </a:extLst>
          </p:cNvPr>
          <p:cNvSpPr>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1" name="Google Shape;51;p12">
            <a:extLst>
              <a:ext uri="{FF2B5EF4-FFF2-40B4-BE49-F238E27FC236}">
                <a16:creationId xmlns:a16="http://schemas.microsoft.com/office/drawing/2014/main" id="{B56A82EA-058E-4B82-9BCF-8EDDAD57AED2}"/>
              </a:ext>
            </a:extLst>
          </p:cNvPr>
          <p:cNvSpPr>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a:endParaRPr/>
          </a:p>
        </p:txBody>
      </p:sp>
      <p:sp>
        <p:nvSpPr>
          <p:cNvPr id="52" name="Google Shape;52;p12">
            <a:extLst>
              <a:ext uri="{FF2B5EF4-FFF2-40B4-BE49-F238E27FC236}">
                <a16:creationId xmlns:a16="http://schemas.microsoft.com/office/drawing/2014/main" id="{F3A4FA3E-3902-4A34-82C5-FB76C6271C91}"/>
              </a:ext>
            </a:extLst>
          </p:cNvPr>
          <p:cNvSpPr>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53" name="Google Shape;53;p12">
            <a:extLst>
              <a:ext uri="{FF2B5EF4-FFF2-40B4-BE49-F238E27FC236}">
                <a16:creationId xmlns:a16="http://schemas.microsoft.com/office/drawing/2014/main" id="{28E5FA6F-0F7B-4445-A7D7-67007EB57126}"/>
              </a:ext>
            </a:extLst>
          </p:cNvPr>
          <p:cNvSpPr>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a:endParaRPr/>
          </a:p>
        </p:txBody>
      </p:sp>
      <p:sp>
        <p:nvSpPr>
          <p:cNvPr id="54" name="Google Shape;54;p12">
            <a:extLst>
              <a:ext uri="{FF2B5EF4-FFF2-40B4-BE49-F238E27FC236}">
                <a16:creationId xmlns:a16="http://schemas.microsoft.com/office/drawing/2014/main" id="{37257E1D-8AB2-4239-B815-0A6770D12A65}"/>
              </a:ext>
            </a:extLst>
          </p:cNvPr>
          <p:cNvSpPr>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55" name="Google Shape;55;p12">
            <a:extLst>
              <a:ext uri="{FF2B5EF4-FFF2-40B4-BE49-F238E27FC236}">
                <a16:creationId xmlns:a16="http://schemas.microsoft.com/office/drawing/2014/main" id="{5EB512A9-E924-4A2B-B22D-C757B4AB8595}"/>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6" name="Google Shape;56;p12">
            <a:extLst>
              <a:ext uri="{FF2B5EF4-FFF2-40B4-BE49-F238E27FC236}">
                <a16:creationId xmlns:a16="http://schemas.microsoft.com/office/drawing/2014/main" id="{AA98E9E1-2C9B-4085-886A-9958131E3E81}"/>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7" name="Google Shape;57;p12">
            <a:extLst>
              <a:ext uri="{FF2B5EF4-FFF2-40B4-BE49-F238E27FC236}">
                <a16:creationId xmlns:a16="http://schemas.microsoft.com/office/drawing/2014/main" id="{1544D505-0DBF-4278-95EA-201F207817DD}"/>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59" name="Google Shape;59;p13">
            <a:extLst>
              <a:ext uri="{FF2B5EF4-FFF2-40B4-BE49-F238E27FC236}">
                <a16:creationId xmlns:a16="http://schemas.microsoft.com/office/drawing/2014/main" id="{78E30F76-8184-47B0-A3E2-4BC8A5A035A6}"/>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0" name="Google Shape;60;p13">
            <a:extLst>
              <a:ext uri="{FF2B5EF4-FFF2-40B4-BE49-F238E27FC236}">
                <a16:creationId xmlns:a16="http://schemas.microsoft.com/office/drawing/2014/main" id="{153EBEFE-7B21-421E-870C-05C44CD5ED9B}"/>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1" name="Google Shape;61;p13">
            <a:extLst>
              <a:ext uri="{FF2B5EF4-FFF2-40B4-BE49-F238E27FC236}">
                <a16:creationId xmlns:a16="http://schemas.microsoft.com/office/drawing/2014/main" id="{A1CCC17D-4BAA-449B-AAEF-6402A45805F3}"/>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2" name="Google Shape;62;p13">
            <a:extLst>
              <a:ext uri="{FF2B5EF4-FFF2-40B4-BE49-F238E27FC236}">
                <a16:creationId xmlns:a16="http://schemas.microsoft.com/office/drawing/2014/main" id="{00FED34F-45A8-46A4-8DD7-885FA4673017}"/>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
        <p:cNvGrpSpPr/>
        <p:nvPr/>
      </p:nvGrpSpPr>
      <p:grpSpPr>
        <a:xfrm>
          <a:off x="0" y="0"/>
          <a:ext cx="0" cy="0"/>
          <a:chOff x="0" y="0"/>
          <a:chExt cx="0" cy="0"/>
        </a:xfrm>
      </p:grpSpPr>
      <p:sp>
        <p:nvSpPr>
          <p:cNvPr id="65" name="Google Shape;65;p15">
            <a:extLst>
              <a:ext uri="{FF2B5EF4-FFF2-40B4-BE49-F238E27FC236}">
                <a16:creationId xmlns:a16="http://schemas.microsoft.com/office/drawing/2014/main" id="{769297BD-A3F8-47A4-A4F9-720CD9D322AF}"/>
              </a:ext>
            </a:extLst>
          </p:cNvPr>
          <p:cNvSpPr>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6" name="Google Shape;66;p15">
            <a:extLst>
              <a:ext uri="{FF2B5EF4-FFF2-40B4-BE49-F238E27FC236}">
                <a16:creationId xmlns:a16="http://schemas.microsoft.com/office/drawing/2014/main" id="{254FF860-F410-4F9B-9516-ECAD06964288}"/>
              </a:ext>
            </a:extLst>
          </p:cNvPr>
          <p:cNvSpPr>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ormAutofit/>
          </a:bodyPr>
          <a:lstStyle>
            <a:lvl1pPr marL="457200" indent="-431800" algn="l">
              <a:lnSpc>
                <a:spcPct val="90000"/>
              </a:lnSpc>
              <a:spcBef>
                <a:spcPts val="1000"/>
              </a:spcBef>
              <a:spcAft>
                <a:spcPts val="0"/>
              </a:spcAft>
              <a:buClr>
                <a:schemeClr val="dk1"/>
              </a:buClr>
              <a:buSzPts val="3200"/>
              <a:buChar char="•"/>
              <a:defRPr sz="3200"/>
            </a:lvl1pPr>
            <a:lvl2pPr marL="914400" indent="-406400" algn="l">
              <a:lnSpc>
                <a:spcPct val="90000"/>
              </a:lnSpc>
              <a:spcBef>
                <a:spcPts val="500"/>
              </a:spcBef>
              <a:spcAft>
                <a:spcPts val="0"/>
              </a:spcAft>
              <a:buClr>
                <a:schemeClr val="dk1"/>
              </a:buClr>
              <a:buSzPts val="2800"/>
              <a:buChar char="•"/>
              <a:defRPr sz="2800"/>
            </a:lvl2pPr>
            <a:lvl3pPr marL="1371600" indent="-381000" algn="l">
              <a:lnSpc>
                <a:spcPct val="90000"/>
              </a:lnSpc>
              <a:spcBef>
                <a:spcPts val="500"/>
              </a:spcBef>
              <a:spcAft>
                <a:spcPts val="0"/>
              </a:spcAft>
              <a:buClr>
                <a:schemeClr val="dk1"/>
              </a:buClr>
              <a:buSzPts val="2400"/>
              <a:buChar char="•"/>
              <a:defRPr sz="2400"/>
            </a:lvl3pPr>
            <a:lvl4pPr marL="1828800" indent="-355600" algn="l">
              <a:lnSpc>
                <a:spcPct val="90000"/>
              </a:lnSpc>
              <a:spcBef>
                <a:spcPts val="500"/>
              </a:spcBef>
              <a:spcAft>
                <a:spcPts val="0"/>
              </a:spcAft>
              <a:buClr>
                <a:schemeClr val="dk1"/>
              </a:buClr>
              <a:buSzPts val="2000"/>
              <a:buChar char="•"/>
              <a:defRPr sz="2000"/>
            </a:lvl4pPr>
            <a:lvl5pPr marL="2286000" indent="-355600" algn="l">
              <a:lnSpc>
                <a:spcPct val="90000"/>
              </a:lnSpc>
              <a:spcBef>
                <a:spcPts val="500"/>
              </a:spcBef>
              <a:spcAft>
                <a:spcPts val="0"/>
              </a:spcAft>
              <a:buClr>
                <a:schemeClr val="dk1"/>
              </a:buClr>
              <a:buSzPts val="2000"/>
              <a:buChar char="•"/>
              <a:defRPr sz="2000"/>
            </a:lvl5pPr>
            <a:lvl6pPr marL="2743200" indent="-355600" algn="l">
              <a:lnSpc>
                <a:spcPct val="90000"/>
              </a:lnSpc>
              <a:spcBef>
                <a:spcPts val="500"/>
              </a:spcBef>
              <a:spcAft>
                <a:spcPts val="0"/>
              </a:spcAft>
              <a:buClr>
                <a:schemeClr val="dk1"/>
              </a:buClr>
              <a:buSzPts val="2000"/>
              <a:buChar char="•"/>
              <a:defRPr sz="2000"/>
            </a:lvl6pPr>
            <a:lvl7pPr marL="3200400" indent="-355600" algn="l">
              <a:lnSpc>
                <a:spcPct val="90000"/>
              </a:lnSpc>
              <a:spcBef>
                <a:spcPts val="500"/>
              </a:spcBef>
              <a:spcAft>
                <a:spcPts val="0"/>
              </a:spcAft>
              <a:buClr>
                <a:schemeClr val="dk1"/>
              </a:buClr>
              <a:buSzPts val="2000"/>
              <a:buChar char="•"/>
              <a:defRPr sz="2000"/>
            </a:lvl7pPr>
            <a:lvl8pPr marL="3657600" indent="-355600" algn="l">
              <a:lnSpc>
                <a:spcPct val="90000"/>
              </a:lnSpc>
              <a:spcBef>
                <a:spcPts val="500"/>
              </a:spcBef>
              <a:spcAft>
                <a:spcPts val="0"/>
              </a:spcAft>
              <a:buClr>
                <a:schemeClr val="dk1"/>
              </a:buClr>
              <a:buSzPts val="2000"/>
              <a:buChar char="•"/>
              <a:defRPr sz="2000"/>
            </a:lvl8pPr>
            <a:lvl9pPr marL="4114800"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15">
            <a:extLst>
              <a:ext uri="{FF2B5EF4-FFF2-40B4-BE49-F238E27FC236}">
                <a16:creationId xmlns:a16="http://schemas.microsoft.com/office/drawing/2014/main" id="{4077DA56-CF85-4DD9-8EF7-0FD74C4CCA81}"/>
              </a:ext>
            </a:extLst>
          </p:cNvPr>
          <p:cNvSpPr>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
        <p:nvSpPr>
          <p:cNvPr id="68" name="Google Shape;68;p15">
            <a:extLst>
              <a:ext uri="{FF2B5EF4-FFF2-40B4-BE49-F238E27FC236}">
                <a16:creationId xmlns:a16="http://schemas.microsoft.com/office/drawing/2014/main" id="{E1F002C0-F7E9-4DB3-BE2D-8958169885D6}"/>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9" name="Google Shape;69;p15">
            <a:extLst>
              <a:ext uri="{FF2B5EF4-FFF2-40B4-BE49-F238E27FC236}">
                <a16:creationId xmlns:a16="http://schemas.microsoft.com/office/drawing/2014/main" id="{DB96DA6B-B6A4-4809-B97D-6A0AE58518E0}"/>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0" name="Google Shape;70;p15">
            <a:extLst>
              <a:ext uri="{FF2B5EF4-FFF2-40B4-BE49-F238E27FC236}">
                <a16:creationId xmlns:a16="http://schemas.microsoft.com/office/drawing/2014/main" id="{3A49C08B-0217-4249-B360-7D4CA4542066}"/>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72" name="Google Shape;72;p16">
            <a:extLst>
              <a:ext uri="{FF2B5EF4-FFF2-40B4-BE49-F238E27FC236}">
                <a16:creationId xmlns:a16="http://schemas.microsoft.com/office/drawing/2014/main" id="{98EFE178-087A-44A2-8870-DA75DF70ADCC}"/>
              </a:ext>
            </a:extLst>
          </p:cNvPr>
          <p:cNvSpPr>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3" name="Google Shape;73;p16">
            <a:extLst>
              <a:ext uri="{FF2B5EF4-FFF2-40B4-BE49-F238E27FC236}">
                <a16:creationId xmlns:a16="http://schemas.microsoft.com/office/drawing/2014/main" id="{D7D8D174-049D-4826-A139-16379FD1B26B}"/>
              </a:ext>
            </a:extLst>
          </p:cNvPr>
          <p:cNvSpPr>
            <a:spLocks noGrp="1"/>
          </p:cNvSpPr>
          <p:nvPr>
            <p:ph type="pic" idx="2"/>
          </p:nvPr>
        </p:nvSpPr>
        <p:spPr>
          <a:xfrm>
            <a:off x="5183188" y="987425"/>
            <a:ext cx="6172200" cy="4873625"/>
          </a:xfrm>
          <a:prstGeom prst="rect">
            <a:avLst/>
          </a:prstGeom>
          <a:noFill/>
          <a:ln>
            <a:noFill/>
          </a:ln>
        </p:spPr>
      </p:sp>
      <p:sp>
        <p:nvSpPr>
          <p:cNvPr id="74" name="Google Shape;74;p16">
            <a:extLst>
              <a:ext uri="{FF2B5EF4-FFF2-40B4-BE49-F238E27FC236}">
                <a16:creationId xmlns:a16="http://schemas.microsoft.com/office/drawing/2014/main" id="{2BE3E0D0-F4BB-4552-9F56-89EC76D1A04B}"/>
              </a:ext>
            </a:extLst>
          </p:cNvPr>
          <p:cNvSpPr>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
        <p:nvSpPr>
          <p:cNvPr id="75" name="Google Shape;75;p16">
            <a:extLst>
              <a:ext uri="{FF2B5EF4-FFF2-40B4-BE49-F238E27FC236}">
                <a16:creationId xmlns:a16="http://schemas.microsoft.com/office/drawing/2014/main" id="{34EE559A-41FC-4FB7-A074-14C3B1160376}"/>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6" name="Google Shape;76;p16">
            <a:extLst>
              <a:ext uri="{FF2B5EF4-FFF2-40B4-BE49-F238E27FC236}">
                <a16:creationId xmlns:a16="http://schemas.microsoft.com/office/drawing/2014/main" id="{C482A3BA-8EC0-4DA4-AEEF-5BB1027201B2}"/>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7" name="Google Shape;77;p16">
            <a:extLst>
              <a:ext uri="{FF2B5EF4-FFF2-40B4-BE49-F238E27FC236}">
                <a16:creationId xmlns:a16="http://schemas.microsoft.com/office/drawing/2014/main" id="{5E7FFE13-D758-40E6-9CDD-077D001487CC}"/>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79" name="Google Shape;79;p17">
            <a:extLst>
              <a:ext uri="{FF2B5EF4-FFF2-40B4-BE49-F238E27FC236}">
                <a16:creationId xmlns:a16="http://schemas.microsoft.com/office/drawing/2014/main" id="{86F8C4AA-0A2C-41DC-B249-744B5AE6459E}"/>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0" name="Google Shape;80;p17">
            <a:extLst>
              <a:ext uri="{FF2B5EF4-FFF2-40B4-BE49-F238E27FC236}">
                <a16:creationId xmlns:a16="http://schemas.microsoft.com/office/drawing/2014/main" id="{8DA6A56D-B73A-461A-9AE8-7592CF49AF75}"/>
              </a:ext>
            </a:extLst>
          </p:cNvPr>
          <p:cNvSpPr>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81" name="Google Shape;81;p17">
            <a:extLst>
              <a:ext uri="{FF2B5EF4-FFF2-40B4-BE49-F238E27FC236}">
                <a16:creationId xmlns:a16="http://schemas.microsoft.com/office/drawing/2014/main" id="{A2A3B599-E75F-461C-BDEA-7B518B226B1A}"/>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2" name="Google Shape;82;p17">
            <a:extLst>
              <a:ext uri="{FF2B5EF4-FFF2-40B4-BE49-F238E27FC236}">
                <a16:creationId xmlns:a16="http://schemas.microsoft.com/office/drawing/2014/main" id="{741BACDD-EB0D-4D9C-9629-75D3B7375E71}"/>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3" name="Google Shape;83;p17">
            <a:extLst>
              <a:ext uri="{FF2B5EF4-FFF2-40B4-BE49-F238E27FC236}">
                <a16:creationId xmlns:a16="http://schemas.microsoft.com/office/drawing/2014/main" id="{06E78D32-D422-47BA-9114-CDDACF8AE66A}"/>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85" name="Google Shape;85;p18">
            <a:extLst>
              <a:ext uri="{FF2B5EF4-FFF2-40B4-BE49-F238E27FC236}">
                <a16:creationId xmlns:a16="http://schemas.microsoft.com/office/drawing/2014/main" id="{41C92EAC-4B7B-43D0-BC30-02EEB2E122DC}"/>
              </a:ext>
            </a:extLst>
          </p:cNvPr>
          <p:cNvSpPr>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6" name="Google Shape;86;p18">
            <a:extLst>
              <a:ext uri="{FF2B5EF4-FFF2-40B4-BE49-F238E27FC236}">
                <a16:creationId xmlns:a16="http://schemas.microsoft.com/office/drawing/2014/main" id="{1DC3B7F3-F789-4948-A810-A6E018CD8939}"/>
              </a:ext>
            </a:extLst>
          </p:cNvPr>
          <p:cNvSpPr>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87" name="Google Shape;87;p18">
            <a:extLst>
              <a:ext uri="{FF2B5EF4-FFF2-40B4-BE49-F238E27FC236}">
                <a16:creationId xmlns:a16="http://schemas.microsoft.com/office/drawing/2014/main" id="{5950BDE0-D7FE-4E3A-9391-E79C9BC4E96C}"/>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8" name="Google Shape;88;p18">
            <a:extLst>
              <a:ext uri="{FF2B5EF4-FFF2-40B4-BE49-F238E27FC236}">
                <a16:creationId xmlns:a16="http://schemas.microsoft.com/office/drawing/2014/main" id="{94BA30A3-0AAF-4003-921F-851FC17B0BC6}"/>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9" name="Google Shape;89;p18">
            <a:extLst>
              <a:ext uri="{FF2B5EF4-FFF2-40B4-BE49-F238E27FC236}">
                <a16:creationId xmlns:a16="http://schemas.microsoft.com/office/drawing/2014/main" id="{3320FE9C-D81A-4AC5-9FD0-0A5C8DC8BE2D}"/>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4">
            <a:extLst>
              <a:ext uri="{FF2B5EF4-FFF2-40B4-BE49-F238E27FC236}">
                <a16:creationId xmlns:a16="http://schemas.microsoft.com/office/drawing/2014/main" id="{DC512B04-CD71-44CE-B204-722B39B7E89A}"/>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marR="0" algn="l">
              <a:lnSpc>
                <a:spcPct val="90000"/>
              </a:lnSpc>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a:endParaRPr/>
          </a:p>
        </p:txBody>
      </p:sp>
      <p:sp>
        <p:nvSpPr>
          <p:cNvPr id="11" name="Google Shape;11;p4">
            <a:extLst>
              <a:ext uri="{FF2B5EF4-FFF2-40B4-BE49-F238E27FC236}">
                <a16:creationId xmlns:a16="http://schemas.microsoft.com/office/drawing/2014/main" id="{6112AA92-AEF4-4C56-B462-895457109B35}"/>
              </a:ext>
            </a:extLst>
          </p:cNvPr>
          <p:cNvSpPr>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ormAutofit/>
          </a:bodyPr>
          <a:lstStyle>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Calibri"/>
                <a:ea typeface="Calibri"/>
                <a:cs typeface="Calibri"/>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Calibri"/>
                <a:ea typeface="Calibri"/>
                <a:cs typeface="Calibri"/>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Calibri"/>
                <a:ea typeface="Calibri"/>
                <a:cs typeface="Calibri"/>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9pPr>
          </a:lstStyle>
          <a:p>
            <a:endParaRPr/>
          </a:p>
        </p:txBody>
      </p:sp>
      <p:sp>
        <p:nvSpPr>
          <p:cNvPr id="12" name="Google Shape;12;p4">
            <a:extLst>
              <a:ext uri="{FF2B5EF4-FFF2-40B4-BE49-F238E27FC236}">
                <a16:creationId xmlns:a16="http://schemas.microsoft.com/office/drawing/2014/main" id="{E33984E3-522B-45A2-B4BA-28855B9E2DF1}"/>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marR="0" algn="l">
              <a:lnSpc>
                <a:spcPct val="100000"/>
              </a:lnSpc>
              <a:spcBef>
                <a:spcPts val="0"/>
              </a:spcBef>
              <a:spcAft>
                <a:spcPts val="0"/>
              </a:spcAft>
              <a:buClr>
                <a:srgbClr val="000000"/>
              </a:buClr>
              <a:buSzPts val="1400"/>
              <a:buFont typeface="Arial"/>
              <a:buNone/>
              <a:defRPr sz="120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a:endParaRPr/>
          </a:p>
        </p:txBody>
      </p:sp>
      <p:sp>
        <p:nvSpPr>
          <p:cNvPr id="13" name="Google Shape;13;p4">
            <a:extLst>
              <a:ext uri="{FF2B5EF4-FFF2-40B4-BE49-F238E27FC236}">
                <a16:creationId xmlns:a16="http://schemas.microsoft.com/office/drawing/2014/main" id="{2F125E7A-D671-4455-995A-013AC0CE436B}"/>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marR="0" algn="ctr">
              <a:lnSpc>
                <a:spcPct val="100000"/>
              </a:lnSpc>
              <a:spcBef>
                <a:spcPts val="0"/>
              </a:spcBef>
              <a:spcAft>
                <a:spcPts val="0"/>
              </a:spcAft>
              <a:buClr>
                <a:srgbClr val="000000"/>
              </a:buClr>
              <a:buSzPts val="1400"/>
              <a:buFont typeface="Arial"/>
              <a:buNone/>
              <a:defRPr sz="120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a:endParaRPr/>
          </a:p>
        </p:txBody>
      </p:sp>
      <p:sp>
        <p:nvSpPr>
          <p:cNvPr id="14" name="Google Shape;14;p4">
            <a:extLst>
              <a:ext uri="{FF2B5EF4-FFF2-40B4-BE49-F238E27FC236}">
                <a16:creationId xmlns:a16="http://schemas.microsoft.com/office/drawing/2014/main" id="{272DF285-5209-4575-BB04-42B7E60F097F}"/>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Ground%20Truth"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wikipedia_retrieval_engine/Capstone%20Checkpoint%207.1/survivor_agent_final.py"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
        <p:cNvGrpSpPr/>
        <p:nvPr/>
      </p:nvGrpSpPr>
      <p:grpSpPr>
        <a:xfrm>
          <a:off x="0" y="0"/>
          <a:ext cx="0" cy="0"/>
          <a:chOff x="0" y="0"/>
          <a:chExt cx="0" cy="0"/>
        </a:xfrm>
      </p:grpSpPr>
      <p:sp>
        <p:nvSpPr>
          <p:cNvPr id="94" name="Google Shape;94;p1">
            <a:extLst>
              <a:ext uri="{FF2B5EF4-FFF2-40B4-BE49-F238E27FC236}">
                <a16:creationId xmlns:a16="http://schemas.microsoft.com/office/drawing/2014/main" id="{25699871-D2A0-479A-9CED-4046AD40576D}"/>
              </a:ext>
            </a:extLst>
          </p:cNvPr>
          <p:cNvSpPr>
            <a:spLocks noGrp="1"/>
          </p:cNvSpPr>
          <p:nvPr/>
        </p:nvSpPr>
        <p:spPr>
          <a:xfrm>
            <a:off x="376760" y="5774099"/>
            <a:ext cx="10896599" cy="523200"/>
          </a:xfrm>
          <a:prstGeom prst="rect">
            <a:avLst/>
          </a:prstGeom>
          <a:noFill/>
          <a:ln>
            <a:noFill/>
          </a:ln>
        </p:spPr>
        <p:txBody>
          <a:bodyPr spcFirstLastPara="1" wrap="square" lIns="95250" tIns="0" rIns="95250" bIns="0" anchor="ctr">
            <a:normAutofit/>
          </a:bodyPr>
          <a:lstStyle/>
          <a:p>
            <a:pPr marL="0" marR="0" lvl="0" indent="0" algn="ctr">
              <a:lnSpc>
                <a:spcPct val="100000"/>
              </a:lnSpc>
              <a:spcBef>
                <a:spcPts val="0"/>
              </a:spcBef>
              <a:spcAft>
                <a:spcPts val="0"/>
              </a:spcAft>
              <a:buClr>
                <a:srgbClr val="000000"/>
              </a:buClr>
              <a:buSzPts val="2800"/>
              <a:buFont typeface="Arial"/>
              <a:buNone/>
              <a:defRPr sz="2775" b="1">
                <a:solidFill>
                  <a:srgbClr val="FFFFFF"/>
                </a:solidFill>
                <a:latin typeface="Calibri"/>
                <a:ea typeface="Calibri"/>
                <a:cs typeface="Calibri"/>
              </a:defRPr>
            </a:pPr>
            <a:r>
              <a:rPr sz="2775" b="1" i="0" u="none" cap="none">
                <a:solidFill>
                  <a:srgbClr val="FFFFFF"/>
                </a:solidFill>
                <a:latin typeface="Calibri"/>
                <a:ea typeface="Calibri"/>
                <a:cs typeface="Calibri"/>
              </a:rPr>
              <a:t>Wikipedia Retrieval Engine Design Review</a:t>
            </a:r>
            <a:endParaRPr sz="1400" b="0" i="0" u="none" cap="none">
              <a:solidFill>
                <a:srgbClr val="000000"/>
              </a:solidFill>
              <a:latin typeface="Arial"/>
              <a:ea typeface="Arial"/>
              <a:cs typeface="Arial"/>
            </a:endParaRPr>
          </a:p>
        </p:txBody>
      </p:sp>
      <p:sp>
        <p:nvSpPr>
          <p:cNvPr id="2" name="TextBox 1">
            <a:extLst>
              <a:ext uri="{FF2B5EF4-FFF2-40B4-BE49-F238E27FC236}">
                <a16:creationId xmlns:a16="http://schemas.microsoft.com/office/drawing/2014/main" id="{63964DB1-45B5-E2F3-EBC8-29CFFBB06EBB}"/>
              </a:ext>
            </a:extLst>
          </p:cNvPr>
          <p:cNvSpPr>
            <a:spLocks noGrp="1"/>
          </p:cNvSpPr>
          <p:nvPr/>
        </p:nvSpPr>
        <p:spPr>
          <a:xfrm>
            <a:off x="4706753" y="6297299"/>
            <a:ext cx="2521819" cy="369332"/>
          </a:xfrm>
          <a:prstGeom prst="rect">
            <a:avLst/>
          </a:prstGeom>
          <a:noFill/>
        </p:spPr>
        <p:txBody>
          <a:bodyPr wrap="square">
            <a:spAutoFit/>
          </a:bodyPr>
          <a:lstStyle/>
          <a:p>
            <a:r>
              <a:rPr>
                <a:solidFill>
                  <a:schemeClr val="bg1"/>
                </a:solidFill>
              </a:rPr>
              <a:t>Author: Elena Baron</a:t>
            </a:r>
          </a:p>
        </p:txBody>
      </p:sp>
      <p:sp>
        <p:nvSpPr>
          <p:cNvPr id="3" name="TextBox 2">
            <a:extLst>
              <a:ext uri="{FF2B5EF4-FFF2-40B4-BE49-F238E27FC236}">
                <a16:creationId xmlns:a16="http://schemas.microsoft.com/office/drawing/2014/main" id="{A2020BC4-5C04-1BA5-E6D7-757EBFFED6C5}"/>
              </a:ext>
            </a:extLst>
          </p:cNvPr>
          <p:cNvSpPr>
            <a:spLocks noGrp="1"/>
          </p:cNvSpPr>
          <p:nvPr/>
        </p:nvSpPr>
        <p:spPr>
          <a:xfrm>
            <a:off x="2387065" y="4783756"/>
            <a:ext cx="7055318" cy="646331"/>
          </a:xfrm>
          <a:prstGeom prst="rect">
            <a:avLst/>
          </a:prstGeom>
          <a:noFill/>
        </p:spPr>
        <p:txBody>
          <a:bodyPr wrap="square">
            <a:spAutoFit/>
          </a:bodyPr>
          <a:lstStyle/>
          <a:p>
            <a:pPr algn="ctr">
              <a:buNone/>
            </a:pPr>
            <a:r>
              <a:rPr sz="3600">
                <a:solidFill>
                  <a:schemeClr val="bg1"/>
                </a:solidFill>
              </a:rPr>
              <a:t>RAG and Context Engineering</a:t>
            </a:r>
            <a:endParaRPr sz="6000">
              <a:solidFill>
                <a:schemeClr val="bg1"/>
              </a:solidFill>
            </a:endParaRPr>
          </a:p>
        </p:txBody>
      </p:sp>
    </p:spTree>
    <p:extLst>
      <p:ext uri="{BB962C8B-B14F-4D97-AF65-F5344CB8AC3E}">
        <p14:creationId xmlns:p14="http://schemas.microsoft.com/office/powerpoint/2010/main" val="1553981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Google Shape;99;p2">
            <a:extLst>
              <a:ext uri="{FF2B5EF4-FFF2-40B4-BE49-F238E27FC236}">
                <a16:creationId xmlns:a16="http://schemas.microsoft.com/office/drawing/2014/main" id="{C654628E-2ECE-4CEE-8C9F-7975DC8E3E0E}"/>
              </a:ext>
            </a:extLst>
          </p:cNvPr>
          <p:cNvSpPr>
            <a:spLocks noGrp="1"/>
          </p:cNvSpPr>
          <p:nvPr/>
        </p:nvSpPr>
        <p:spPr>
          <a:xfrm>
            <a:off x="291078" y="1298425"/>
            <a:ext cx="11609700" cy="523200"/>
          </a:xfrm>
          <a:prstGeom prst="rect">
            <a:avLst/>
          </a:prstGeom>
          <a:noFill/>
          <a:ln>
            <a:noFill/>
          </a:ln>
        </p:spPr>
        <p:txBody>
          <a:bodyPr spcFirstLastPara="1" wrap="square" lIns="38100" tIns="0" rIns="38100" bIns="0" anchor="ctr">
            <a:normAutofit/>
          </a:bodyPr>
          <a:lstStyle/>
          <a:p>
            <a:pPr marL="0" marR="0" lvl="0" indent="0" algn="ctr">
              <a:lnSpc>
                <a:spcPct val="100000"/>
              </a:lnSpc>
              <a:spcBef>
                <a:spcPts val="0"/>
              </a:spcBef>
              <a:spcAft>
                <a:spcPts val="0"/>
              </a:spcAft>
              <a:buClr>
                <a:srgbClr val="000000"/>
              </a:buClr>
              <a:buSzPts val="2800"/>
              <a:buFont typeface="Arial"/>
              <a:buNone/>
              <a:defRPr sz="2550" b="1">
                <a:solidFill>
                  <a:srgbClr val="111111"/>
                </a:solidFill>
                <a:latin typeface="Calibri"/>
                <a:ea typeface="Calibri"/>
                <a:cs typeface="Calibri"/>
              </a:defRPr>
            </a:pPr>
            <a:r>
              <a:rPr sz="2550" b="1" i="0" u="none" cap="none">
                <a:solidFill>
                  <a:srgbClr val="111111"/>
                </a:solidFill>
                <a:latin typeface="Calibri"/>
                <a:ea typeface="Calibri"/>
                <a:cs typeface="Calibri"/>
              </a:rPr>
              <a:t>The design in one sentence, the results in four numbers</a:t>
            </a:r>
            <a:endParaRPr sz="1400" b="0" i="0" u="none" cap="none">
              <a:solidFill>
                <a:srgbClr val="000000"/>
              </a:solidFill>
              <a:latin typeface="Arial"/>
              <a:ea typeface="Arial"/>
              <a:cs typeface="Arial"/>
            </a:endParaRPr>
          </a:p>
        </p:txBody>
      </p:sp>
      <p:sp>
        <p:nvSpPr>
          <p:cNvPr id="3" name="TextBox 2">
            <a:extLst>
              <a:ext uri="{FF2B5EF4-FFF2-40B4-BE49-F238E27FC236}">
                <a16:creationId xmlns:a16="http://schemas.microsoft.com/office/drawing/2014/main" id="{6E5FE501-52FC-9663-175F-EE814939F785}"/>
              </a:ext>
            </a:extLst>
          </p:cNvPr>
          <p:cNvSpPr>
            <a:spLocks noGrp="1"/>
          </p:cNvSpPr>
          <p:nvPr/>
        </p:nvSpPr>
        <p:spPr>
          <a:xfrm>
            <a:off x="859972" y="2011680"/>
            <a:ext cx="10472057" cy="1371600"/>
          </a:xfrm>
          <a:prstGeom prst="rect">
            <a:avLst/>
          </a:prstGeom>
          <a:noFill/>
        </p:spPr>
        <p:txBody>
          <a:bodyPr wrap="square" lIns="95250" tIns="19050" rIns="95250" bIns="19050" anchor="ctr">
            <a:normAutofit/>
          </a:bodyPr>
          <a:lstStyle>
            <a:lvl1pPr>
              <a:buNone/>
              <a:defRPr sz="2800" b="1">
                <a:solidFill>
                  <a:srgbClr val="A31F34"/>
                </a:solidFill>
                <a:latin typeface="Calibri"/>
                <a:ea typeface="Calibri"/>
                <a:cs typeface="Calibri"/>
              </a:defRPr>
            </a:lvl1pPr>
          </a:lstStyle>
          <a:p>
            <a:pPr algn="ctr">
              <a:lnSpc>
                <a:spcPct val="96000"/>
              </a:lnSpc>
              <a:buNone/>
              <a:defRPr sz="2400" b="1">
                <a:solidFill>
                  <a:srgbClr val="111111"/>
                </a:solidFill>
                <a:latin typeface="Calibri"/>
                <a:ea typeface="Calibri"/>
                <a:cs typeface="Calibri"/>
              </a:defRPr>
            </a:pPr>
            <a:r>
              <a:rPr sz="2400" b="1">
                <a:solidFill>
                  <a:srgbClr val="111111"/>
                </a:solidFill>
                <a:latin typeface="Calibri"/>
                <a:ea typeface="Calibri"/>
                <a:cs typeface="Calibri"/>
              </a:rPr>
              <a:t>Evidence-first answers from a local Wikipedia corpus</a:t>
            </a:r>
          </a:p>
          <a:p>
            <a:pPr algn="ctr">
              <a:lnSpc>
                <a:spcPct val="96000"/>
              </a:lnSpc>
              <a:buNone/>
              <a:defRPr sz="2400" b="1">
                <a:solidFill>
                  <a:srgbClr val="111111"/>
                </a:solidFill>
                <a:latin typeface="Calibri"/>
                <a:ea typeface="Calibri"/>
                <a:cs typeface="Calibri"/>
              </a:defRPr>
            </a:pPr>
            <a:r>
              <a:rPr sz="2400" b="1">
                <a:solidFill>
                  <a:srgbClr val="111111"/>
                </a:solidFill>
                <a:latin typeface="Calibri"/>
                <a:ea typeface="Calibri"/>
                <a:cs typeface="Calibri"/>
              </a:rPr>
              <a:t>with agentic retrieval, deterministic computation, and guarded generation</a:t>
            </a:r>
          </a:p>
        </p:txBody>
      </p:sp>
      <p:sp>
        <p:nvSpPr>
          <p:cNvPr id="5" name="TextBox 4">
            <a:extLst>
              <a:ext uri="{FF2B5EF4-FFF2-40B4-BE49-F238E27FC236}">
                <a16:creationId xmlns:a16="http://schemas.microsoft.com/office/drawing/2014/main" id="{F18859DA-4EBF-86FB-39DA-CC40AEFAA531}"/>
              </a:ext>
            </a:extLst>
          </p:cNvPr>
          <p:cNvSpPr>
            <a:spLocks noGrp="1"/>
          </p:cNvSpPr>
          <p:nvPr/>
        </p:nvSpPr>
        <p:spPr>
          <a:xfrm>
            <a:off x="850434" y="4692555"/>
            <a:ext cx="9305938" cy="1015663"/>
          </a:xfrm>
          <a:prstGeom prst="rect">
            <a:avLst/>
          </a:prstGeom>
          <a:noFill/>
        </p:spPr>
        <p:txBody>
          <a:bodyPr wrap="square">
            <a:spAutoFit/>
          </a:bodyPr>
          <a:lstStyle/>
          <a:p>
            <a:pPr>
              <a:buNone/>
            </a:pPr>
            <a:endParaRPr sz="2000" b="0">
              <a:latin typeface="Calibri"/>
              <a:ea typeface="Calibri"/>
              <a:cs typeface="Calibri"/>
            </a:endParaRPr>
          </a:p>
        </p:txBody>
      </p:sp>
      <p:sp>
        <p:nvSpPr>
          <p:cNvPr id="103" name="scope-line">
            <a:extLst>
              <a:ext uri="{FF2B5EF4-FFF2-40B4-BE49-F238E27FC236}">
                <a16:creationId xmlns:a16="http://schemas.microsoft.com/office/drawing/2014/main" id="{B247E3AA-3D7A-4695-B641-15CEFEDE16EB}"/>
              </a:ext>
            </a:extLst>
          </p:cNvPr>
          <p:cNvSpPr>
            <a:spLocks noGrp="1"/>
          </p:cNvSpPr>
          <p:nvPr/>
        </p:nvSpPr>
        <p:spPr>
          <a:xfrm>
            <a:off x="914400" y="5285232"/>
            <a:ext cx="10360152" cy="384048"/>
          </a:xfrm>
          <a:prstGeom prst="rect">
            <a:avLst/>
          </a:prstGeom>
          <a:noFill/>
          <a:ln w="0">
            <a:noFill/>
          </a:ln>
        </p:spPr>
        <p:txBody>
          <a:bodyPr wrap="square" lIns="0" tIns="0" rIns="0" bIns="0" anchor="ctr">
            <a:normAutofit/>
          </a:bodyPr>
          <a:lstStyle/>
          <a:p>
            <a:pPr algn="ctr">
              <a:lnSpc>
                <a:spcPct val="100000"/>
              </a:lnSpc>
              <a:buNone/>
              <a:defRPr sz="1275" b="0" i="0">
                <a:solidFill>
                  <a:srgbClr val="5E5E5E"/>
                </a:solidFill>
                <a:latin typeface="Calibri"/>
                <a:ea typeface="Calibri"/>
                <a:cs typeface="Calibri"/>
              </a:defRPr>
            </a:pPr>
            <a:r>
              <a:rPr sz="1275" b="0" i="0">
                <a:solidFill>
                  <a:srgbClr val="5E5E5E"/>
                </a:solidFill>
                <a:latin typeface="Calibri"/>
                <a:ea typeface="Calibri"/>
                <a:cs typeface="Calibri"/>
              </a:rPr>
              <a:t>Validation: 25 held-out questions, mostly text. GT: 19 questions, mostly tables. Three runs each; list prices.</a:t>
            </a:r>
          </a:p>
        </p:txBody>
      </p:sp>
      <p:sp>
        <p:nvSpPr>
          <p:cNvPr id="104" name="result-kpi-1"/>
          <p:cNvSpPr txBox="1"/>
          <p:nvPr/>
        </p:nvSpPr>
        <p:spPr>
          <a:xfrm>
            <a:off x="768096" y="3520440"/>
            <a:ext cx="2651760" cy="731520"/>
          </a:xfrm>
          <a:prstGeom prst="rect">
            <a:avLst/>
          </a:prstGeom>
          <a:noFill/>
        </p:spPr>
        <p:txBody>
          <a:bodyPr wrap="square" lIns="0" tIns="0" rIns="0" bIns="0" anchor="b">
            <a:spAutoFit/>
          </a:bodyPr>
          <a:lstStyle/>
          <a:p>
            <a:pPr algn="ctr"/>
            <a:r>
              <a:rPr sz="4000" b="1">
                <a:solidFill>
                  <a:srgbClr val="A31F34"/>
                </a:solidFill>
                <a:latin typeface="Calibri"/>
              </a:rPr>
              <a:t>0.933</a:t>
            </a:r>
          </a:p>
        </p:txBody>
      </p:sp>
      <p:sp>
        <p:nvSpPr>
          <p:cNvPr id="105" name="result-caption-1"/>
          <p:cNvSpPr txBox="1"/>
          <p:nvPr/>
        </p:nvSpPr>
        <p:spPr>
          <a:xfrm>
            <a:off x="768096" y="4315968"/>
            <a:ext cx="2651760" cy="731520"/>
          </a:xfrm>
          <a:prstGeom prst="rect">
            <a:avLst/>
          </a:prstGeom>
          <a:noFill/>
        </p:spPr>
        <p:txBody>
          <a:bodyPr wrap="square" lIns="0" tIns="0" rIns="0" bIns="0" anchor="t">
            <a:spAutoFit/>
          </a:bodyPr>
          <a:lstStyle/>
          <a:p>
            <a:pPr algn="ctr"/>
            <a:r>
              <a:rPr sz="1400" b="0">
                <a:solidFill>
                  <a:srgbClr val="5E5E5E"/>
                </a:solidFill>
                <a:latin typeface="Calibri"/>
              </a:rPr>
              <a:t>validation quality, 3 runs</a:t>
            </a:r>
          </a:p>
          <a:p>
            <a:pPr algn="ctr"/>
            <a:r>
              <a:rPr sz="1400" b="0">
                <a:solidFill>
                  <a:srgbClr val="5E5E5E"/>
                </a:solidFill>
                <a:latin typeface="Calibri"/>
              </a:rPr>
              <a:t>(6.1 survivor: 0.860)</a:t>
            </a:r>
          </a:p>
        </p:txBody>
      </p:sp>
      <p:sp>
        <p:nvSpPr>
          <p:cNvPr id="106" name="result-kpi-2"/>
          <p:cNvSpPr txBox="1"/>
          <p:nvPr/>
        </p:nvSpPr>
        <p:spPr>
          <a:xfrm>
            <a:off x="3474720" y="3520440"/>
            <a:ext cx="2651760" cy="731520"/>
          </a:xfrm>
          <a:prstGeom prst="rect">
            <a:avLst/>
          </a:prstGeom>
          <a:noFill/>
        </p:spPr>
        <p:txBody>
          <a:bodyPr wrap="square" lIns="0" tIns="0" rIns="0" bIns="0" anchor="b">
            <a:spAutoFit/>
          </a:bodyPr>
          <a:lstStyle/>
          <a:p>
            <a:pPr algn="ctr"/>
            <a:r>
              <a:rPr sz="4000" b="1">
                <a:solidFill>
                  <a:srgbClr val="A31F34"/>
                </a:solidFill>
                <a:latin typeface="Calibri"/>
              </a:rPr>
              <a:t>0.868</a:t>
            </a:r>
          </a:p>
        </p:txBody>
      </p:sp>
      <p:sp>
        <p:nvSpPr>
          <p:cNvPr id="107" name="result-caption-2"/>
          <p:cNvSpPr txBox="1"/>
          <p:nvPr/>
        </p:nvSpPr>
        <p:spPr>
          <a:xfrm>
            <a:off x="3474720" y="4315968"/>
            <a:ext cx="2651760" cy="731520"/>
          </a:xfrm>
          <a:prstGeom prst="rect">
            <a:avLst/>
          </a:prstGeom>
          <a:noFill/>
        </p:spPr>
        <p:txBody>
          <a:bodyPr wrap="square" lIns="0" tIns="0" rIns="0" bIns="0" anchor="t">
            <a:spAutoFit/>
          </a:bodyPr>
          <a:lstStyle/>
          <a:p>
            <a:pPr algn="ctr"/>
            <a:r>
              <a:rPr sz="1400" b="0">
                <a:solidFill>
                  <a:srgbClr val="5E5E5E"/>
                </a:solidFill>
                <a:latin typeface="Calibri"/>
              </a:rPr>
              <a:t>GT quality, half the cost of</a:t>
            </a:r>
          </a:p>
          <a:p>
            <a:pPr algn="ctr"/>
            <a:r>
              <a:rPr sz="1400" b="0">
                <a:solidFill>
                  <a:srgbClr val="5E5E5E"/>
                </a:solidFill>
                <a:latin typeface="Calibri"/>
              </a:rPr>
              <a:t>gpt-5.4 in every role (0.886)</a:t>
            </a:r>
          </a:p>
        </p:txBody>
      </p:sp>
      <p:sp>
        <p:nvSpPr>
          <p:cNvPr id="108" name="result-kpi-3"/>
          <p:cNvSpPr txBox="1"/>
          <p:nvPr/>
        </p:nvSpPr>
        <p:spPr>
          <a:xfrm>
            <a:off x="6181344" y="3520440"/>
            <a:ext cx="2651760" cy="731520"/>
          </a:xfrm>
          <a:prstGeom prst="rect">
            <a:avLst/>
          </a:prstGeom>
          <a:noFill/>
        </p:spPr>
        <p:txBody>
          <a:bodyPr wrap="square" lIns="0" tIns="0" rIns="0" bIns="0" anchor="b">
            <a:spAutoFit/>
          </a:bodyPr>
          <a:lstStyle/>
          <a:p>
            <a:pPr algn="ctr"/>
            <a:r>
              <a:rPr sz="4000" b="1">
                <a:solidFill>
                  <a:srgbClr val="A31F34"/>
                </a:solidFill>
                <a:latin typeface="Calibri"/>
              </a:rPr>
              <a:t>0 of 59</a:t>
            </a:r>
          </a:p>
        </p:txBody>
      </p:sp>
      <p:sp>
        <p:nvSpPr>
          <p:cNvPr id="109" name="result-caption-3"/>
          <p:cNvSpPr txBox="1"/>
          <p:nvPr/>
        </p:nvSpPr>
        <p:spPr>
          <a:xfrm>
            <a:off x="6181344" y="4315968"/>
            <a:ext cx="2651760" cy="731520"/>
          </a:xfrm>
          <a:prstGeom prst="rect">
            <a:avLst/>
          </a:prstGeom>
          <a:noFill/>
        </p:spPr>
        <p:txBody>
          <a:bodyPr wrap="square" lIns="0" tIns="0" rIns="0" bIns="0" anchor="t">
            <a:spAutoFit/>
          </a:bodyPr>
          <a:lstStyle/>
          <a:p>
            <a:pPr algn="ctr"/>
            <a:r>
              <a:rPr sz="1400" b="0">
                <a:solidFill>
                  <a:srgbClr val="5E5E5E"/>
                </a:solidFill>
                <a:latin typeface="Calibri"/>
              </a:rPr>
              <a:t>attack attempts got through</a:t>
            </a:r>
          </a:p>
          <a:p>
            <a:pPr algn="ctr"/>
            <a:r>
              <a:rPr sz="1400" b="0">
                <a:solidFill>
                  <a:srgbClr val="5E5E5E"/>
                </a:solidFill>
                <a:latin typeface="Calibri"/>
              </a:rPr>
              <a:t>after the safeguards (5 before)</a:t>
            </a:r>
          </a:p>
        </p:txBody>
      </p:sp>
      <p:sp>
        <p:nvSpPr>
          <p:cNvPr id="110" name="result-kpi-4"/>
          <p:cNvSpPr txBox="1"/>
          <p:nvPr/>
        </p:nvSpPr>
        <p:spPr>
          <a:xfrm>
            <a:off x="8887967" y="3520440"/>
            <a:ext cx="2651760" cy="731520"/>
          </a:xfrm>
          <a:prstGeom prst="rect">
            <a:avLst/>
          </a:prstGeom>
          <a:noFill/>
        </p:spPr>
        <p:txBody>
          <a:bodyPr wrap="square" lIns="0" tIns="0" rIns="0" bIns="0" anchor="b">
            <a:spAutoFit/>
          </a:bodyPr>
          <a:lstStyle/>
          <a:p>
            <a:pPr algn="ctr"/>
            <a:r>
              <a:rPr sz="4000" b="1">
                <a:solidFill>
                  <a:srgbClr val="A31F34"/>
                </a:solidFill>
                <a:latin typeface="Calibri"/>
              </a:rPr>
              <a:t>$0.107</a:t>
            </a:r>
          </a:p>
        </p:txBody>
      </p:sp>
      <p:sp>
        <p:nvSpPr>
          <p:cNvPr id="111" name="result-caption-4"/>
          <p:cNvSpPr txBox="1"/>
          <p:nvPr/>
        </p:nvSpPr>
        <p:spPr>
          <a:xfrm>
            <a:off x="8887967" y="4315968"/>
            <a:ext cx="2651760" cy="731520"/>
          </a:xfrm>
          <a:prstGeom prst="rect">
            <a:avLst/>
          </a:prstGeom>
          <a:noFill/>
        </p:spPr>
        <p:txBody>
          <a:bodyPr wrap="square" lIns="0" tIns="0" rIns="0" bIns="0" anchor="t">
            <a:spAutoFit/>
          </a:bodyPr>
          <a:lstStyle/>
          <a:p>
            <a:pPr algn="ctr"/>
            <a:r>
              <a:rPr sz="1400" b="0">
                <a:solidFill>
                  <a:srgbClr val="5E5E5E"/>
                </a:solidFill>
                <a:latin typeface="Calibri"/>
              </a:rPr>
              <a:t>per question at list price</a:t>
            </a:r>
          </a:p>
          <a:p>
            <a:pPr algn="ctr"/>
            <a:r>
              <a:rPr sz="1400" b="0">
                <a:solidFill>
                  <a:srgbClr val="5E5E5E"/>
                </a:solidFill>
                <a:latin typeface="Calibri"/>
              </a:rPr>
              <a:t>and 18.7 seconds</a:t>
            </a:r>
          </a:p>
        </p:txBody>
      </p:sp>
    </p:spTree>
    <p:extLst>
      <p:ext uri="{BB962C8B-B14F-4D97-AF65-F5344CB8AC3E}">
        <p14:creationId xmlns:p14="http://schemas.microsoft.com/office/powerpoint/2010/main" val="944875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09ED82-7865-1E75-8005-E3EE187972A9}"/>
              </a:ext>
            </a:extLst>
          </p:cNvPr>
          <p:cNvSpPr>
            <a:spLocks noGrp="1"/>
          </p:cNvSpPr>
          <p:nvPr/>
        </p:nvSpPr>
        <p:spPr>
          <a:xfrm>
            <a:off x="707571" y="1487847"/>
            <a:ext cx="7293429" cy="3417528"/>
          </a:xfrm>
          <a:prstGeom prst="rect">
            <a:avLst/>
          </a:prstGeom>
          <a:noFill/>
        </p:spPr>
        <p:txBody>
          <a:bodyPr wrap="square">
            <a:spAutoFit/>
          </a:bodyPr>
          <a:lstStyle>
            <a:lvl1pPr algn="ctr">
              <a:buNone/>
              <a:defRPr sz="2800" b="1">
                <a:solidFill>
                  <a:srgbClr val="A31F34"/>
                </a:solidFill>
                <a:latin typeface="Calibri"/>
                <a:ea typeface="Calibri"/>
                <a:cs typeface="Calibri"/>
              </a:defRPr>
            </a:lvl1pPr>
          </a:lstStyle>
          <a:p>
            <a:pPr algn="l">
              <a:buNone/>
            </a:pPr>
            <a:endParaRPr/>
          </a:p>
        </p:txBody>
      </p:sp>
      <p:sp>
        <p:nvSpPr>
          <p:cNvPr id="9" name="TextBox 8">
            <a:extLst>
              <a:ext uri="{FF2B5EF4-FFF2-40B4-BE49-F238E27FC236}">
                <a16:creationId xmlns:a16="http://schemas.microsoft.com/office/drawing/2014/main" id="{73F3F64E-BE4D-D3DF-57D5-BF67AE1E9EDD}"/>
              </a:ext>
            </a:extLst>
          </p:cNvPr>
          <p:cNvSpPr>
            <a:spLocks noGrp="1"/>
          </p:cNvSpPr>
          <p:nvPr/>
        </p:nvSpPr>
        <p:spPr>
          <a:xfrm>
            <a:off x="3048000" y="521207"/>
            <a:ext cx="6096000" cy="523220"/>
          </a:xfrm>
          <a:prstGeom prst="rect">
            <a:avLst/>
          </a:prstGeom>
          <a:noFill/>
        </p:spPr>
        <p:txBody>
          <a:bodyPr wrap="square" lIns="38100" tIns="0" rIns="38100" bIns="0" anchor="ctr">
            <a:normAutofit/>
          </a:bodyPr>
          <a:lstStyle/>
          <a:p>
            <a:pPr algn="ctr">
              <a:buNone/>
              <a:defRPr sz="2550" b="1">
                <a:solidFill>
                  <a:srgbClr val="111111"/>
                </a:solidFill>
                <a:latin typeface="Calibri"/>
                <a:ea typeface="Calibri"/>
                <a:cs typeface="Calibri"/>
              </a:defRPr>
            </a:pPr>
            <a:r>
              <a:rPr sz="2550" b="1">
                <a:solidFill>
                  <a:srgbClr val="111111"/>
                </a:solidFill>
                <a:latin typeface="Calibri"/>
                <a:ea typeface="Calibri"/>
                <a:cs typeface="Calibri"/>
              </a:rPr>
              <a:t>The problem</a:t>
            </a:r>
          </a:p>
        </p:txBody>
      </p:sp>
      <p:sp>
        <p:nvSpPr>
          <p:cNvPr id="10" name="problem-statement">
            <a:extLst>
              <a:ext uri="{FF2B5EF4-FFF2-40B4-BE49-F238E27FC236}">
                <a16:creationId xmlns:a16="http://schemas.microsoft.com/office/drawing/2014/main" id="{B9628BAB-9DA9-4214-9811-52073688B639}"/>
              </a:ext>
            </a:extLst>
          </p:cNvPr>
          <p:cNvSpPr>
            <a:spLocks noGrp="1"/>
          </p:cNvSpPr>
          <p:nvPr/>
        </p:nvSpPr>
        <p:spPr>
          <a:xfrm>
            <a:off x="704850" y="1466850"/>
            <a:ext cx="7239000" cy="704850"/>
          </a:xfrm>
          <a:prstGeom prst="rect">
            <a:avLst/>
          </a:prstGeom>
          <a:noFill/>
          <a:ln w="0">
            <a:noFill/>
          </a:ln>
        </p:spPr>
        <p:txBody>
          <a:bodyPr wrap="square" lIns="0" tIns="0" rIns="0" bIns="0" anchor="t">
            <a:normAutofit/>
          </a:bodyPr>
          <a:lstStyle/>
          <a:p>
            <a:pPr algn="l">
              <a:lnSpc>
                <a:spcPct val="95000"/>
              </a:lnSpc>
              <a:buNone/>
              <a:defRPr sz="2250" b="1" i="0">
                <a:solidFill>
                  <a:srgbClr val="111111"/>
                </a:solidFill>
                <a:latin typeface="Calibri"/>
                <a:ea typeface="Calibri"/>
                <a:cs typeface="Calibri"/>
              </a:defRPr>
            </a:pPr>
            <a:r>
              <a:rPr sz="2250" b="1" i="0">
                <a:solidFill>
                  <a:srgbClr val="111111"/>
                </a:solidFill>
                <a:latin typeface="Calibri"/>
                <a:ea typeface="Calibri"/>
                <a:cs typeface="Calibri"/>
              </a:rPr>
              <a:t>The difficult questions are not single-passage lookups.</a:t>
            </a:r>
          </a:p>
        </p:txBody>
      </p:sp>
      <p:sp>
        <p:nvSpPr>
          <p:cNvPr id="11" name="problem-detail">
            <a:extLst>
              <a:ext uri="{FF2B5EF4-FFF2-40B4-BE49-F238E27FC236}">
                <a16:creationId xmlns:a16="http://schemas.microsoft.com/office/drawing/2014/main" id="{109BB987-F2F6-4D71-834D-0FF74EA5CB72}"/>
              </a:ext>
            </a:extLst>
          </p:cNvPr>
          <p:cNvSpPr>
            <a:spLocks noGrp="1"/>
          </p:cNvSpPr>
          <p:nvPr/>
        </p:nvSpPr>
        <p:spPr>
          <a:xfrm>
            <a:off x="704850" y="2324100"/>
            <a:ext cx="7000875" cy="1238250"/>
          </a:xfrm>
          <a:prstGeom prst="rect">
            <a:avLst/>
          </a:prstGeom>
          <a:noFill/>
          <a:ln w="0">
            <a:noFill/>
          </a:ln>
        </p:spPr>
        <p:txBody>
          <a:bodyPr wrap="square" lIns="0" tIns="0" rIns="0" bIns="0" anchor="t">
            <a:normAutofit/>
          </a:bodyPr>
          <a:lstStyle/>
          <a:p>
            <a:pPr algn="l">
              <a:lnSpc>
                <a:spcPct val="100000"/>
              </a:lnSpc>
              <a:buNone/>
              <a:defRPr sz="1725" b="0" i="0">
                <a:solidFill>
                  <a:srgbClr val="5E5E5E"/>
                </a:solidFill>
                <a:latin typeface="Calibri"/>
                <a:ea typeface="Calibri"/>
                <a:cs typeface="Calibri"/>
              </a:defRPr>
            </a:pPr>
            <a:r>
              <a:rPr sz="1725" b="0" i="0">
                <a:solidFill>
                  <a:schemeClr val="bg1">
                    <a:lumMod val="50000"/>
                  </a:schemeClr>
                </a:solidFill>
                <a:latin typeface="Calibri"/>
                <a:ea typeface="Calibri"/>
                <a:cs typeface="Calibri"/>
              </a:rPr>
              <a:t>A useful answer may require several articles, time filters, an exhaustive list, relationship reasoning, or arithmetic over Wikipedia tables.</a:t>
            </a:r>
          </a:p>
        </p:txBody>
      </p:sp>
      <p:sp>
        <p:nvSpPr>
          <p:cNvPr id="12" name="problem-failure">
            <a:extLst>
              <a:ext uri="{FF2B5EF4-FFF2-40B4-BE49-F238E27FC236}">
                <a16:creationId xmlns:a16="http://schemas.microsoft.com/office/drawing/2014/main" id="{6BAA07C1-AE8E-4244-AFF3-9ECAC25FDD18}"/>
              </a:ext>
            </a:extLst>
          </p:cNvPr>
          <p:cNvSpPr>
            <a:spLocks noGrp="1"/>
          </p:cNvSpPr>
          <p:nvPr/>
        </p:nvSpPr>
        <p:spPr>
          <a:xfrm>
            <a:off x="704850" y="3829050"/>
            <a:ext cx="7000875" cy="1238250"/>
          </a:xfrm>
          <a:prstGeom prst="rect">
            <a:avLst/>
          </a:prstGeom>
          <a:noFill/>
          <a:ln w="0">
            <a:noFill/>
          </a:ln>
        </p:spPr>
        <p:txBody>
          <a:bodyPr wrap="square" lIns="0" tIns="0" rIns="0" bIns="0" anchor="t">
            <a:normAutofit/>
          </a:bodyPr>
          <a:lstStyle/>
          <a:p>
            <a:pPr algn="l">
              <a:lnSpc>
                <a:spcPct val="100000"/>
              </a:lnSpc>
              <a:buNone/>
              <a:defRPr sz="1500" b="0" i="0">
                <a:solidFill>
                  <a:srgbClr val="111111"/>
                </a:solidFill>
                <a:latin typeface="Calibri"/>
                <a:ea typeface="Calibri"/>
                <a:cs typeface="Calibri"/>
              </a:defRPr>
            </a:pPr>
            <a:r>
              <a:rPr sz="1730" b="0" i="0">
                <a:solidFill>
                  <a:schemeClr val="bg1">
                    <a:lumMod val="50000"/>
                  </a:schemeClr>
                </a:solidFill>
                <a:latin typeface="Calibri"/>
                <a:ea typeface="Calibri"/>
                <a:cs typeface="Calibri"/>
              </a:rPr>
              <a:t>Earlier versions could retrieve the right article and still fail to load the needed table rows, stop with incomplete evidence, or repeat unsupported facts from conversation history.</a:t>
            </a:r>
          </a:p>
        </p:txBody>
      </p:sp>
      <p:sp>
        <p:nvSpPr>
          <p:cNvPr id="13" name="problem-panel">
            <a:extLst>
              <a:ext uri="{FF2B5EF4-FFF2-40B4-BE49-F238E27FC236}">
                <a16:creationId xmlns:a16="http://schemas.microsoft.com/office/drawing/2014/main" id="{0950B31E-B9A7-429B-96BC-2DE566EE4C29}"/>
              </a:ext>
            </a:extLst>
          </p:cNvPr>
          <p:cNvSpPr>
            <a:spLocks noGrp="1"/>
          </p:cNvSpPr>
          <p:nvPr/>
        </p:nvSpPr>
        <p:spPr>
          <a:xfrm>
            <a:off x="8334375" y="1571625"/>
            <a:ext cx="3143250" cy="3333750"/>
          </a:xfrm>
          <a:prstGeom prst="roundRect">
            <a:avLst>
              <a:gd name="adj" fmla="val 2424"/>
            </a:avLst>
          </a:prstGeom>
          <a:solidFill>
            <a:srgbClr val="F3F3F3"/>
          </a:solidFill>
          <a:ln w="9525">
            <a:solidFill>
              <a:srgbClr val="D8D8D8"/>
            </a:solidFill>
            <a:prstDash val="solid"/>
          </a:ln>
        </p:spPr>
        <p:txBody>
          <a:bodyPr/>
          <a:lstStyle/>
          <a:p>
            <a:endParaRPr/>
          </a:p>
        </p:txBody>
      </p:sp>
      <p:sp>
        <p:nvSpPr>
          <p:cNvPr id="14" name="user-needs-heading">
            <a:extLst>
              <a:ext uri="{FF2B5EF4-FFF2-40B4-BE49-F238E27FC236}">
                <a16:creationId xmlns:a16="http://schemas.microsoft.com/office/drawing/2014/main" id="{8030BB4F-BA03-4B82-9B28-CA18772EC79A}"/>
              </a:ext>
            </a:extLst>
          </p:cNvPr>
          <p:cNvSpPr>
            <a:spLocks noGrp="1"/>
          </p:cNvSpPr>
          <p:nvPr/>
        </p:nvSpPr>
        <p:spPr>
          <a:xfrm>
            <a:off x="8667750" y="1876425"/>
            <a:ext cx="2476500" cy="400050"/>
          </a:xfrm>
          <a:prstGeom prst="rect">
            <a:avLst/>
          </a:prstGeom>
          <a:noFill/>
          <a:ln w="0">
            <a:noFill/>
          </a:ln>
        </p:spPr>
        <p:txBody>
          <a:bodyPr wrap="square" lIns="0" tIns="0" rIns="0" bIns="0" anchor="t">
            <a:normAutofit/>
          </a:bodyPr>
          <a:lstStyle/>
          <a:p>
            <a:pPr algn="l">
              <a:lnSpc>
                <a:spcPct val="100000"/>
              </a:lnSpc>
              <a:buNone/>
              <a:defRPr sz="1650" b="1" i="0">
                <a:solidFill>
                  <a:srgbClr val="A31F34"/>
                </a:solidFill>
                <a:latin typeface="Calibri"/>
                <a:ea typeface="Calibri"/>
                <a:cs typeface="Calibri"/>
              </a:defRPr>
            </a:pPr>
            <a:r>
              <a:rPr sz="1650" b="1" i="0">
                <a:solidFill>
                  <a:srgbClr val="A31F34"/>
                </a:solidFill>
                <a:latin typeface="Calibri"/>
                <a:ea typeface="Calibri"/>
                <a:cs typeface="Calibri"/>
              </a:rPr>
              <a:t>What the user needs</a:t>
            </a:r>
          </a:p>
        </p:txBody>
      </p:sp>
      <p:sp>
        <p:nvSpPr>
          <p:cNvPr id="15" name="user-needs-list">
            <a:extLst>
              <a:ext uri="{FF2B5EF4-FFF2-40B4-BE49-F238E27FC236}">
                <a16:creationId xmlns:a16="http://schemas.microsoft.com/office/drawing/2014/main" id="{058B3E53-08BD-4F2B-83FF-25BB95BB589D}"/>
              </a:ext>
            </a:extLst>
          </p:cNvPr>
          <p:cNvSpPr>
            <a:spLocks noGrp="1"/>
          </p:cNvSpPr>
          <p:nvPr/>
        </p:nvSpPr>
        <p:spPr>
          <a:xfrm>
            <a:off x="8667750" y="2524125"/>
            <a:ext cx="2381250" cy="1952625"/>
          </a:xfrm>
          <a:prstGeom prst="rect">
            <a:avLst/>
          </a:prstGeom>
          <a:noFill/>
          <a:ln w="0">
            <a:noFill/>
          </a:ln>
        </p:spPr>
        <p:txBody>
          <a:bodyPr wrap="square" lIns="0" tIns="0" rIns="0" bIns="0" anchor="t">
            <a:normAutofit/>
          </a:bodyPr>
          <a:lstStyle/>
          <a:p>
            <a:pPr algn="l">
              <a:lnSpc>
                <a:spcPct val="100000"/>
              </a:lnSpc>
              <a:buNone/>
              <a:defRPr sz="1500" b="0" i="0">
                <a:solidFill>
                  <a:srgbClr val="111111"/>
                </a:solidFill>
                <a:latin typeface="Calibri"/>
                <a:ea typeface="Calibri"/>
                <a:cs typeface="Calibri"/>
              </a:defRPr>
            </a:pPr>
            <a:r>
              <a:rPr sz="1500" b="0" i="0">
                <a:solidFill>
                  <a:srgbClr val="111111"/>
                </a:solidFill>
                <a:latin typeface="Calibri"/>
                <a:ea typeface="Calibri"/>
                <a:cs typeface="Calibri"/>
              </a:rPr>
              <a:t>01   concise answer</a:t>
            </a:r>
          </a:p>
          <a:p>
            <a:endParaRPr sz="1500" b="0" i="0">
              <a:solidFill>
                <a:srgbClr val="111111"/>
              </a:solidFill>
              <a:latin typeface="Calibri"/>
              <a:ea typeface="Calibri"/>
              <a:cs typeface="Calibri"/>
            </a:endParaRPr>
          </a:p>
          <a:p>
            <a:pPr algn="l">
              <a:lnSpc>
                <a:spcPct val="100000"/>
              </a:lnSpc>
              <a:buNone/>
              <a:defRPr sz="1500" b="0" i="0">
                <a:solidFill>
                  <a:srgbClr val="111111"/>
                </a:solidFill>
                <a:latin typeface="Calibri"/>
                <a:ea typeface="Calibri"/>
                <a:cs typeface="Calibri"/>
              </a:defRPr>
            </a:pPr>
            <a:r>
              <a:rPr sz="1500" b="0" i="0">
                <a:solidFill>
                  <a:srgbClr val="111111"/>
                </a:solidFill>
                <a:latin typeface="Calibri"/>
                <a:ea typeface="Calibri"/>
                <a:cs typeface="Calibri"/>
              </a:rPr>
              <a:t>02   traceable evidence</a:t>
            </a:r>
          </a:p>
          <a:p>
            <a:endParaRPr sz="1500" b="0" i="0">
              <a:solidFill>
                <a:srgbClr val="111111"/>
              </a:solidFill>
              <a:latin typeface="Calibri"/>
              <a:ea typeface="Calibri"/>
              <a:cs typeface="Calibri"/>
            </a:endParaRPr>
          </a:p>
          <a:p>
            <a:pPr algn="l">
              <a:lnSpc>
                <a:spcPct val="100000"/>
              </a:lnSpc>
              <a:buNone/>
              <a:defRPr sz="1500" b="0" i="0">
                <a:solidFill>
                  <a:srgbClr val="111111"/>
                </a:solidFill>
                <a:latin typeface="Calibri"/>
                <a:ea typeface="Calibri"/>
                <a:cs typeface="Calibri"/>
              </a:defRPr>
            </a:pPr>
            <a:r>
              <a:rPr sz="1500" b="0" i="0">
                <a:solidFill>
                  <a:srgbClr val="111111"/>
                </a:solidFill>
                <a:latin typeface="Calibri"/>
                <a:ea typeface="Calibri"/>
                <a:cs typeface="Calibri"/>
              </a:rPr>
              <a:t>03   deterministic math</a:t>
            </a:r>
          </a:p>
          <a:p>
            <a:endParaRPr sz="1500" b="0" i="0">
              <a:solidFill>
                <a:srgbClr val="111111"/>
              </a:solidFill>
              <a:latin typeface="Calibri"/>
              <a:ea typeface="Calibri"/>
              <a:cs typeface="Calibri"/>
            </a:endParaRPr>
          </a:p>
          <a:p>
            <a:pPr algn="l">
              <a:lnSpc>
                <a:spcPct val="100000"/>
              </a:lnSpc>
              <a:buNone/>
              <a:defRPr sz="1500" b="0" i="0">
                <a:solidFill>
                  <a:srgbClr val="111111"/>
                </a:solidFill>
                <a:latin typeface="Calibri"/>
                <a:ea typeface="Calibri"/>
                <a:cs typeface="Calibri"/>
              </a:defRPr>
            </a:pPr>
            <a:r>
              <a:rPr sz="1500" b="0" i="0">
                <a:solidFill>
                  <a:srgbClr val="111111"/>
                </a:solidFill>
                <a:latin typeface="Calibri"/>
                <a:ea typeface="Calibri"/>
                <a:cs typeface="Calibri"/>
              </a:rPr>
              <a:t>04   visible uncertainty</a:t>
            </a:r>
          </a:p>
        </p:txBody>
      </p:sp>
      <p:sp>
        <p:nvSpPr>
          <p:cNvPr id="4" name="problem-failure">
            <a:extLst>
              <a:ext uri="{FF2B5EF4-FFF2-40B4-BE49-F238E27FC236}">
                <a16:creationId xmlns:a16="http://schemas.microsoft.com/office/drawing/2014/main" id="{72BA47FD-7B64-E8E4-DEA1-B82C085CBA22}"/>
              </a:ext>
            </a:extLst>
          </p:cNvPr>
          <p:cNvSpPr>
            <a:spLocks noGrp="1"/>
          </p:cNvSpPr>
          <p:nvPr/>
        </p:nvSpPr>
        <p:spPr>
          <a:xfrm>
            <a:off x="704850" y="5786499"/>
            <a:ext cx="7962900" cy="851807"/>
          </a:xfrm>
          <a:prstGeom prst="rect">
            <a:avLst/>
          </a:prstGeom>
          <a:noFill/>
          <a:ln w="0">
            <a:noFill/>
          </a:ln>
        </p:spPr>
        <p:txBody>
          <a:bodyPr wrap="square" lIns="0" tIns="0" rIns="0" bIns="0" anchor="t">
            <a:normAutofit/>
          </a:bodyPr>
          <a:lstStyle/>
          <a:p>
            <a:pPr>
              <a:buNone/>
              <a:defRPr sz="1500" b="0" i="0">
                <a:solidFill>
                  <a:srgbClr val="111111"/>
                </a:solidFill>
                <a:latin typeface="Calibri"/>
                <a:ea typeface="Calibri"/>
                <a:cs typeface="Calibri"/>
              </a:defRPr>
            </a:pPr>
            <a:r>
              <a:rPr sz="1730" dirty="0">
                <a:solidFill>
                  <a:schemeClr val="bg1">
                    <a:lumMod val="50000"/>
                  </a:schemeClr>
                </a:solidFill>
                <a:latin typeface="Calibri"/>
                <a:ea typeface="Calibri"/>
                <a:cs typeface="Calibri"/>
              </a:rPr>
              <a:t>Project  Links:</a:t>
            </a:r>
            <a:br>
              <a:rPr dirty="0"/>
            </a:br>
            <a:r>
              <a:rPr sz="1730" dirty="0">
                <a:solidFill>
                  <a:schemeClr val="bg1">
                    <a:lumMod val="50000"/>
                  </a:schemeClr>
                </a:solidFill>
                <a:latin typeface="Calibri"/>
                <a:ea typeface="Calibri"/>
                <a:cs typeface="Calibri"/>
                <a:hlinkClick r:id="rId3"/>
              </a:rPr>
              <a:t>Ground Truth</a:t>
            </a:r>
            <a:endParaRPr sz="1730" b="0" i="0" dirty="0">
              <a:solidFill>
                <a:schemeClr val="bg1">
                  <a:lumMod val="50000"/>
                </a:schemeClr>
              </a:solidFill>
              <a:latin typeface="Calibri"/>
              <a:ea typeface="Calibri"/>
              <a:cs typeface="Calibri"/>
            </a:endParaRPr>
          </a:p>
        </p:txBody>
      </p:sp>
      <p:sp>
        <p:nvSpPr>
          <p:cNvPr id="16" name="example-panel"/>
          <p:cNvSpPr/>
          <p:nvPr/>
        </p:nvSpPr>
        <p:spPr>
          <a:xfrm>
            <a:off x="704088" y="5047488"/>
            <a:ext cx="10771632" cy="621792"/>
          </a:xfrm>
          <a:prstGeom prst="roundRect">
            <a:avLst>
              <a:gd name="adj" fmla="val 12000"/>
            </a:avLst>
          </a:prstGeom>
          <a:solidFill>
            <a:srgbClr val="F3F3F3"/>
          </a:solidFill>
          <a:ln w="9525">
            <a:solidFill>
              <a:srgbClr val="D8D8D8"/>
            </a:solidFill>
          </a:ln>
        </p:spPr>
        <p:txBody>
          <a:bodyPr wrap="square" lIns="164592" rIns="164592" rtlCol="0" anchor="ctr"/>
          <a:lstStyle/>
          <a:p>
            <a:pPr algn="l"/>
            <a:r>
              <a:rPr sz="1400" b="1">
                <a:solidFill>
                  <a:srgbClr val="A31F34"/>
                </a:solidFill>
                <a:latin typeface="Calibri"/>
              </a:rPr>
              <a:t>Example (GT10)   </a:t>
            </a:r>
            <a:r>
              <a:rPr sz="1400" b="0">
                <a:solidFill>
                  <a:srgbClr val="111111"/>
                </a:solidFill>
                <a:latin typeface="Calibri"/>
              </a:rPr>
              <a:t>“Which sports first entered the Winter Olympic program in 1950 or later? Give the first year for each.” </a:t>
            </a:r>
            <a:r>
              <a:rPr sz="1400" b="0">
                <a:solidFill>
                  <a:srgbClr val="5E5E5E"/>
                </a:solidFill>
                <a:latin typeface="Calibri"/>
              </a:rPr>
              <a:t>One table, a year filter, and three sports that left and came back.</a:t>
            </a:r>
          </a:p>
        </p:txBody>
      </p:sp>
    </p:spTree>
    <p:extLst>
      <p:ext uri="{BB962C8B-B14F-4D97-AF65-F5344CB8AC3E}">
        <p14:creationId xmlns:p14="http://schemas.microsoft.com/office/powerpoint/2010/main" val="586672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AE4673-2310-7768-CAFE-C71E228846A7}"/>
              </a:ext>
            </a:extLst>
          </p:cNvPr>
          <p:cNvSpPr>
            <a:spLocks noGrp="1"/>
          </p:cNvSpPr>
          <p:nvPr/>
        </p:nvSpPr>
        <p:spPr>
          <a:xfrm>
            <a:off x="707571" y="1498734"/>
            <a:ext cx="9143999" cy="2369880"/>
          </a:xfrm>
          <a:prstGeom prst="rect">
            <a:avLst/>
          </a:prstGeom>
          <a:noFill/>
        </p:spPr>
        <p:txBody>
          <a:bodyPr wrap="square">
            <a:spAutoFit/>
          </a:bodyPr>
          <a:lstStyle>
            <a:lvl1pPr algn="ctr">
              <a:buNone/>
              <a:defRPr sz="2800" b="1">
                <a:solidFill>
                  <a:srgbClr val="A31F34"/>
                </a:solidFill>
                <a:latin typeface="Calibri"/>
                <a:ea typeface="Calibri"/>
                <a:cs typeface="Calibri"/>
              </a:defRPr>
            </a:lvl1pPr>
          </a:lstStyle>
          <a:p>
            <a:endParaRPr/>
          </a:p>
        </p:txBody>
      </p:sp>
      <p:sp>
        <p:nvSpPr>
          <p:cNvPr id="5" name="TextBox 4">
            <a:extLst>
              <a:ext uri="{FF2B5EF4-FFF2-40B4-BE49-F238E27FC236}">
                <a16:creationId xmlns:a16="http://schemas.microsoft.com/office/drawing/2014/main" id="{98CF4003-6B2E-87CF-2817-76889C6135B4}"/>
              </a:ext>
            </a:extLst>
          </p:cNvPr>
          <p:cNvSpPr>
            <a:spLocks noGrp="1"/>
          </p:cNvSpPr>
          <p:nvPr/>
        </p:nvSpPr>
        <p:spPr>
          <a:xfrm>
            <a:off x="3048000" y="521207"/>
            <a:ext cx="6096000" cy="523220"/>
          </a:xfrm>
          <a:prstGeom prst="rect">
            <a:avLst/>
          </a:prstGeom>
          <a:noFill/>
        </p:spPr>
        <p:txBody>
          <a:bodyPr wrap="square" lIns="38100" tIns="0" rIns="38100" bIns="0" anchor="ctr">
            <a:normAutofit/>
          </a:bodyPr>
          <a:lstStyle/>
          <a:p>
            <a:pPr algn="ctr">
              <a:buNone/>
              <a:defRPr sz="2550" b="1">
                <a:solidFill>
                  <a:srgbClr val="111111"/>
                </a:solidFill>
                <a:latin typeface="Calibri"/>
                <a:ea typeface="Calibri"/>
                <a:cs typeface="Calibri"/>
              </a:defRPr>
            </a:pPr>
            <a:r>
              <a:rPr sz="2550" b="1">
                <a:solidFill>
                  <a:srgbClr val="111111"/>
                </a:solidFill>
                <a:latin typeface="Calibri"/>
                <a:ea typeface="Calibri"/>
                <a:cs typeface="Calibri"/>
              </a:rPr>
              <a:t>How the system works</a:t>
            </a:r>
          </a:p>
        </p:txBody>
      </p:sp>
      <p:sp>
        <p:nvSpPr>
          <p:cNvPr id="6" name="architecture-1">
            <a:extLst>
              <a:ext uri="{FF2B5EF4-FFF2-40B4-BE49-F238E27FC236}">
                <a16:creationId xmlns:a16="http://schemas.microsoft.com/office/drawing/2014/main" id="{C1EA3D2E-297A-4E38-B8B2-D97863EE0927}"/>
              </a:ext>
            </a:extLst>
          </p:cNvPr>
          <p:cNvSpPr>
            <a:spLocks noGrp="1"/>
          </p:cNvSpPr>
          <p:nvPr/>
        </p:nvSpPr>
        <p:spPr>
          <a:xfrm>
            <a:off x="590550" y="1714500"/>
            <a:ext cx="2000250" cy="2103120"/>
          </a:xfrm>
          <a:prstGeom prst="roundRect">
            <a:avLst>
              <a:gd name="adj" fmla="val 4706"/>
            </a:avLst>
          </a:prstGeom>
          <a:solidFill>
            <a:srgbClr val="FFFFFF"/>
          </a:solidFill>
          <a:ln w="11430">
            <a:solidFill>
              <a:srgbClr val="D8D8D8"/>
            </a:solidFill>
            <a:prstDash val="solid"/>
          </a:ln>
        </p:spPr>
        <p:txBody>
          <a:bodyPr/>
          <a:lstStyle/>
          <a:p>
            <a:endParaRPr/>
          </a:p>
        </p:txBody>
      </p:sp>
      <p:sp>
        <p:nvSpPr>
          <p:cNvPr id="7" name="architecture-number-1">
            <a:extLst>
              <a:ext uri="{FF2B5EF4-FFF2-40B4-BE49-F238E27FC236}">
                <a16:creationId xmlns:a16="http://schemas.microsoft.com/office/drawing/2014/main" id="{3CBBAF4B-487D-4EA5-A098-B9EDC8DE8080}"/>
              </a:ext>
            </a:extLst>
          </p:cNvPr>
          <p:cNvSpPr>
            <a:spLocks noGrp="1"/>
          </p:cNvSpPr>
          <p:nvPr/>
        </p:nvSpPr>
        <p:spPr>
          <a:xfrm>
            <a:off x="704850" y="1809750"/>
            <a:ext cx="361950" cy="228600"/>
          </a:xfrm>
          <a:prstGeom prst="rect">
            <a:avLst/>
          </a:prstGeom>
          <a:noFill/>
          <a:ln w="0">
            <a:noFill/>
          </a:ln>
        </p:spPr>
        <p:txBody>
          <a:bodyPr wrap="square" lIns="0" tIns="0" rIns="0" bIns="0" anchor="t">
            <a:normAutofit/>
          </a:bodyPr>
          <a:lstStyle/>
          <a:p>
            <a:pPr algn="l">
              <a:lnSpc>
                <a:spcPct val="100000"/>
              </a:lnSpc>
              <a:buNone/>
              <a:defRPr sz="1050" b="1" i="0">
                <a:solidFill>
                  <a:srgbClr val="A31F34"/>
                </a:solidFill>
                <a:latin typeface="Calibri"/>
                <a:ea typeface="Calibri"/>
                <a:cs typeface="Calibri"/>
              </a:defRPr>
            </a:pPr>
            <a:r>
              <a:rPr sz="1200" b="1" i="0">
                <a:solidFill>
                  <a:srgbClr val="A31F34"/>
                </a:solidFill>
                <a:latin typeface="Calibri"/>
                <a:ea typeface="Calibri"/>
                <a:cs typeface="Calibri"/>
              </a:rPr>
              <a:t>01</a:t>
            </a:r>
          </a:p>
        </p:txBody>
      </p:sp>
      <p:sp>
        <p:nvSpPr>
          <p:cNvPr id="8" name="architecture-title-1">
            <a:extLst>
              <a:ext uri="{FF2B5EF4-FFF2-40B4-BE49-F238E27FC236}">
                <a16:creationId xmlns:a16="http://schemas.microsoft.com/office/drawing/2014/main" id="{38AC635F-6720-4DB5-AC41-7DC4BB979026}"/>
              </a:ext>
            </a:extLst>
          </p:cNvPr>
          <p:cNvSpPr>
            <a:spLocks noGrp="1"/>
          </p:cNvSpPr>
          <p:nvPr/>
        </p:nvSpPr>
        <p:spPr>
          <a:xfrm>
            <a:off x="704850" y="2029968"/>
            <a:ext cx="1771650" cy="566928"/>
          </a:xfrm>
          <a:prstGeom prst="rect">
            <a:avLst/>
          </a:prstGeom>
          <a:noFill/>
          <a:ln w="0">
            <a:noFill/>
          </a:ln>
        </p:spPr>
        <p:txBody>
          <a:bodyPr wrap="square" lIns="0" tIns="0" rIns="0" bIns="0" anchor="ctr">
            <a:normAutofit fontScale="96491"/>
          </a:bodyPr>
          <a:lstStyle/>
          <a:p>
            <a:pPr algn="l">
              <a:lnSpc>
                <a:spcPct val="100000"/>
              </a:lnSpc>
              <a:buNone/>
              <a:defRPr sz="1425" b="1" i="0">
                <a:solidFill>
                  <a:srgbClr val="111111"/>
                </a:solidFill>
                <a:latin typeface="Calibri"/>
                <a:ea typeface="Calibri"/>
                <a:cs typeface="Calibri"/>
              </a:defRPr>
            </a:pPr>
            <a:r>
              <a:rPr sz="1600" b="1" i="0">
                <a:solidFill>
                  <a:srgbClr val="111111"/>
                </a:solidFill>
                <a:latin typeface="Calibri"/>
                <a:ea typeface="Calibri"/>
                <a:cs typeface="Calibri"/>
              </a:rPr>
              <a:t>Sanitize + decompose</a:t>
            </a:r>
          </a:p>
        </p:txBody>
      </p:sp>
      <p:sp>
        <p:nvSpPr>
          <p:cNvPr id="9" name="architecture-subtitle-1">
            <a:extLst>
              <a:ext uri="{FF2B5EF4-FFF2-40B4-BE49-F238E27FC236}">
                <a16:creationId xmlns:a16="http://schemas.microsoft.com/office/drawing/2014/main" id="{597E4EFC-0B44-471C-B856-1B3AEF0A8E75}"/>
              </a:ext>
            </a:extLst>
          </p:cNvPr>
          <p:cNvSpPr>
            <a:spLocks noGrp="1"/>
          </p:cNvSpPr>
          <p:nvPr/>
        </p:nvSpPr>
        <p:spPr>
          <a:xfrm>
            <a:off x="704850" y="2633472"/>
            <a:ext cx="1771650" cy="1097280"/>
          </a:xfrm>
          <a:prstGeom prst="rect">
            <a:avLst/>
          </a:prstGeom>
          <a:noFill/>
          <a:ln w="0">
            <a:noFill/>
          </a:ln>
        </p:spPr>
        <p:txBody>
          <a:bodyPr wrap="square" lIns="0" tIns="0" rIns="0" bIns="0" anchor="t">
            <a:normAutofit/>
          </a:bodyPr>
          <a:lstStyle/>
          <a:p>
            <a:pPr algn="l">
              <a:lnSpc>
                <a:spcPct val="95000"/>
              </a:lnSpc>
              <a:buNone/>
              <a:defRPr sz="1013" b="0" i="0">
                <a:solidFill>
                  <a:srgbClr val="5E5E5E"/>
                </a:solidFill>
                <a:latin typeface="Calibri"/>
                <a:ea typeface="Calibri"/>
                <a:cs typeface="Calibri"/>
              </a:defRPr>
            </a:pPr>
            <a:r>
              <a:rPr sz="1400" b="0" i="0">
                <a:solidFill>
                  <a:srgbClr val="5E5E5E"/>
                </a:solidFill>
                <a:latin typeface="Calibri"/>
                <a:ea typeface="Calibri"/>
                <a:cs typeface="Calibri"/>
              </a:rPr>
              <a:t>Clean the question; identify entities and subproblems.</a:t>
            </a:r>
          </a:p>
        </p:txBody>
      </p:sp>
      <p:sp>
        <p:nvSpPr>
          <p:cNvPr id="10" name="flow-arrow-1">
            <a:extLst>
              <a:ext uri="{FF2B5EF4-FFF2-40B4-BE49-F238E27FC236}">
                <a16:creationId xmlns:a16="http://schemas.microsoft.com/office/drawing/2014/main" id="{3775FBF6-6595-4FFB-A9FA-C92A935EF952}"/>
              </a:ext>
            </a:extLst>
          </p:cNvPr>
          <p:cNvSpPr>
            <a:spLocks noGrp="1"/>
          </p:cNvSpPr>
          <p:nvPr/>
        </p:nvSpPr>
        <p:spPr>
          <a:xfrm>
            <a:off x="2647950" y="2560320"/>
            <a:ext cx="228600" cy="419100"/>
          </a:xfrm>
          <a:prstGeom prst="rect">
            <a:avLst/>
          </a:prstGeom>
          <a:noFill/>
          <a:ln w="0">
            <a:noFill/>
          </a:ln>
        </p:spPr>
        <p:txBody>
          <a:bodyPr wrap="square" lIns="0" tIns="0" rIns="0" bIns="0" anchor="ctr">
            <a:normAutofit fontScale="93520"/>
          </a:bodyPr>
          <a:lstStyle/>
          <a:p>
            <a:pPr algn="ctr">
              <a:lnSpc>
                <a:spcPct val="100000"/>
              </a:lnSpc>
              <a:buNone/>
              <a:defRPr sz="2100" b="1" i="0">
                <a:solidFill>
                  <a:srgbClr val="A31F34"/>
                </a:solidFill>
                <a:latin typeface="Calibri"/>
                <a:ea typeface="Calibri"/>
                <a:cs typeface="Calibri"/>
              </a:defRPr>
            </a:pPr>
            <a:r>
              <a:rPr sz="2100" b="1" i="0">
                <a:solidFill>
                  <a:srgbClr val="A31F34"/>
                </a:solidFill>
                <a:latin typeface="Calibri"/>
                <a:ea typeface="Calibri"/>
                <a:cs typeface="Calibri"/>
              </a:rPr>
              <a:t>→</a:t>
            </a:r>
          </a:p>
        </p:txBody>
      </p:sp>
      <p:sp>
        <p:nvSpPr>
          <p:cNvPr id="11" name="architecture-2">
            <a:extLst>
              <a:ext uri="{FF2B5EF4-FFF2-40B4-BE49-F238E27FC236}">
                <a16:creationId xmlns:a16="http://schemas.microsoft.com/office/drawing/2014/main" id="{62BAFD65-5C66-49AA-9769-E41EEFEF3FC4}"/>
              </a:ext>
            </a:extLst>
          </p:cNvPr>
          <p:cNvSpPr>
            <a:spLocks noGrp="1"/>
          </p:cNvSpPr>
          <p:nvPr/>
        </p:nvSpPr>
        <p:spPr>
          <a:xfrm>
            <a:off x="2933700" y="1714500"/>
            <a:ext cx="2000250" cy="2103120"/>
          </a:xfrm>
          <a:prstGeom prst="roundRect">
            <a:avLst>
              <a:gd name="adj" fmla="val 4706"/>
            </a:avLst>
          </a:prstGeom>
          <a:solidFill>
            <a:srgbClr val="FFFFFF"/>
          </a:solidFill>
          <a:ln w="11430">
            <a:solidFill>
              <a:srgbClr val="D8D8D8"/>
            </a:solidFill>
            <a:prstDash val="solid"/>
          </a:ln>
        </p:spPr>
        <p:txBody>
          <a:bodyPr/>
          <a:lstStyle/>
          <a:p>
            <a:endParaRPr/>
          </a:p>
        </p:txBody>
      </p:sp>
      <p:sp>
        <p:nvSpPr>
          <p:cNvPr id="12" name="architecture-number-2">
            <a:extLst>
              <a:ext uri="{FF2B5EF4-FFF2-40B4-BE49-F238E27FC236}">
                <a16:creationId xmlns:a16="http://schemas.microsoft.com/office/drawing/2014/main" id="{A861B41B-4323-44CE-ABD3-3992596ABAEE}"/>
              </a:ext>
            </a:extLst>
          </p:cNvPr>
          <p:cNvSpPr>
            <a:spLocks noGrp="1"/>
          </p:cNvSpPr>
          <p:nvPr/>
        </p:nvSpPr>
        <p:spPr>
          <a:xfrm>
            <a:off x="3048000" y="1809750"/>
            <a:ext cx="361950" cy="228600"/>
          </a:xfrm>
          <a:prstGeom prst="rect">
            <a:avLst/>
          </a:prstGeom>
          <a:noFill/>
          <a:ln w="0">
            <a:noFill/>
          </a:ln>
        </p:spPr>
        <p:txBody>
          <a:bodyPr wrap="square" lIns="0" tIns="0" rIns="0" bIns="0" anchor="t">
            <a:normAutofit/>
          </a:bodyPr>
          <a:lstStyle/>
          <a:p>
            <a:pPr algn="l">
              <a:lnSpc>
                <a:spcPct val="100000"/>
              </a:lnSpc>
              <a:buNone/>
              <a:defRPr sz="1050" b="1" i="0">
                <a:solidFill>
                  <a:srgbClr val="A31F34"/>
                </a:solidFill>
                <a:latin typeface="Calibri"/>
                <a:ea typeface="Calibri"/>
                <a:cs typeface="Calibri"/>
              </a:defRPr>
            </a:pPr>
            <a:r>
              <a:rPr sz="1200" b="1" i="0">
                <a:solidFill>
                  <a:srgbClr val="A31F34"/>
                </a:solidFill>
                <a:latin typeface="Calibri"/>
                <a:ea typeface="Calibri"/>
                <a:cs typeface="Calibri"/>
              </a:rPr>
              <a:t>02</a:t>
            </a:r>
          </a:p>
        </p:txBody>
      </p:sp>
      <p:sp>
        <p:nvSpPr>
          <p:cNvPr id="13" name="architecture-title-2">
            <a:extLst>
              <a:ext uri="{FF2B5EF4-FFF2-40B4-BE49-F238E27FC236}">
                <a16:creationId xmlns:a16="http://schemas.microsoft.com/office/drawing/2014/main" id="{E5A3F2E7-F544-4EF1-A8FD-93549820C1CC}"/>
              </a:ext>
            </a:extLst>
          </p:cNvPr>
          <p:cNvSpPr>
            <a:spLocks noGrp="1"/>
          </p:cNvSpPr>
          <p:nvPr/>
        </p:nvSpPr>
        <p:spPr>
          <a:xfrm>
            <a:off x="3048000" y="2029968"/>
            <a:ext cx="1771650" cy="566928"/>
          </a:xfrm>
          <a:prstGeom prst="rect">
            <a:avLst/>
          </a:prstGeom>
          <a:noFill/>
          <a:ln w="0">
            <a:noFill/>
          </a:ln>
        </p:spPr>
        <p:txBody>
          <a:bodyPr wrap="square" lIns="0" tIns="0" rIns="0" bIns="0" anchor="ctr">
            <a:normAutofit/>
          </a:bodyPr>
          <a:lstStyle/>
          <a:p>
            <a:pPr algn="l">
              <a:lnSpc>
                <a:spcPct val="100000"/>
              </a:lnSpc>
              <a:buNone/>
              <a:defRPr sz="1425" b="1" i="0">
                <a:solidFill>
                  <a:srgbClr val="111111"/>
                </a:solidFill>
                <a:latin typeface="Calibri"/>
                <a:ea typeface="Calibri"/>
                <a:cs typeface="Calibri"/>
              </a:defRPr>
            </a:pPr>
            <a:r>
              <a:rPr sz="1600" b="1" i="0">
                <a:solidFill>
                  <a:srgbClr val="111111"/>
                </a:solidFill>
                <a:latin typeface="Calibri"/>
                <a:ea typeface="Calibri"/>
                <a:cs typeface="Calibri"/>
              </a:rPr>
              <a:t>Retrieve + review</a:t>
            </a:r>
          </a:p>
        </p:txBody>
      </p:sp>
      <p:sp>
        <p:nvSpPr>
          <p:cNvPr id="14" name="architecture-subtitle-2">
            <a:extLst>
              <a:ext uri="{FF2B5EF4-FFF2-40B4-BE49-F238E27FC236}">
                <a16:creationId xmlns:a16="http://schemas.microsoft.com/office/drawing/2014/main" id="{349279D9-4AAF-4232-8B47-81AB05787F28}"/>
              </a:ext>
            </a:extLst>
          </p:cNvPr>
          <p:cNvSpPr>
            <a:spLocks noGrp="1"/>
          </p:cNvSpPr>
          <p:nvPr/>
        </p:nvSpPr>
        <p:spPr>
          <a:xfrm>
            <a:off x="3048000" y="2633472"/>
            <a:ext cx="1771650" cy="1097280"/>
          </a:xfrm>
          <a:prstGeom prst="rect">
            <a:avLst/>
          </a:prstGeom>
          <a:noFill/>
          <a:ln w="0">
            <a:noFill/>
          </a:ln>
        </p:spPr>
        <p:txBody>
          <a:bodyPr wrap="square" lIns="0" tIns="0" rIns="0" bIns="0" anchor="t">
            <a:normAutofit/>
          </a:bodyPr>
          <a:lstStyle/>
          <a:p>
            <a:pPr algn="l">
              <a:lnSpc>
                <a:spcPct val="95000"/>
              </a:lnSpc>
              <a:buNone/>
              <a:defRPr sz="1013" b="0" i="0">
                <a:solidFill>
                  <a:srgbClr val="5E5E5E"/>
                </a:solidFill>
                <a:latin typeface="Calibri"/>
                <a:ea typeface="Calibri"/>
                <a:cs typeface="Calibri"/>
              </a:defRPr>
            </a:pPr>
            <a:r>
              <a:rPr sz="1400" b="0" i="0">
                <a:solidFill>
                  <a:srgbClr val="5E5E5E"/>
                </a:solidFill>
                <a:latin typeface="Calibri"/>
                <a:ea typeface="Calibri"/>
                <a:cs typeface="Calibri"/>
              </a:rPr>
              <a:t>Find candidate articles; inspect TOCs, sections, and tables.</a:t>
            </a:r>
          </a:p>
        </p:txBody>
      </p:sp>
      <p:sp>
        <p:nvSpPr>
          <p:cNvPr id="15" name="flow-arrow-2">
            <a:extLst>
              <a:ext uri="{FF2B5EF4-FFF2-40B4-BE49-F238E27FC236}">
                <a16:creationId xmlns:a16="http://schemas.microsoft.com/office/drawing/2014/main" id="{849A059D-48D6-4182-A90E-B920627C45D1}"/>
              </a:ext>
            </a:extLst>
          </p:cNvPr>
          <p:cNvSpPr>
            <a:spLocks noGrp="1"/>
          </p:cNvSpPr>
          <p:nvPr/>
        </p:nvSpPr>
        <p:spPr>
          <a:xfrm>
            <a:off x="4991100" y="2560320"/>
            <a:ext cx="228600" cy="419100"/>
          </a:xfrm>
          <a:prstGeom prst="rect">
            <a:avLst/>
          </a:prstGeom>
          <a:noFill/>
          <a:ln w="0">
            <a:noFill/>
          </a:ln>
        </p:spPr>
        <p:txBody>
          <a:bodyPr wrap="square" lIns="0" tIns="0" rIns="0" bIns="0" anchor="ctr">
            <a:normAutofit fontScale="93520"/>
          </a:bodyPr>
          <a:lstStyle/>
          <a:p>
            <a:pPr algn="ctr">
              <a:lnSpc>
                <a:spcPct val="100000"/>
              </a:lnSpc>
              <a:buNone/>
              <a:defRPr sz="2100" b="1" i="0">
                <a:solidFill>
                  <a:srgbClr val="A31F34"/>
                </a:solidFill>
                <a:latin typeface="Calibri"/>
                <a:ea typeface="Calibri"/>
                <a:cs typeface="Calibri"/>
              </a:defRPr>
            </a:pPr>
            <a:r>
              <a:rPr sz="2100" b="1" i="0">
                <a:solidFill>
                  <a:srgbClr val="A31F34"/>
                </a:solidFill>
                <a:latin typeface="Calibri"/>
                <a:ea typeface="Calibri"/>
                <a:cs typeface="Calibri"/>
              </a:rPr>
              <a:t>→</a:t>
            </a:r>
          </a:p>
        </p:txBody>
      </p:sp>
      <p:sp>
        <p:nvSpPr>
          <p:cNvPr id="16" name="architecture-3">
            <a:extLst>
              <a:ext uri="{FF2B5EF4-FFF2-40B4-BE49-F238E27FC236}">
                <a16:creationId xmlns:a16="http://schemas.microsoft.com/office/drawing/2014/main" id="{8C4C8F87-A4CF-4CFF-A5FE-219693921D37}"/>
              </a:ext>
            </a:extLst>
          </p:cNvPr>
          <p:cNvSpPr>
            <a:spLocks noGrp="1"/>
          </p:cNvSpPr>
          <p:nvPr/>
        </p:nvSpPr>
        <p:spPr>
          <a:xfrm>
            <a:off x="5276850" y="1714500"/>
            <a:ext cx="2000250" cy="2103120"/>
          </a:xfrm>
          <a:prstGeom prst="roundRect">
            <a:avLst>
              <a:gd name="adj" fmla="val 4706"/>
            </a:avLst>
          </a:prstGeom>
          <a:solidFill>
            <a:srgbClr val="F7E9EC"/>
          </a:solidFill>
          <a:ln w="11430">
            <a:solidFill>
              <a:srgbClr val="D8D8D8"/>
            </a:solidFill>
            <a:prstDash val="solid"/>
          </a:ln>
        </p:spPr>
        <p:txBody>
          <a:bodyPr/>
          <a:lstStyle/>
          <a:p>
            <a:endParaRPr/>
          </a:p>
        </p:txBody>
      </p:sp>
      <p:sp>
        <p:nvSpPr>
          <p:cNvPr id="17" name="architecture-number-3">
            <a:extLst>
              <a:ext uri="{FF2B5EF4-FFF2-40B4-BE49-F238E27FC236}">
                <a16:creationId xmlns:a16="http://schemas.microsoft.com/office/drawing/2014/main" id="{F4EB85CF-9887-4238-B125-CFA2BB5D9555}"/>
              </a:ext>
            </a:extLst>
          </p:cNvPr>
          <p:cNvSpPr>
            <a:spLocks noGrp="1"/>
          </p:cNvSpPr>
          <p:nvPr/>
        </p:nvSpPr>
        <p:spPr>
          <a:xfrm>
            <a:off x="5391150" y="1809750"/>
            <a:ext cx="361950" cy="228600"/>
          </a:xfrm>
          <a:prstGeom prst="rect">
            <a:avLst/>
          </a:prstGeom>
          <a:noFill/>
          <a:ln w="0">
            <a:noFill/>
          </a:ln>
        </p:spPr>
        <p:txBody>
          <a:bodyPr wrap="square" lIns="0" tIns="0" rIns="0" bIns="0" anchor="t">
            <a:normAutofit/>
          </a:bodyPr>
          <a:lstStyle/>
          <a:p>
            <a:pPr algn="l">
              <a:lnSpc>
                <a:spcPct val="100000"/>
              </a:lnSpc>
              <a:buNone/>
              <a:defRPr sz="1050" b="1" i="0">
                <a:solidFill>
                  <a:srgbClr val="A31F34"/>
                </a:solidFill>
                <a:latin typeface="Calibri"/>
                <a:ea typeface="Calibri"/>
                <a:cs typeface="Calibri"/>
              </a:defRPr>
            </a:pPr>
            <a:r>
              <a:rPr sz="1200" b="1" i="0">
                <a:solidFill>
                  <a:srgbClr val="A31F34"/>
                </a:solidFill>
                <a:latin typeface="Calibri"/>
                <a:ea typeface="Calibri"/>
                <a:cs typeface="Calibri"/>
              </a:rPr>
              <a:t>03</a:t>
            </a:r>
          </a:p>
        </p:txBody>
      </p:sp>
      <p:sp>
        <p:nvSpPr>
          <p:cNvPr id="18" name="architecture-title-3">
            <a:extLst>
              <a:ext uri="{FF2B5EF4-FFF2-40B4-BE49-F238E27FC236}">
                <a16:creationId xmlns:a16="http://schemas.microsoft.com/office/drawing/2014/main" id="{753EBB16-DB19-4955-A1E1-B2078FE966EC}"/>
              </a:ext>
            </a:extLst>
          </p:cNvPr>
          <p:cNvSpPr>
            <a:spLocks noGrp="1"/>
          </p:cNvSpPr>
          <p:nvPr/>
        </p:nvSpPr>
        <p:spPr>
          <a:xfrm>
            <a:off x="5391150" y="2029968"/>
            <a:ext cx="1771650" cy="566928"/>
          </a:xfrm>
          <a:prstGeom prst="rect">
            <a:avLst/>
          </a:prstGeom>
          <a:noFill/>
          <a:ln w="0">
            <a:noFill/>
          </a:ln>
        </p:spPr>
        <p:txBody>
          <a:bodyPr wrap="square" lIns="0" tIns="0" rIns="0" bIns="0" anchor="ctr">
            <a:normAutofit/>
          </a:bodyPr>
          <a:lstStyle/>
          <a:p>
            <a:pPr algn="l">
              <a:lnSpc>
                <a:spcPct val="100000"/>
              </a:lnSpc>
              <a:buNone/>
              <a:defRPr sz="1425" b="1" i="0">
                <a:solidFill>
                  <a:srgbClr val="111111"/>
                </a:solidFill>
                <a:latin typeface="Calibri"/>
                <a:ea typeface="Calibri"/>
                <a:cs typeface="Calibri"/>
              </a:defRPr>
            </a:pPr>
            <a:r>
              <a:rPr sz="1600" b="1" i="0">
                <a:solidFill>
                  <a:srgbClr val="111111"/>
                </a:solidFill>
                <a:latin typeface="Calibri"/>
                <a:ea typeface="Calibri"/>
                <a:cs typeface="Calibri"/>
              </a:rPr>
              <a:t>Assess evidence</a:t>
            </a:r>
          </a:p>
        </p:txBody>
      </p:sp>
      <p:sp>
        <p:nvSpPr>
          <p:cNvPr id="19" name="architecture-subtitle-3">
            <a:extLst>
              <a:ext uri="{FF2B5EF4-FFF2-40B4-BE49-F238E27FC236}">
                <a16:creationId xmlns:a16="http://schemas.microsoft.com/office/drawing/2014/main" id="{F038A527-73C3-42AB-BFE7-AFBE8C33B079}"/>
              </a:ext>
            </a:extLst>
          </p:cNvPr>
          <p:cNvSpPr>
            <a:spLocks noGrp="1"/>
          </p:cNvSpPr>
          <p:nvPr/>
        </p:nvSpPr>
        <p:spPr>
          <a:xfrm>
            <a:off x="5391150" y="2633472"/>
            <a:ext cx="1771650" cy="1097280"/>
          </a:xfrm>
          <a:prstGeom prst="rect">
            <a:avLst/>
          </a:prstGeom>
          <a:noFill/>
          <a:ln w="0">
            <a:noFill/>
          </a:ln>
        </p:spPr>
        <p:txBody>
          <a:bodyPr wrap="square" lIns="0" tIns="0" rIns="0" bIns="0" anchor="t">
            <a:normAutofit/>
          </a:bodyPr>
          <a:lstStyle/>
          <a:p>
            <a:pPr algn="l">
              <a:lnSpc>
                <a:spcPct val="95000"/>
              </a:lnSpc>
              <a:buNone/>
              <a:defRPr sz="1013" b="0" i="0">
                <a:solidFill>
                  <a:srgbClr val="5E5E5E"/>
                </a:solidFill>
                <a:latin typeface="Calibri"/>
                <a:ea typeface="Calibri"/>
                <a:cs typeface="Calibri"/>
              </a:defRPr>
            </a:pPr>
            <a:r>
              <a:rPr sz="1400" b="0" i="0">
                <a:solidFill>
                  <a:srgbClr val="5E5E5E"/>
                </a:solidFill>
                <a:latin typeface="Calibri"/>
                <a:ea typeface="Calibri"/>
                <a:cs typeface="Calibri"/>
              </a:rPr>
              <a:t>Decide whether evidence is sufficient or request more.</a:t>
            </a:r>
          </a:p>
        </p:txBody>
      </p:sp>
      <p:sp>
        <p:nvSpPr>
          <p:cNvPr id="20" name="flow-arrow-3">
            <a:extLst>
              <a:ext uri="{FF2B5EF4-FFF2-40B4-BE49-F238E27FC236}">
                <a16:creationId xmlns:a16="http://schemas.microsoft.com/office/drawing/2014/main" id="{74A967A1-740E-459E-8EB5-6BC2F9F02263}"/>
              </a:ext>
            </a:extLst>
          </p:cNvPr>
          <p:cNvSpPr>
            <a:spLocks noGrp="1"/>
          </p:cNvSpPr>
          <p:nvPr/>
        </p:nvSpPr>
        <p:spPr>
          <a:xfrm>
            <a:off x="7334250" y="2560320"/>
            <a:ext cx="228600" cy="419100"/>
          </a:xfrm>
          <a:prstGeom prst="rect">
            <a:avLst/>
          </a:prstGeom>
          <a:noFill/>
          <a:ln w="0">
            <a:noFill/>
          </a:ln>
        </p:spPr>
        <p:txBody>
          <a:bodyPr wrap="square" lIns="0" tIns="0" rIns="0" bIns="0" anchor="ctr">
            <a:normAutofit fontScale="93520"/>
          </a:bodyPr>
          <a:lstStyle/>
          <a:p>
            <a:pPr algn="ctr">
              <a:lnSpc>
                <a:spcPct val="100000"/>
              </a:lnSpc>
              <a:buNone/>
              <a:defRPr sz="2100" b="1" i="0">
                <a:solidFill>
                  <a:srgbClr val="A31F34"/>
                </a:solidFill>
                <a:latin typeface="Calibri"/>
                <a:ea typeface="Calibri"/>
                <a:cs typeface="Calibri"/>
              </a:defRPr>
            </a:pPr>
            <a:r>
              <a:rPr sz="2100" b="1" i="0">
                <a:solidFill>
                  <a:srgbClr val="A31F34"/>
                </a:solidFill>
                <a:latin typeface="Calibri"/>
                <a:ea typeface="Calibri"/>
                <a:cs typeface="Calibri"/>
              </a:rPr>
              <a:t>→</a:t>
            </a:r>
          </a:p>
        </p:txBody>
      </p:sp>
      <p:sp>
        <p:nvSpPr>
          <p:cNvPr id="21" name="architecture-4">
            <a:extLst>
              <a:ext uri="{FF2B5EF4-FFF2-40B4-BE49-F238E27FC236}">
                <a16:creationId xmlns:a16="http://schemas.microsoft.com/office/drawing/2014/main" id="{FD3A6A24-CAB6-4719-A3DC-0BF33D6EBB91}"/>
              </a:ext>
            </a:extLst>
          </p:cNvPr>
          <p:cNvSpPr>
            <a:spLocks noGrp="1"/>
          </p:cNvSpPr>
          <p:nvPr/>
        </p:nvSpPr>
        <p:spPr>
          <a:xfrm>
            <a:off x="7620000" y="1714500"/>
            <a:ext cx="2000250" cy="2103120"/>
          </a:xfrm>
          <a:prstGeom prst="roundRect">
            <a:avLst>
              <a:gd name="adj" fmla="val 4706"/>
            </a:avLst>
          </a:prstGeom>
          <a:solidFill>
            <a:srgbClr val="FFFFFF"/>
          </a:solidFill>
          <a:ln w="11430">
            <a:solidFill>
              <a:srgbClr val="D8D8D8"/>
            </a:solidFill>
            <a:prstDash val="solid"/>
          </a:ln>
        </p:spPr>
        <p:txBody>
          <a:bodyPr/>
          <a:lstStyle/>
          <a:p>
            <a:endParaRPr/>
          </a:p>
        </p:txBody>
      </p:sp>
      <p:sp>
        <p:nvSpPr>
          <p:cNvPr id="22" name="architecture-number-4">
            <a:extLst>
              <a:ext uri="{FF2B5EF4-FFF2-40B4-BE49-F238E27FC236}">
                <a16:creationId xmlns:a16="http://schemas.microsoft.com/office/drawing/2014/main" id="{0BFFDB40-AD8C-4E8E-8005-CFC0DA2978D4}"/>
              </a:ext>
            </a:extLst>
          </p:cNvPr>
          <p:cNvSpPr>
            <a:spLocks noGrp="1"/>
          </p:cNvSpPr>
          <p:nvPr/>
        </p:nvSpPr>
        <p:spPr>
          <a:xfrm>
            <a:off x="7734300" y="1809750"/>
            <a:ext cx="361950" cy="228600"/>
          </a:xfrm>
          <a:prstGeom prst="rect">
            <a:avLst/>
          </a:prstGeom>
          <a:noFill/>
          <a:ln w="0">
            <a:noFill/>
          </a:ln>
        </p:spPr>
        <p:txBody>
          <a:bodyPr wrap="square" lIns="0" tIns="0" rIns="0" bIns="0" anchor="t">
            <a:normAutofit/>
          </a:bodyPr>
          <a:lstStyle/>
          <a:p>
            <a:pPr algn="l">
              <a:lnSpc>
                <a:spcPct val="100000"/>
              </a:lnSpc>
              <a:buNone/>
              <a:defRPr sz="1050" b="1" i="0">
                <a:solidFill>
                  <a:srgbClr val="A31F34"/>
                </a:solidFill>
                <a:latin typeface="Calibri"/>
                <a:ea typeface="Calibri"/>
                <a:cs typeface="Calibri"/>
              </a:defRPr>
            </a:pPr>
            <a:r>
              <a:rPr sz="1200" b="1" i="0">
                <a:solidFill>
                  <a:srgbClr val="A31F34"/>
                </a:solidFill>
                <a:latin typeface="Calibri"/>
                <a:ea typeface="Calibri"/>
                <a:cs typeface="Calibri"/>
              </a:rPr>
              <a:t>04</a:t>
            </a:r>
          </a:p>
        </p:txBody>
      </p:sp>
      <p:sp>
        <p:nvSpPr>
          <p:cNvPr id="23" name="architecture-title-4">
            <a:extLst>
              <a:ext uri="{FF2B5EF4-FFF2-40B4-BE49-F238E27FC236}">
                <a16:creationId xmlns:a16="http://schemas.microsoft.com/office/drawing/2014/main" id="{E7D21507-4488-40A7-9A77-744AAF37D70A}"/>
              </a:ext>
            </a:extLst>
          </p:cNvPr>
          <p:cNvSpPr>
            <a:spLocks noGrp="1"/>
          </p:cNvSpPr>
          <p:nvPr/>
        </p:nvSpPr>
        <p:spPr>
          <a:xfrm>
            <a:off x="7734300" y="2029968"/>
            <a:ext cx="1771650" cy="566928"/>
          </a:xfrm>
          <a:prstGeom prst="rect">
            <a:avLst/>
          </a:prstGeom>
          <a:noFill/>
          <a:ln w="0">
            <a:noFill/>
          </a:ln>
        </p:spPr>
        <p:txBody>
          <a:bodyPr wrap="square" lIns="0" tIns="0" rIns="0" bIns="0" anchor="ctr">
            <a:normAutofit/>
          </a:bodyPr>
          <a:lstStyle/>
          <a:p>
            <a:pPr algn="l">
              <a:lnSpc>
                <a:spcPct val="100000"/>
              </a:lnSpc>
              <a:buNone/>
              <a:defRPr sz="1425" b="1" i="0">
                <a:solidFill>
                  <a:srgbClr val="111111"/>
                </a:solidFill>
                <a:latin typeface="Calibri"/>
                <a:ea typeface="Calibri"/>
                <a:cs typeface="Calibri"/>
              </a:defRPr>
            </a:pPr>
            <a:r>
              <a:rPr sz="1600" b="1" i="0">
                <a:solidFill>
                  <a:srgbClr val="111111"/>
                </a:solidFill>
                <a:latin typeface="Calibri"/>
                <a:ea typeface="Calibri"/>
                <a:cs typeface="Calibri"/>
              </a:rPr>
              <a:t>Compute tables</a:t>
            </a:r>
          </a:p>
        </p:txBody>
      </p:sp>
      <p:sp>
        <p:nvSpPr>
          <p:cNvPr id="24" name="architecture-subtitle-4">
            <a:extLst>
              <a:ext uri="{FF2B5EF4-FFF2-40B4-BE49-F238E27FC236}">
                <a16:creationId xmlns:a16="http://schemas.microsoft.com/office/drawing/2014/main" id="{90CE6C24-31F3-4539-A56B-F1F54E2E6C45}"/>
              </a:ext>
            </a:extLst>
          </p:cNvPr>
          <p:cNvSpPr>
            <a:spLocks noGrp="1"/>
          </p:cNvSpPr>
          <p:nvPr/>
        </p:nvSpPr>
        <p:spPr>
          <a:xfrm>
            <a:off x="7734300" y="2633472"/>
            <a:ext cx="1771650" cy="1097280"/>
          </a:xfrm>
          <a:prstGeom prst="rect">
            <a:avLst/>
          </a:prstGeom>
          <a:noFill/>
          <a:ln w="0">
            <a:noFill/>
          </a:ln>
        </p:spPr>
        <p:txBody>
          <a:bodyPr wrap="square" lIns="0" tIns="0" rIns="0" bIns="0" anchor="t">
            <a:normAutofit/>
          </a:bodyPr>
          <a:lstStyle/>
          <a:p>
            <a:pPr algn="l">
              <a:lnSpc>
                <a:spcPct val="95000"/>
              </a:lnSpc>
              <a:buNone/>
              <a:defRPr sz="1013" b="0" i="0">
                <a:solidFill>
                  <a:srgbClr val="5E5E5E"/>
                </a:solidFill>
                <a:latin typeface="Calibri"/>
                <a:ea typeface="Calibri"/>
                <a:cs typeface="Calibri"/>
              </a:defRPr>
            </a:pPr>
            <a:r>
              <a:rPr sz="1400" b="0" i="0">
                <a:solidFill>
                  <a:srgbClr val="5E5E5E"/>
                </a:solidFill>
                <a:latin typeface="Calibri"/>
                <a:ea typeface="Calibri"/>
                <a:cs typeface="Calibri"/>
              </a:rPr>
              <a:t>Execute table requests deterministically; label partial results.</a:t>
            </a:r>
          </a:p>
        </p:txBody>
      </p:sp>
      <p:sp>
        <p:nvSpPr>
          <p:cNvPr id="25" name="flow-arrow-4">
            <a:extLst>
              <a:ext uri="{FF2B5EF4-FFF2-40B4-BE49-F238E27FC236}">
                <a16:creationId xmlns:a16="http://schemas.microsoft.com/office/drawing/2014/main" id="{64C946F2-22DC-4F52-89F6-13092A6A4F4B}"/>
              </a:ext>
            </a:extLst>
          </p:cNvPr>
          <p:cNvSpPr>
            <a:spLocks noGrp="1"/>
          </p:cNvSpPr>
          <p:nvPr/>
        </p:nvSpPr>
        <p:spPr>
          <a:xfrm>
            <a:off x="9677400" y="2560320"/>
            <a:ext cx="228600" cy="419100"/>
          </a:xfrm>
          <a:prstGeom prst="rect">
            <a:avLst/>
          </a:prstGeom>
          <a:noFill/>
          <a:ln w="0">
            <a:noFill/>
          </a:ln>
        </p:spPr>
        <p:txBody>
          <a:bodyPr wrap="square" lIns="0" tIns="0" rIns="0" bIns="0" anchor="ctr">
            <a:normAutofit fontScale="93520"/>
          </a:bodyPr>
          <a:lstStyle/>
          <a:p>
            <a:pPr algn="ctr">
              <a:lnSpc>
                <a:spcPct val="100000"/>
              </a:lnSpc>
              <a:buNone/>
              <a:defRPr sz="2100" b="1" i="0">
                <a:solidFill>
                  <a:srgbClr val="A31F34"/>
                </a:solidFill>
                <a:latin typeface="Calibri"/>
                <a:ea typeface="Calibri"/>
                <a:cs typeface="Calibri"/>
              </a:defRPr>
            </a:pPr>
            <a:r>
              <a:rPr sz="2100" b="1" i="0">
                <a:solidFill>
                  <a:srgbClr val="A31F34"/>
                </a:solidFill>
                <a:latin typeface="Calibri"/>
                <a:ea typeface="Calibri"/>
                <a:cs typeface="Calibri"/>
              </a:rPr>
              <a:t>→</a:t>
            </a:r>
          </a:p>
        </p:txBody>
      </p:sp>
      <p:sp>
        <p:nvSpPr>
          <p:cNvPr id="26" name="architecture-5">
            <a:extLst>
              <a:ext uri="{FF2B5EF4-FFF2-40B4-BE49-F238E27FC236}">
                <a16:creationId xmlns:a16="http://schemas.microsoft.com/office/drawing/2014/main" id="{A5B34288-DA48-4D91-B1BA-52BB1B604C55}"/>
              </a:ext>
            </a:extLst>
          </p:cNvPr>
          <p:cNvSpPr>
            <a:spLocks noGrp="1"/>
          </p:cNvSpPr>
          <p:nvPr/>
        </p:nvSpPr>
        <p:spPr>
          <a:xfrm>
            <a:off x="9963150" y="1714500"/>
            <a:ext cx="2000250" cy="2103120"/>
          </a:xfrm>
          <a:prstGeom prst="roundRect">
            <a:avLst>
              <a:gd name="adj" fmla="val 4706"/>
            </a:avLst>
          </a:prstGeom>
          <a:solidFill>
            <a:srgbClr val="FFFFFF"/>
          </a:solidFill>
          <a:ln w="11430">
            <a:solidFill>
              <a:srgbClr val="D8D8D8"/>
            </a:solidFill>
            <a:prstDash val="solid"/>
          </a:ln>
        </p:spPr>
        <p:txBody>
          <a:bodyPr/>
          <a:lstStyle/>
          <a:p>
            <a:endParaRPr/>
          </a:p>
        </p:txBody>
      </p:sp>
      <p:sp>
        <p:nvSpPr>
          <p:cNvPr id="27" name="architecture-number-5">
            <a:extLst>
              <a:ext uri="{FF2B5EF4-FFF2-40B4-BE49-F238E27FC236}">
                <a16:creationId xmlns:a16="http://schemas.microsoft.com/office/drawing/2014/main" id="{78CB28C4-2DFE-4D00-8BF3-E580B3EFD64A}"/>
              </a:ext>
            </a:extLst>
          </p:cNvPr>
          <p:cNvSpPr>
            <a:spLocks noGrp="1"/>
          </p:cNvSpPr>
          <p:nvPr/>
        </p:nvSpPr>
        <p:spPr>
          <a:xfrm>
            <a:off x="10077450" y="1809750"/>
            <a:ext cx="361950" cy="228600"/>
          </a:xfrm>
          <a:prstGeom prst="rect">
            <a:avLst/>
          </a:prstGeom>
          <a:noFill/>
          <a:ln w="0">
            <a:noFill/>
          </a:ln>
        </p:spPr>
        <p:txBody>
          <a:bodyPr wrap="square" lIns="0" tIns="0" rIns="0" bIns="0" anchor="t">
            <a:normAutofit/>
          </a:bodyPr>
          <a:lstStyle/>
          <a:p>
            <a:pPr algn="l">
              <a:lnSpc>
                <a:spcPct val="100000"/>
              </a:lnSpc>
              <a:buNone/>
              <a:defRPr sz="1050" b="1" i="0">
                <a:solidFill>
                  <a:srgbClr val="A31F34"/>
                </a:solidFill>
                <a:latin typeface="Calibri"/>
                <a:ea typeface="Calibri"/>
                <a:cs typeface="Calibri"/>
              </a:defRPr>
            </a:pPr>
            <a:r>
              <a:rPr sz="1200" b="1" i="0">
                <a:solidFill>
                  <a:srgbClr val="A31F34"/>
                </a:solidFill>
                <a:latin typeface="Calibri"/>
                <a:ea typeface="Calibri"/>
                <a:cs typeface="Calibri"/>
              </a:rPr>
              <a:t>05</a:t>
            </a:r>
          </a:p>
        </p:txBody>
      </p:sp>
      <p:sp>
        <p:nvSpPr>
          <p:cNvPr id="28" name="architecture-title-5">
            <a:extLst>
              <a:ext uri="{FF2B5EF4-FFF2-40B4-BE49-F238E27FC236}">
                <a16:creationId xmlns:a16="http://schemas.microsoft.com/office/drawing/2014/main" id="{1FFBBE9E-C472-4768-960E-33F8BC961A1F}"/>
              </a:ext>
            </a:extLst>
          </p:cNvPr>
          <p:cNvSpPr>
            <a:spLocks noGrp="1"/>
          </p:cNvSpPr>
          <p:nvPr/>
        </p:nvSpPr>
        <p:spPr>
          <a:xfrm>
            <a:off x="10077450" y="2029968"/>
            <a:ext cx="1771650" cy="566928"/>
          </a:xfrm>
          <a:prstGeom prst="rect">
            <a:avLst/>
          </a:prstGeom>
          <a:noFill/>
          <a:ln w="0">
            <a:noFill/>
          </a:ln>
        </p:spPr>
        <p:txBody>
          <a:bodyPr wrap="square" lIns="0" tIns="0" rIns="0" bIns="0" anchor="ctr">
            <a:normAutofit/>
          </a:bodyPr>
          <a:lstStyle/>
          <a:p>
            <a:pPr algn="l">
              <a:lnSpc>
                <a:spcPct val="100000"/>
              </a:lnSpc>
              <a:buNone/>
              <a:defRPr sz="1425" b="1" i="0">
                <a:solidFill>
                  <a:srgbClr val="111111"/>
                </a:solidFill>
                <a:latin typeface="Calibri"/>
                <a:ea typeface="Calibri"/>
                <a:cs typeface="Calibri"/>
              </a:defRPr>
            </a:pPr>
            <a:r>
              <a:rPr sz="1600" b="1" i="0">
                <a:solidFill>
                  <a:srgbClr val="111111"/>
                </a:solidFill>
                <a:latin typeface="Calibri"/>
                <a:ea typeface="Calibri"/>
                <a:cs typeface="Calibri"/>
              </a:rPr>
              <a:t>Answer + verify</a:t>
            </a:r>
          </a:p>
        </p:txBody>
      </p:sp>
      <p:sp>
        <p:nvSpPr>
          <p:cNvPr id="29" name="architecture-subtitle-5">
            <a:extLst>
              <a:ext uri="{FF2B5EF4-FFF2-40B4-BE49-F238E27FC236}">
                <a16:creationId xmlns:a16="http://schemas.microsoft.com/office/drawing/2014/main" id="{5FCED701-D43A-4946-9983-49D816948FD2}"/>
              </a:ext>
            </a:extLst>
          </p:cNvPr>
          <p:cNvSpPr>
            <a:spLocks noGrp="1"/>
          </p:cNvSpPr>
          <p:nvPr/>
        </p:nvSpPr>
        <p:spPr>
          <a:xfrm>
            <a:off x="10077450" y="2633472"/>
            <a:ext cx="1771650" cy="1097280"/>
          </a:xfrm>
          <a:prstGeom prst="rect">
            <a:avLst/>
          </a:prstGeom>
          <a:noFill/>
          <a:ln w="0">
            <a:noFill/>
          </a:ln>
        </p:spPr>
        <p:txBody>
          <a:bodyPr wrap="square" lIns="0" tIns="0" rIns="0" bIns="0" anchor="t">
            <a:normAutofit/>
          </a:bodyPr>
          <a:lstStyle/>
          <a:p>
            <a:pPr algn="l">
              <a:lnSpc>
                <a:spcPct val="95000"/>
              </a:lnSpc>
              <a:buNone/>
              <a:defRPr sz="1013" b="0" i="0">
                <a:solidFill>
                  <a:srgbClr val="5E5E5E"/>
                </a:solidFill>
                <a:latin typeface="Calibri"/>
                <a:ea typeface="Calibri"/>
                <a:cs typeface="Calibri"/>
              </a:defRPr>
            </a:pPr>
            <a:r>
              <a:rPr sz="1400" b="0" i="0">
                <a:solidFill>
                  <a:srgbClr val="5E5E5E"/>
                </a:solidFill>
                <a:latin typeface="Calibri"/>
                <a:ea typeface="Calibri"/>
                <a:cs typeface="Calibri"/>
              </a:rPr>
              <a:t>Generate only from evidence, then run the grounding check.</a:t>
            </a:r>
          </a:p>
        </p:txBody>
      </p:sp>
      <p:sp>
        <p:nvSpPr>
          <p:cNvPr id="30" name="evidence-loop">
            <a:extLst>
              <a:ext uri="{FF2B5EF4-FFF2-40B4-BE49-F238E27FC236}">
                <a16:creationId xmlns:a16="http://schemas.microsoft.com/office/drawing/2014/main" id="{2D0B4E03-246D-4E36-9FE6-8BC7E5D5CA69}"/>
              </a:ext>
            </a:extLst>
          </p:cNvPr>
          <p:cNvSpPr>
            <a:spLocks noGrp="1"/>
          </p:cNvSpPr>
          <p:nvPr/>
        </p:nvSpPr>
        <p:spPr>
          <a:xfrm>
            <a:off x="1714500" y="4023360"/>
            <a:ext cx="8763000" cy="514350"/>
          </a:xfrm>
          <a:prstGeom prst="rect">
            <a:avLst/>
          </a:prstGeom>
          <a:noFill/>
          <a:ln w="0">
            <a:noFill/>
          </a:ln>
        </p:spPr>
        <p:txBody>
          <a:bodyPr wrap="square" lIns="0" tIns="0" rIns="0" bIns="0" anchor="ctr">
            <a:normAutofit/>
          </a:bodyPr>
          <a:lstStyle/>
          <a:p>
            <a:pPr algn="ctr">
              <a:lnSpc>
                <a:spcPct val="100000"/>
              </a:lnSpc>
              <a:buNone/>
              <a:defRPr sz="1350" b="1" i="0">
                <a:solidFill>
                  <a:srgbClr val="7E1728"/>
                </a:solidFill>
                <a:latin typeface="Calibri"/>
                <a:ea typeface="Calibri"/>
                <a:cs typeface="Calibri"/>
              </a:defRPr>
            </a:pPr>
            <a:r>
              <a:rPr sz="1350" b="1" i="0">
                <a:solidFill>
                  <a:srgbClr val="7E1728"/>
                </a:solidFill>
                <a:latin typeface="Calibri"/>
                <a:ea typeface="Calibri"/>
                <a:cs typeface="Calibri"/>
              </a:rPr>
              <a:t>↺  The assessor can request more article text, graph neighbors, or a table computation before the answer is written.</a:t>
            </a:r>
          </a:p>
        </p:txBody>
      </p:sp>
      <p:sp>
        <p:nvSpPr>
          <p:cNvPr id="31" name="routing-band">
            <a:extLst>
              <a:ext uri="{FF2B5EF4-FFF2-40B4-BE49-F238E27FC236}">
                <a16:creationId xmlns:a16="http://schemas.microsoft.com/office/drawing/2014/main" id="{EADE1E4A-85C0-4B2F-B8FD-A03A01F8E5D8}"/>
              </a:ext>
            </a:extLst>
          </p:cNvPr>
          <p:cNvSpPr>
            <a:spLocks noGrp="1"/>
          </p:cNvSpPr>
          <p:nvPr/>
        </p:nvSpPr>
        <p:spPr>
          <a:xfrm>
            <a:off x="1390650" y="4681728"/>
            <a:ext cx="9410700" cy="666750"/>
          </a:xfrm>
          <a:prstGeom prst="roundRect">
            <a:avLst>
              <a:gd name="adj" fmla="val 8571"/>
            </a:avLst>
          </a:prstGeom>
          <a:solidFill>
            <a:srgbClr val="F3F3F3"/>
          </a:solidFill>
          <a:ln w="9525">
            <a:solidFill>
              <a:srgbClr val="D8D8D8"/>
            </a:solidFill>
            <a:prstDash val="solid"/>
          </a:ln>
        </p:spPr>
        <p:txBody>
          <a:bodyPr/>
          <a:lstStyle/>
          <a:p>
            <a:endParaRPr/>
          </a:p>
        </p:txBody>
      </p:sp>
      <p:sp>
        <p:nvSpPr>
          <p:cNvPr id="32" name="mini-route">
            <a:extLst>
              <a:ext uri="{FF2B5EF4-FFF2-40B4-BE49-F238E27FC236}">
                <a16:creationId xmlns:a16="http://schemas.microsoft.com/office/drawing/2014/main" id="{11F12771-BD6F-4382-97D0-533AC1B3E45D}"/>
              </a:ext>
            </a:extLst>
          </p:cNvPr>
          <p:cNvSpPr>
            <a:spLocks noGrp="1"/>
          </p:cNvSpPr>
          <p:nvPr/>
        </p:nvSpPr>
        <p:spPr>
          <a:xfrm>
            <a:off x="1666875" y="4828032"/>
            <a:ext cx="2000250" cy="361950"/>
          </a:xfrm>
          <a:prstGeom prst="rect">
            <a:avLst/>
          </a:prstGeom>
          <a:noFill/>
          <a:ln w="0">
            <a:noFill/>
          </a:ln>
        </p:spPr>
        <p:txBody>
          <a:bodyPr wrap="square" lIns="0" tIns="0" rIns="0" bIns="0" anchor="ctr">
            <a:normAutofit/>
          </a:bodyPr>
          <a:lstStyle/>
          <a:p>
            <a:pPr algn="ctr">
              <a:lnSpc>
                <a:spcPct val="100000"/>
              </a:lnSpc>
              <a:buNone/>
              <a:defRPr sz="1500" b="1" i="0">
                <a:solidFill>
                  <a:srgbClr val="A31F34"/>
                </a:solidFill>
                <a:latin typeface="Calibri"/>
                <a:ea typeface="Calibri"/>
                <a:cs typeface="Calibri"/>
              </a:defRPr>
            </a:pPr>
            <a:r>
              <a:rPr sz="1500" b="1" i="0">
                <a:solidFill>
                  <a:srgbClr val="A31F34"/>
                </a:solidFill>
                <a:latin typeface="Calibri"/>
                <a:ea typeface="Calibri"/>
                <a:cs typeface="Calibri"/>
              </a:rPr>
              <a:t>Mini by default</a:t>
            </a:r>
          </a:p>
        </p:txBody>
      </p:sp>
      <p:sp>
        <p:nvSpPr>
          <p:cNvPr id="33" name="mini-roles">
            <a:extLst>
              <a:ext uri="{FF2B5EF4-FFF2-40B4-BE49-F238E27FC236}">
                <a16:creationId xmlns:a16="http://schemas.microsoft.com/office/drawing/2014/main" id="{0A02A5F7-A561-4FB2-B2A7-080E0909636F}"/>
              </a:ext>
            </a:extLst>
          </p:cNvPr>
          <p:cNvSpPr>
            <a:spLocks noGrp="1"/>
          </p:cNvSpPr>
          <p:nvPr/>
        </p:nvSpPr>
        <p:spPr>
          <a:xfrm>
            <a:off x="3714750" y="4828032"/>
            <a:ext cx="3857625" cy="361950"/>
          </a:xfrm>
          <a:prstGeom prst="rect">
            <a:avLst/>
          </a:prstGeom>
          <a:noFill/>
          <a:ln w="0">
            <a:noFill/>
          </a:ln>
        </p:spPr>
        <p:txBody>
          <a:bodyPr wrap="square" lIns="0" tIns="0" rIns="0" bIns="0" anchor="ctr">
            <a:normAutofit/>
          </a:bodyPr>
          <a:lstStyle/>
          <a:p>
            <a:pPr algn="ctr">
              <a:lnSpc>
                <a:spcPct val="100000"/>
              </a:lnSpc>
              <a:buNone/>
              <a:defRPr sz="1200" b="0" i="0">
                <a:solidFill>
                  <a:srgbClr val="111111"/>
                </a:solidFill>
                <a:latin typeface="Calibri"/>
                <a:ea typeface="Calibri"/>
                <a:cs typeface="Calibri"/>
              </a:defRPr>
            </a:pPr>
            <a:r>
              <a:rPr sz="1200" b="0" i="0">
                <a:solidFill>
                  <a:srgbClr val="111111"/>
                </a:solidFill>
                <a:latin typeface="Calibri"/>
                <a:ea typeface="Calibri"/>
                <a:cs typeface="Calibri"/>
              </a:rPr>
              <a:t>decomposition • article selection • table planning</a:t>
            </a:r>
          </a:p>
        </p:txBody>
      </p:sp>
      <p:sp>
        <p:nvSpPr>
          <p:cNvPr id="34" name="strong-route">
            <a:extLst>
              <a:ext uri="{FF2B5EF4-FFF2-40B4-BE49-F238E27FC236}">
                <a16:creationId xmlns:a16="http://schemas.microsoft.com/office/drawing/2014/main" id="{1CDD0533-3503-45D7-91D1-16991F178FE6}"/>
              </a:ext>
            </a:extLst>
          </p:cNvPr>
          <p:cNvSpPr>
            <a:spLocks noGrp="1"/>
          </p:cNvSpPr>
          <p:nvPr/>
        </p:nvSpPr>
        <p:spPr>
          <a:xfrm>
            <a:off x="7620000" y="4828032"/>
            <a:ext cx="2857500" cy="361950"/>
          </a:xfrm>
          <a:prstGeom prst="rect">
            <a:avLst/>
          </a:prstGeom>
          <a:noFill/>
          <a:ln w="0">
            <a:noFill/>
          </a:ln>
        </p:spPr>
        <p:txBody>
          <a:bodyPr wrap="square" lIns="0" tIns="0" rIns="0" bIns="0" anchor="ctr">
            <a:normAutofit/>
          </a:bodyPr>
          <a:lstStyle/>
          <a:p>
            <a:pPr algn="ctr">
              <a:lnSpc>
                <a:spcPct val="100000"/>
              </a:lnSpc>
              <a:buNone/>
              <a:defRPr sz="1500" b="1" i="0">
                <a:solidFill>
                  <a:srgbClr val="A31F34"/>
                </a:solidFill>
                <a:latin typeface="Calibri"/>
                <a:ea typeface="Calibri"/>
                <a:cs typeface="Calibri"/>
              </a:defRPr>
            </a:pPr>
            <a:r>
              <a:rPr sz="1500" b="1" i="0">
                <a:solidFill>
                  <a:srgbClr val="A31F34"/>
                </a:solidFill>
                <a:latin typeface="Calibri"/>
                <a:ea typeface="Calibri"/>
                <a:cs typeface="Calibri"/>
              </a:rPr>
              <a:t>gpt-5.4 on table path</a:t>
            </a:r>
          </a:p>
        </p:txBody>
      </p:sp>
      <p:sp>
        <p:nvSpPr>
          <p:cNvPr id="35" name="strong-roles">
            <a:extLst>
              <a:ext uri="{FF2B5EF4-FFF2-40B4-BE49-F238E27FC236}">
                <a16:creationId xmlns:a16="http://schemas.microsoft.com/office/drawing/2014/main" id="{59438D45-0C8A-4A73-AA19-D99E140024A4}"/>
              </a:ext>
            </a:extLst>
          </p:cNvPr>
          <p:cNvSpPr>
            <a:spLocks noGrp="1"/>
          </p:cNvSpPr>
          <p:nvPr/>
        </p:nvSpPr>
        <p:spPr>
          <a:xfrm>
            <a:off x="8048625" y="5148072"/>
            <a:ext cx="2000250" cy="228600"/>
          </a:xfrm>
          <a:prstGeom prst="rect">
            <a:avLst/>
          </a:prstGeom>
          <a:noFill/>
          <a:ln w="0">
            <a:noFill/>
          </a:ln>
        </p:spPr>
        <p:txBody>
          <a:bodyPr wrap="square" lIns="0" tIns="0" rIns="0" bIns="0" anchor="t">
            <a:normAutofit/>
          </a:bodyPr>
          <a:lstStyle/>
          <a:p>
            <a:pPr algn="ctr">
              <a:lnSpc>
                <a:spcPct val="100000"/>
              </a:lnSpc>
              <a:buNone/>
              <a:defRPr sz="1050" b="0" i="0">
                <a:solidFill>
                  <a:srgbClr val="5E5E5E"/>
                </a:solidFill>
                <a:latin typeface="Calibri"/>
                <a:ea typeface="Calibri"/>
                <a:cs typeface="Calibri"/>
              </a:defRPr>
            </a:pPr>
            <a:r>
              <a:rPr sz="1200" b="0" i="0">
                <a:solidFill>
                  <a:srgbClr val="5E5E5E"/>
                </a:solidFill>
                <a:latin typeface="Calibri"/>
                <a:ea typeface="Calibri"/>
                <a:cs typeface="Calibri"/>
              </a:rPr>
              <a:t>assessor + answer</a:t>
            </a:r>
          </a:p>
        </p:txBody>
      </p:sp>
      <p:sp>
        <p:nvSpPr>
          <p:cNvPr id="36" name="problem-failure">
            <a:extLst>
              <a:ext uri="{FF2B5EF4-FFF2-40B4-BE49-F238E27FC236}">
                <a16:creationId xmlns:a16="http://schemas.microsoft.com/office/drawing/2014/main" id="{8E498ADE-3F71-33BF-BF49-837605CFC25C}"/>
              </a:ext>
            </a:extLst>
          </p:cNvPr>
          <p:cNvSpPr>
            <a:spLocks noGrp="1"/>
          </p:cNvSpPr>
          <p:nvPr/>
        </p:nvSpPr>
        <p:spPr>
          <a:xfrm>
            <a:off x="346611" y="6037005"/>
            <a:ext cx="7962900" cy="851807"/>
          </a:xfrm>
          <a:prstGeom prst="rect">
            <a:avLst/>
          </a:prstGeom>
          <a:noFill/>
          <a:ln w="0">
            <a:noFill/>
          </a:ln>
        </p:spPr>
        <p:txBody>
          <a:bodyPr wrap="square" lIns="0" tIns="0" rIns="0" bIns="0" anchor="t">
            <a:normAutofit/>
          </a:bodyPr>
          <a:lstStyle/>
          <a:p>
            <a:pPr>
              <a:buNone/>
              <a:defRPr sz="1500" b="0" i="0">
                <a:solidFill>
                  <a:srgbClr val="111111"/>
                </a:solidFill>
                <a:latin typeface="Calibri"/>
                <a:ea typeface="Calibri"/>
                <a:cs typeface="Calibri"/>
              </a:defRPr>
            </a:pPr>
            <a:r>
              <a:rPr sz="1730">
                <a:solidFill>
                  <a:schemeClr val="bg1">
                    <a:lumMod val="50000"/>
                  </a:schemeClr>
                </a:solidFill>
                <a:latin typeface="Calibri"/>
                <a:ea typeface="Calibri"/>
                <a:cs typeface="Calibri"/>
              </a:rPr>
              <a:t>Project  Links:</a:t>
            </a:r>
            <a:br/>
            <a:r>
              <a:rPr sz="1730">
                <a:solidFill>
                  <a:schemeClr val="bg1">
                    <a:lumMod val="50000"/>
                  </a:schemeClr>
                </a:solidFill>
                <a:latin typeface="Calibri"/>
                <a:ea typeface="Calibri"/>
                <a:cs typeface="Calibri"/>
                <a:hlinkClick r:id="rId3"/>
              </a:rPr>
              <a:t>Retriever_7.1 Final Version</a:t>
            </a:r>
            <a:endParaRPr sz="1730" b="0" i="0">
              <a:solidFill>
                <a:schemeClr val="bg1">
                  <a:lumMod val="50000"/>
                </a:schemeClr>
              </a:solidFill>
              <a:latin typeface="Calibri"/>
              <a:ea typeface="Calibri"/>
              <a:cs typeface="Calibri"/>
            </a:endParaRPr>
          </a:p>
        </p:txBody>
      </p:sp>
    </p:spTree>
    <p:extLst>
      <p:ext uri="{BB962C8B-B14F-4D97-AF65-F5344CB8AC3E}">
        <p14:creationId xmlns:p14="http://schemas.microsoft.com/office/powerpoint/2010/main" val="3289224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4F74E9-575A-7CA6-3D50-C638CDA94727}"/>
              </a:ext>
            </a:extLst>
          </p:cNvPr>
          <p:cNvPicPr>
            <a:picLocks noChangeAspect="1"/>
          </p:cNvPicPr>
          <p:nvPr/>
        </p:nvPicPr>
        <p:blipFill>
          <a:blip r:embed="rId2"/>
          <a:stretch>
            <a:fillRect/>
          </a:stretch>
        </p:blipFill>
        <p:spPr>
          <a:xfrm>
            <a:off x="2209800" y="763752"/>
            <a:ext cx="7772400" cy="5330496"/>
          </a:xfrm>
          <a:prstGeom prst="rect">
            <a:avLst/>
          </a:prstGeom>
        </p:spPr>
      </p:pic>
    </p:spTree>
    <p:extLst>
      <p:ext uri="{BB962C8B-B14F-4D97-AF65-F5344CB8AC3E}">
        <p14:creationId xmlns:p14="http://schemas.microsoft.com/office/powerpoint/2010/main" val="173868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vision-title">
            <a:extLst>
              <a:ext uri="{FF2B5EF4-FFF2-40B4-BE49-F238E27FC236}">
                <a16:creationId xmlns:a16="http://schemas.microsoft.com/office/drawing/2014/main" id="{2433949D-B648-49D1-8DEE-8536E0169401}"/>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Retrieval choices that survived</a:t>
            </a:r>
          </a:p>
        </p:txBody>
      </p:sp>
      <p:sp>
        <p:nvSpPr>
          <p:cNvPr id="2" name="revision-subtitle">
            <a:extLst>
              <a:ext uri="{FF2B5EF4-FFF2-40B4-BE49-F238E27FC236}">
                <a16:creationId xmlns:a16="http://schemas.microsoft.com/office/drawing/2014/main" id="{49CB2DD4-8869-4460-BDFA-1FE009B7A658}"/>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Each addition addressed an observed failure; BM25 was tested, measured, and dropped for this corpus.</a:t>
            </a:r>
          </a:p>
        </p:txBody>
      </p:sp>
      <p:sp>
        <p:nvSpPr>
          <p:cNvPr id="3" name="Rounded Rectangle 2">
            <a:extLst>
              <a:ext uri="{FF2B5EF4-FFF2-40B4-BE49-F238E27FC236}">
                <a16:creationId xmlns:a16="http://schemas.microsoft.com/office/drawing/2014/main" id="{1661CDA4-B427-4BA4-BA12-88804CFB5144}"/>
              </a:ext>
            </a:extLst>
          </p:cNvPr>
          <p:cNvSpPr>
            <a:spLocks noGrp="1"/>
          </p:cNvSpPr>
          <p:nvPr/>
        </p:nvSpPr>
        <p:spPr>
          <a:xfrm>
            <a:off x="619125" y="1571625"/>
            <a:ext cx="3333750" cy="3333750"/>
          </a:xfrm>
          <a:prstGeom prst="roundRect">
            <a:avLst>
              <a:gd name="adj" fmla="val 2286"/>
            </a:avLst>
          </a:prstGeom>
          <a:solidFill>
            <a:srgbClr val="F3F3F3"/>
          </a:solidFill>
          <a:ln w="9525">
            <a:solidFill>
              <a:srgbClr val="D8D8D8"/>
            </a:solidFill>
            <a:prstDash val="solid"/>
          </a:ln>
        </p:spPr>
        <p:txBody>
          <a:bodyPr/>
          <a:lstStyle/>
          <a:p>
            <a:endParaRPr lang="en-US"/>
          </a:p>
        </p:txBody>
      </p:sp>
      <p:sp>
        <p:nvSpPr>
          <p:cNvPr id="4" name="Rectangle 3">
            <a:extLst>
              <a:ext uri="{FF2B5EF4-FFF2-40B4-BE49-F238E27FC236}">
                <a16:creationId xmlns:a16="http://schemas.microsoft.com/office/drawing/2014/main" id="{FC10EE04-9145-433F-9C5E-4760449A3A5F}"/>
              </a:ext>
            </a:extLst>
          </p:cNvPr>
          <p:cNvSpPr>
            <a:spLocks noGrp="1"/>
          </p:cNvSpPr>
          <p:nvPr/>
        </p:nvSpPr>
        <p:spPr>
          <a:xfrm>
            <a:off x="790575" y="1714500"/>
            <a:ext cx="2990850" cy="323850"/>
          </a:xfrm>
          <a:prstGeom prst="rect">
            <a:avLst/>
          </a:prstGeom>
          <a:noFill/>
          <a:ln w="0">
            <a:noFill/>
          </a:ln>
        </p:spPr>
        <p:txBody>
          <a:bodyPr wrap="square" lIns="0" tIns="0" rIns="0" bIns="0" anchor="ctr">
            <a:normAutofit/>
          </a:bodyPr>
          <a:lstStyle/>
          <a:p>
            <a:pPr algn="l">
              <a:lnSpc>
                <a:spcPct val="100000"/>
              </a:lnSpc>
              <a:buNone/>
              <a:defRPr sz="1575" b="1" i="0">
                <a:solidFill>
                  <a:srgbClr val="5E5E5E"/>
                </a:solidFill>
                <a:latin typeface="Calibri"/>
                <a:ea typeface="Calibri"/>
                <a:cs typeface="Calibri"/>
              </a:defRPr>
            </a:pPr>
            <a:r>
              <a:rPr sz="1575" b="1" i="0">
                <a:solidFill>
                  <a:srgbClr val="5E5E5E"/>
                </a:solidFill>
                <a:latin typeface="Calibri"/>
                <a:ea typeface="Calibri"/>
                <a:cs typeface="Calibri"/>
              </a:rPr>
              <a:t>1  Drop the tested hybrid</a:t>
            </a:r>
          </a:p>
        </p:txBody>
      </p:sp>
      <p:sp>
        <p:nvSpPr>
          <p:cNvPr id="5" name="Rectangle 4">
            <a:extLst>
              <a:ext uri="{FF2B5EF4-FFF2-40B4-BE49-F238E27FC236}">
                <a16:creationId xmlns:a16="http://schemas.microsoft.com/office/drawing/2014/main" id="{22980567-C23F-4E83-BB25-0CC8BB7748F1}"/>
              </a:ext>
            </a:extLst>
          </p:cNvPr>
          <p:cNvSpPr>
            <a:spLocks noGrp="1"/>
          </p:cNvSpPr>
          <p:nvPr/>
        </p:nvSpPr>
        <p:spPr>
          <a:xfrm>
            <a:off x="790575" y="2105025"/>
            <a:ext cx="2990850" cy="2667000"/>
          </a:xfrm>
          <a:prstGeom prst="rect">
            <a:avLst/>
          </a:prstGeom>
          <a:noFill/>
          <a:ln w="0">
            <a:noFill/>
          </a:ln>
        </p:spPr>
        <p:txBody>
          <a:bodyPr wrap="square" lIns="0" tIns="0" rIns="0" bIns="0" anchor="t">
            <a:normAutofit/>
          </a:bodyPr>
          <a:lstStyle/>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BM25 + vector, K=7</a:t>
            </a:r>
          </a:p>
          <a:p>
            <a:endParaRPr sz="1238" b="0" i="0">
              <a:solidFill>
                <a:srgbClr val="111111"/>
              </a:solidFill>
              <a:latin typeface="Calibri"/>
              <a:ea typeface="Calibri"/>
              <a:cs typeface="Calibri"/>
            </a:endParaRP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Quality      0.705</a:t>
            </a: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Article recall  0.882</a:t>
            </a: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Mean context  184.6K chars</a:t>
            </a:r>
          </a:p>
          <a:p>
            <a:endParaRPr sz="1238" b="0" i="0">
              <a:solidFill>
                <a:srgbClr val="111111"/>
              </a:solidFill>
              <a:latin typeface="Calibri"/>
              <a:ea typeface="Calibri"/>
              <a:cs typeface="Calibri"/>
            </a:endParaRP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It added lexical matches, but also more irrelevant full articles. The vector baseline was better on all three measures.</a:t>
            </a:r>
          </a:p>
        </p:txBody>
      </p:sp>
      <p:sp>
        <p:nvSpPr>
          <p:cNvPr id="6" name="Rounded Rectangle 5">
            <a:extLst>
              <a:ext uri="{FF2B5EF4-FFF2-40B4-BE49-F238E27FC236}">
                <a16:creationId xmlns:a16="http://schemas.microsoft.com/office/drawing/2014/main" id="{709C3788-4B59-47DF-926A-E9697D6CC43B}"/>
              </a:ext>
            </a:extLst>
          </p:cNvPr>
          <p:cNvSpPr>
            <a:spLocks noGrp="1"/>
          </p:cNvSpPr>
          <p:nvPr/>
        </p:nvSpPr>
        <p:spPr>
          <a:xfrm>
            <a:off x="4429125" y="1571625"/>
            <a:ext cx="3333750" cy="3333750"/>
          </a:xfrm>
          <a:prstGeom prst="roundRect">
            <a:avLst>
              <a:gd name="adj" fmla="val 2286"/>
            </a:avLst>
          </a:prstGeom>
          <a:solidFill>
            <a:srgbClr val="F7E9EC"/>
          </a:solidFill>
          <a:ln w="9525">
            <a:solidFill>
              <a:srgbClr val="E6BBC4"/>
            </a:solidFill>
            <a:prstDash val="solid"/>
          </a:ln>
        </p:spPr>
        <p:txBody>
          <a:bodyPr/>
          <a:lstStyle/>
          <a:p>
            <a:endParaRPr lang="en-US"/>
          </a:p>
        </p:txBody>
      </p:sp>
      <p:sp>
        <p:nvSpPr>
          <p:cNvPr id="7" name="Rectangle 6">
            <a:extLst>
              <a:ext uri="{FF2B5EF4-FFF2-40B4-BE49-F238E27FC236}">
                <a16:creationId xmlns:a16="http://schemas.microsoft.com/office/drawing/2014/main" id="{4058B43D-E759-4579-B63C-90C361F35181}"/>
              </a:ext>
            </a:extLst>
          </p:cNvPr>
          <p:cNvSpPr>
            <a:spLocks noGrp="1"/>
          </p:cNvSpPr>
          <p:nvPr/>
        </p:nvSpPr>
        <p:spPr>
          <a:xfrm>
            <a:off x="4600575" y="1714500"/>
            <a:ext cx="2990850" cy="323850"/>
          </a:xfrm>
          <a:prstGeom prst="rect">
            <a:avLst/>
          </a:prstGeom>
          <a:noFill/>
          <a:ln w="0">
            <a:noFill/>
          </a:ln>
        </p:spPr>
        <p:txBody>
          <a:bodyPr wrap="square" lIns="0" tIns="0" rIns="0" bIns="0" anchor="ctr">
            <a:normAutofit/>
          </a:bodyPr>
          <a:lstStyle/>
          <a:p>
            <a:pPr algn="l">
              <a:lnSpc>
                <a:spcPct val="100000"/>
              </a:lnSpc>
              <a:buNone/>
              <a:defRPr sz="1575" b="1" i="0">
                <a:solidFill>
                  <a:srgbClr val="A31F34"/>
                </a:solidFill>
                <a:latin typeface="Calibri"/>
                <a:ea typeface="Calibri"/>
                <a:cs typeface="Calibri"/>
              </a:defRPr>
            </a:pPr>
            <a:r>
              <a:rPr sz="1575" b="1" i="0">
                <a:solidFill>
                  <a:srgbClr val="A31F34"/>
                </a:solidFill>
                <a:latin typeface="Calibri"/>
                <a:ea typeface="Calibri"/>
                <a:cs typeface="Calibri"/>
              </a:rPr>
              <a:t>2  Keep vector + decompose</a:t>
            </a:r>
          </a:p>
        </p:txBody>
      </p:sp>
      <p:sp>
        <p:nvSpPr>
          <p:cNvPr id="8" name="Rectangle 7">
            <a:extLst>
              <a:ext uri="{FF2B5EF4-FFF2-40B4-BE49-F238E27FC236}">
                <a16:creationId xmlns:a16="http://schemas.microsoft.com/office/drawing/2014/main" id="{78664EA2-8B3B-49C9-8A13-34AFC622484B}"/>
              </a:ext>
            </a:extLst>
          </p:cNvPr>
          <p:cNvSpPr>
            <a:spLocks noGrp="1"/>
          </p:cNvSpPr>
          <p:nvPr/>
        </p:nvSpPr>
        <p:spPr>
          <a:xfrm>
            <a:off x="4600575" y="2105025"/>
            <a:ext cx="2990850" cy="2667000"/>
          </a:xfrm>
          <a:prstGeom prst="rect">
            <a:avLst/>
          </a:prstGeom>
          <a:noFill/>
          <a:ln w="0">
            <a:noFill/>
          </a:ln>
        </p:spPr>
        <p:txBody>
          <a:bodyPr wrap="square" lIns="0" tIns="0" rIns="0" bIns="0" anchor="t">
            <a:normAutofit/>
          </a:bodyPr>
          <a:lstStyle/>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Vector K=7 baseline</a:t>
            </a:r>
          </a:p>
          <a:p>
            <a:endParaRPr sz="1238" b="0" i="0">
              <a:solidFill>
                <a:srgbClr val="111111"/>
              </a:solidFill>
              <a:latin typeface="Calibri"/>
              <a:ea typeface="Calibri"/>
              <a:cs typeface="Calibri"/>
            </a:endParaRP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Quality      0.747</a:t>
            </a: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Article recall  0.899</a:t>
            </a: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Mean context  127.0K chars</a:t>
            </a:r>
          </a:p>
          <a:p>
            <a:endParaRPr sz="1238" b="0" i="0">
              <a:solidFill>
                <a:srgbClr val="111111"/>
              </a:solidFill>
              <a:latin typeface="Calibri"/>
              <a:ea typeface="Calibri"/>
              <a:cs typeface="Calibri"/>
            </a:endParaRP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Entity-aware decomposition adds one focused search per named person, place, event, or work so a full-question search does not bury a required entity.</a:t>
            </a:r>
          </a:p>
        </p:txBody>
      </p:sp>
      <p:sp>
        <p:nvSpPr>
          <p:cNvPr id="9" name="Rounded Rectangle 8">
            <a:extLst>
              <a:ext uri="{FF2B5EF4-FFF2-40B4-BE49-F238E27FC236}">
                <a16:creationId xmlns:a16="http://schemas.microsoft.com/office/drawing/2014/main" id="{16961B2B-873E-4B8C-8B96-127DE87978A1}"/>
              </a:ext>
            </a:extLst>
          </p:cNvPr>
          <p:cNvSpPr>
            <a:spLocks noGrp="1"/>
          </p:cNvSpPr>
          <p:nvPr/>
        </p:nvSpPr>
        <p:spPr>
          <a:xfrm>
            <a:off x="8239125" y="1571625"/>
            <a:ext cx="3333750" cy="3333750"/>
          </a:xfrm>
          <a:prstGeom prst="roundRect">
            <a:avLst>
              <a:gd name="adj" fmla="val 2286"/>
            </a:avLst>
          </a:prstGeom>
          <a:solidFill>
            <a:srgbClr val="E8F4F5"/>
          </a:solidFill>
          <a:ln w="9525">
            <a:solidFill>
              <a:srgbClr val="B8DDE0"/>
            </a:solidFill>
            <a:prstDash val="solid"/>
          </a:ln>
        </p:spPr>
        <p:txBody>
          <a:bodyPr/>
          <a:lstStyle/>
          <a:p>
            <a:endParaRPr lang="en-US"/>
          </a:p>
        </p:txBody>
      </p:sp>
      <p:sp>
        <p:nvSpPr>
          <p:cNvPr id="10" name="Rectangle 9">
            <a:extLst>
              <a:ext uri="{FF2B5EF4-FFF2-40B4-BE49-F238E27FC236}">
                <a16:creationId xmlns:a16="http://schemas.microsoft.com/office/drawing/2014/main" id="{A93B49A7-EAB5-4BE9-980A-6761DE21BEA8}"/>
              </a:ext>
            </a:extLst>
          </p:cNvPr>
          <p:cNvSpPr>
            <a:spLocks noGrp="1"/>
          </p:cNvSpPr>
          <p:nvPr/>
        </p:nvSpPr>
        <p:spPr>
          <a:xfrm>
            <a:off x="8410575" y="1714500"/>
            <a:ext cx="2990850" cy="323850"/>
          </a:xfrm>
          <a:prstGeom prst="rect">
            <a:avLst/>
          </a:prstGeom>
          <a:noFill/>
          <a:ln w="0">
            <a:noFill/>
          </a:ln>
        </p:spPr>
        <p:txBody>
          <a:bodyPr wrap="square" lIns="0" tIns="0" rIns="0" bIns="0" anchor="ctr">
            <a:normAutofit/>
          </a:bodyPr>
          <a:lstStyle/>
          <a:p>
            <a:pPr algn="l">
              <a:lnSpc>
                <a:spcPct val="100000"/>
              </a:lnSpc>
              <a:buNone/>
              <a:defRPr sz="1575" b="1" i="0">
                <a:solidFill>
                  <a:srgbClr val="087E8B"/>
                </a:solidFill>
                <a:latin typeface="Calibri"/>
                <a:ea typeface="Calibri"/>
                <a:cs typeface="Calibri"/>
              </a:defRPr>
            </a:pPr>
            <a:r>
              <a:rPr sz="1575" b="1" i="0">
                <a:solidFill>
                  <a:srgbClr val="087E8B"/>
                </a:solidFill>
                <a:latin typeface="Calibri"/>
                <a:ea typeface="Calibri"/>
                <a:cs typeface="Calibri"/>
              </a:rPr>
              <a:t>3  Keep graph as fallback</a:t>
            </a:r>
          </a:p>
        </p:txBody>
      </p:sp>
      <p:sp>
        <p:nvSpPr>
          <p:cNvPr id="11" name="Rectangle 10">
            <a:extLst>
              <a:ext uri="{FF2B5EF4-FFF2-40B4-BE49-F238E27FC236}">
                <a16:creationId xmlns:a16="http://schemas.microsoft.com/office/drawing/2014/main" id="{4DEE3594-308B-4A73-8069-041BDD443017}"/>
              </a:ext>
            </a:extLst>
          </p:cNvPr>
          <p:cNvSpPr>
            <a:spLocks noGrp="1"/>
          </p:cNvSpPr>
          <p:nvPr/>
        </p:nvSpPr>
        <p:spPr>
          <a:xfrm>
            <a:off x="8410575" y="2105025"/>
            <a:ext cx="2990850" cy="2667000"/>
          </a:xfrm>
          <a:prstGeom prst="rect">
            <a:avLst/>
          </a:prstGeom>
          <a:noFill/>
          <a:ln w="0">
            <a:noFill/>
          </a:ln>
        </p:spPr>
        <p:txBody>
          <a:bodyPr wrap="square" lIns="0" tIns="0" rIns="0" bIns="0" anchor="t">
            <a:normAutofit/>
          </a:bodyPr>
          <a:lstStyle/>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A one-hop in-corpus link graph widens only when evidence is still missing.</a:t>
            </a:r>
          </a:p>
          <a:p>
            <a:endParaRPr sz="1238" b="0" i="0">
              <a:solidFill>
                <a:srgbClr val="111111"/>
              </a:solidFill>
              <a:latin typeface="Calibri"/>
              <a:ea typeface="Calibri"/>
              <a:cs typeface="Calibri"/>
            </a:endParaRP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Vector-only recall  0.899</a:t>
            </a: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With graph        0.939</a:t>
            </a: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Answer quality     0.754 (flat)</a:t>
            </a:r>
          </a:p>
          <a:p>
            <a:endParaRPr sz="1238" b="0" i="0">
              <a:solidFill>
                <a:srgbClr val="111111"/>
              </a:solidFill>
              <a:latin typeface="Calibri"/>
              <a:ea typeface="Calibri"/>
              <a:cs typeface="Calibri"/>
            </a:endParaRPr>
          </a:p>
          <a:p>
            <a:pPr algn="l">
              <a:lnSpc>
                <a:spcPct val="98000"/>
              </a:lnSpc>
              <a:buNone/>
              <a:defRPr sz="1238" b="0" i="0">
                <a:solidFill>
                  <a:srgbClr val="111111"/>
                </a:solidFill>
                <a:latin typeface="Calibri"/>
                <a:ea typeface="Calibri"/>
                <a:cs typeface="Calibri"/>
              </a:defRPr>
            </a:pPr>
            <a:r>
              <a:rPr sz="1238" b="0" i="0">
                <a:solidFill>
                  <a:srgbClr val="111111"/>
                </a:solidFill>
                <a:latin typeface="Calibri"/>
                <a:ea typeface="Calibri"/>
                <a:cs typeface="Calibri"/>
              </a:rPr>
              <a:t>The graph survived for recall, not because it raised answer quality.</a:t>
            </a:r>
          </a:p>
        </p:txBody>
      </p:sp>
      <p:sp>
        <p:nvSpPr>
          <p:cNvPr id="12" name="Rounded Rectangle 11">
            <a:extLst>
              <a:ext uri="{FF2B5EF4-FFF2-40B4-BE49-F238E27FC236}">
                <a16:creationId xmlns:a16="http://schemas.microsoft.com/office/drawing/2014/main" id="{AC013E68-9BD3-4DEB-9AEA-7E19AFBCF6A5}"/>
              </a:ext>
            </a:extLst>
          </p:cNvPr>
          <p:cNvSpPr>
            <a:spLocks noGrp="1"/>
          </p:cNvSpPr>
          <p:nvPr/>
        </p:nvSpPr>
        <p:spPr>
          <a:xfrm>
            <a:off x="904875" y="5219700"/>
            <a:ext cx="10382250" cy="647700"/>
          </a:xfrm>
          <a:prstGeom prst="roundRect">
            <a:avLst>
              <a:gd name="adj" fmla="val 8824"/>
            </a:avLst>
          </a:prstGeom>
          <a:solidFill>
            <a:srgbClr val="FFFFFF"/>
          </a:solidFill>
          <a:ln w="9525">
            <a:solidFill>
              <a:srgbClr val="D8D8D8"/>
            </a:solidFill>
            <a:prstDash val="solid"/>
          </a:ln>
        </p:spPr>
        <p:txBody>
          <a:bodyPr/>
          <a:lstStyle/>
          <a:p>
            <a:endParaRPr lang="en-US"/>
          </a:p>
        </p:txBody>
      </p:sp>
      <p:sp>
        <p:nvSpPr>
          <p:cNvPr id="13" name="Rectangle 12">
            <a:extLst>
              <a:ext uri="{FF2B5EF4-FFF2-40B4-BE49-F238E27FC236}">
                <a16:creationId xmlns:a16="http://schemas.microsoft.com/office/drawing/2014/main" id="{ED50B1CA-C972-4EC4-A8C7-0295EF67F551}"/>
              </a:ext>
            </a:extLst>
          </p:cNvPr>
          <p:cNvSpPr>
            <a:spLocks noGrp="1"/>
          </p:cNvSpPr>
          <p:nvPr/>
        </p:nvSpPr>
        <p:spPr>
          <a:xfrm>
            <a:off x="1143000" y="5381625"/>
            <a:ext cx="1666875" cy="285750"/>
          </a:xfrm>
          <a:prstGeom prst="rect">
            <a:avLst/>
          </a:prstGeom>
          <a:noFill/>
          <a:ln w="0">
            <a:noFill/>
          </a:ln>
        </p:spPr>
        <p:txBody>
          <a:bodyPr wrap="square" lIns="0" tIns="0" rIns="0" bIns="0" anchor="ctr">
            <a:normAutofit/>
          </a:bodyPr>
          <a:lstStyle/>
          <a:p>
            <a:pPr algn="l">
              <a:lnSpc>
                <a:spcPct val="100000"/>
              </a:lnSpc>
              <a:buNone/>
              <a:defRPr sz="1200" b="1" i="0">
                <a:solidFill>
                  <a:srgbClr val="A31F34"/>
                </a:solidFill>
                <a:latin typeface="Calibri"/>
                <a:ea typeface="Calibri"/>
                <a:cs typeface="Calibri"/>
              </a:defRPr>
            </a:pPr>
            <a:r>
              <a:rPr sz="1200" b="1" i="0">
                <a:solidFill>
                  <a:srgbClr val="A31F34"/>
                </a:solidFill>
                <a:latin typeface="Calibri"/>
                <a:ea typeface="Calibri"/>
                <a:cs typeface="Calibri"/>
              </a:rPr>
              <a:t>SURVIVING STACK</a:t>
            </a:r>
          </a:p>
        </p:txBody>
      </p:sp>
      <p:sp>
        <p:nvSpPr>
          <p:cNvPr id="14" name="Rectangle 13">
            <a:extLst>
              <a:ext uri="{FF2B5EF4-FFF2-40B4-BE49-F238E27FC236}">
                <a16:creationId xmlns:a16="http://schemas.microsoft.com/office/drawing/2014/main" id="{3A63F20C-E8F5-4BF6-965C-B710DC5771D3}"/>
              </a:ext>
            </a:extLst>
          </p:cNvPr>
          <p:cNvSpPr>
            <a:spLocks noGrp="1"/>
          </p:cNvSpPr>
          <p:nvPr/>
        </p:nvSpPr>
        <p:spPr>
          <a:xfrm>
            <a:off x="2905125" y="5334000"/>
            <a:ext cx="7524750" cy="381000"/>
          </a:xfrm>
          <a:prstGeom prst="rect">
            <a:avLst/>
          </a:prstGeom>
          <a:noFill/>
          <a:ln w="0">
            <a:noFill/>
          </a:ln>
        </p:spPr>
        <p:txBody>
          <a:bodyPr wrap="square" lIns="0" tIns="0" rIns="0" bIns="0" anchor="ctr">
            <a:normAutofit/>
          </a:bodyPr>
          <a:lstStyle/>
          <a:p>
            <a:pPr algn="ctr">
              <a:lnSpc>
                <a:spcPct val="100000"/>
              </a:lnSpc>
              <a:buNone/>
              <a:defRPr sz="1650" b="1" i="0">
                <a:solidFill>
                  <a:srgbClr val="111111"/>
                </a:solidFill>
                <a:latin typeface="Calibri"/>
                <a:ea typeface="Calibri"/>
                <a:cs typeface="Calibri"/>
              </a:defRPr>
            </a:pPr>
            <a:r>
              <a:rPr sz="1650" b="1" i="0">
                <a:solidFill>
                  <a:srgbClr val="111111"/>
                </a:solidFill>
                <a:latin typeface="Calibri"/>
                <a:ea typeface="Calibri"/>
                <a:cs typeface="Calibri"/>
              </a:rPr>
              <a:t>vector search  •  entity queries  •  TOC review  •  graph fallback</a:t>
            </a:r>
          </a:p>
        </p:txBody>
      </p:sp>
      <p:sp>
        <p:nvSpPr>
          <p:cNvPr id="15" name="Rectangle 14">
            <a:extLst>
              <a:ext uri="{FF2B5EF4-FFF2-40B4-BE49-F238E27FC236}">
                <a16:creationId xmlns:a16="http://schemas.microsoft.com/office/drawing/2014/main" id="{CDE361C5-B103-44D6-AF65-07153ADDD97A}"/>
              </a:ext>
            </a:extLst>
          </p:cNvPr>
          <p:cNvSpPr>
            <a:spLocks noGrp="1"/>
          </p:cNvSpPr>
          <p:nvPr/>
        </p:nvSpPr>
        <p:spPr>
          <a:xfrm>
            <a:off x="1047750" y="6019800"/>
            <a:ext cx="10096500" cy="304800"/>
          </a:xfrm>
          <a:prstGeom prst="rect">
            <a:avLst/>
          </a:prstGeom>
          <a:noFill/>
          <a:ln w="0">
            <a:noFill/>
          </a:ln>
        </p:spPr>
        <p:txBody>
          <a:bodyPr wrap="square" lIns="0" tIns="0" rIns="0" bIns="0" anchor="t">
            <a:normAutofit/>
          </a:bodyPr>
          <a:lstStyle/>
          <a:p>
            <a:pPr algn="ctr">
              <a:lnSpc>
                <a:spcPct val="100000"/>
              </a:lnSpc>
              <a:buNone/>
              <a:defRPr sz="1050" b="0" i="0">
                <a:solidFill>
                  <a:srgbClr val="5E5E5E"/>
                </a:solidFill>
                <a:latin typeface="Calibri"/>
                <a:ea typeface="Calibri"/>
                <a:cs typeface="Calibri"/>
              </a:defRPr>
            </a:pPr>
            <a:r>
              <a:rPr sz="1050" b="0" i="0">
                <a:solidFill>
                  <a:srgbClr val="5E5E5E"/>
                </a:solidFill>
                <a:latin typeface="Calibri"/>
                <a:ea typeface="Calibri"/>
                <a:cs typeface="Calibri"/>
              </a:rPr>
              <a:t>Scoped conclusion: the measured hybrid lost under this corpus, K, weighting, embedding, prompt, and model—not that BM25 is universally ineffective.</a:t>
            </a:r>
          </a:p>
        </p:txBody>
      </p:sp>
    </p:spTree>
    <p:extLst>
      <p:ext uri="{BB962C8B-B14F-4D97-AF65-F5344CB8AC3E}">
        <p14:creationId xmlns:p14="http://schemas.microsoft.com/office/powerpoint/2010/main" val="3377101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vision-title">
            <a:extLst>
              <a:ext uri="{FF2B5EF4-FFF2-40B4-BE49-F238E27FC236}">
                <a16:creationId xmlns:a16="http://schemas.microsoft.com/office/drawing/2014/main" id="{66FF3482-F8F0-42F3-BC92-4DA9841C2786}"/>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The agentic core that survived</a:t>
            </a:r>
          </a:p>
        </p:txBody>
      </p:sp>
      <p:sp>
        <p:nvSpPr>
          <p:cNvPr id="2" name="revision-subtitle">
            <a:extLst>
              <a:ext uri="{FF2B5EF4-FFF2-40B4-BE49-F238E27FC236}">
                <a16:creationId xmlns:a16="http://schemas.microsoft.com/office/drawing/2014/main" id="{878D271D-D987-44D6-891C-FB18ED746F2D}"/>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The final graph kept only capabilities that solved a localized failure and remained observable in AgentState.</a:t>
            </a:r>
          </a:p>
        </p:txBody>
      </p:sp>
      <p:sp>
        <p:nvSpPr>
          <p:cNvPr id="3" name="Rounded Rectangle 2">
            <a:extLst>
              <a:ext uri="{FF2B5EF4-FFF2-40B4-BE49-F238E27FC236}">
                <a16:creationId xmlns:a16="http://schemas.microsoft.com/office/drawing/2014/main" id="{A1097C0C-EA40-4D79-ADB4-E26D8BCD2DDF}"/>
              </a:ext>
            </a:extLst>
          </p:cNvPr>
          <p:cNvSpPr>
            <a:spLocks noGrp="1"/>
          </p:cNvSpPr>
          <p:nvPr/>
        </p:nvSpPr>
        <p:spPr>
          <a:xfrm>
            <a:off x="762000" y="1428750"/>
            <a:ext cx="10668000" cy="742950"/>
          </a:xfrm>
          <a:prstGeom prst="roundRect">
            <a:avLst>
              <a:gd name="adj" fmla="val 8974"/>
            </a:avLst>
          </a:prstGeom>
          <a:solidFill>
            <a:srgbClr val="F7E9EC"/>
          </a:solidFill>
          <a:ln w="9525">
            <a:solidFill>
              <a:srgbClr val="E6BBC4"/>
            </a:solidFill>
            <a:prstDash val="solid"/>
          </a:ln>
        </p:spPr>
        <p:txBody>
          <a:bodyPr/>
          <a:lstStyle/>
          <a:p>
            <a:endParaRPr lang="en-US"/>
          </a:p>
        </p:txBody>
      </p:sp>
      <p:sp>
        <p:nvSpPr>
          <p:cNvPr id="4" name="Rectangle 3">
            <a:extLst>
              <a:ext uri="{FF2B5EF4-FFF2-40B4-BE49-F238E27FC236}">
                <a16:creationId xmlns:a16="http://schemas.microsoft.com/office/drawing/2014/main" id="{ADA96AAB-D010-468C-A0FE-9803392ABF37}"/>
              </a:ext>
            </a:extLst>
          </p:cNvPr>
          <p:cNvSpPr>
            <a:spLocks noGrp="1"/>
          </p:cNvSpPr>
          <p:nvPr/>
        </p:nvSpPr>
        <p:spPr>
          <a:xfrm>
            <a:off x="1047750" y="1504950"/>
            <a:ext cx="1333500" cy="552450"/>
          </a:xfrm>
          <a:prstGeom prst="rect">
            <a:avLst/>
          </a:prstGeom>
          <a:noFill/>
          <a:ln w="0">
            <a:noFill/>
          </a:ln>
        </p:spPr>
        <p:txBody>
          <a:bodyPr wrap="square" lIns="0" tIns="0" rIns="0" bIns="0" anchor="ctr">
            <a:normAutofit/>
          </a:bodyPr>
          <a:lstStyle/>
          <a:p>
            <a:pPr algn="ctr">
              <a:lnSpc>
                <a:spcPct val="100000"/>
              </a:lnSpc>
              <a:buNone/>
              <a:defRPr sz="2850" b="1" i="0">
                <a:solidFill>
                  <a:srgbClr val="A31F34"/>
                </a:solidFill>
                <a:latin typeface="Calibri"/>
                <a:ea typeface="Calibri"/>
                <a:cs typeface="Calibri"/>
              </a:defRPr>
            </a:pPr>
            <a:r>
              <a:rPr sz="2850" b="1" i="0">
                <a:solidFill>
                  <a:srgbClr val="A31F34"/>
                </a:solidFill>
                <a:latin typeface="Calibri"/>
                <a:ea typeface="Calibri"/>
                <a:cs typeface="Calibri"/>
              </a:rPr>
              <a:t>1.000</a:t>
            </a:r>
          </a:p>
        </p:txBody>
      </p:sp>
      <p:sp>
        <p:nvSpPr>
          <p:cNvPr id="5" name="Rectangle 4">
            <a:extLst>
              <a:ext uri="{FF2B5EF4-FFF2-40B4-BE49-F238E27FC236}">
                <a16:creationId xmlns:a16="http://schemas.microsoft.com/office/drawing/2014/main" id="{D02FEA73-E756-46A7-BC76-6DE36641AED5}"/>
              </a:ext>
            </a:extLst>
          </p:cNvPr>
          <p:cNvSpPr>
            <a:spLocks noGrp="1"/>
          </p:cNvSpPr>
          <p:nvPr/>
        </p:nvSpPr>
        <p:spPr>
          <a:xfrm>
            <a:off x="2476500" y="1619250"/>
            <a:ext cx="5000625" cy="361950"/>
          </a:xfrm>
          <a:prstGeom prst="rect">
            <a:avLst/>
          </a:prstGeom>
          <a:noFill/>
          <a:ln w="0">
            <a:noFill/>
          </a:ln>
        </p:spPr>
        <p:txBody>
          <a:bodyPr wrap="square" lIns="0" tIns="0" rIns="0" bIns="0" anchor="ctr">
            <a:normAutofit fontScale="97988"/>
          </a:bodyPr>
          <a:lstStyle/>
          <a:p>
            <a:pPr algn="l">
              <a:lnSpc>
                <a:spcPct val="100000"/>
              </a:lnSpc>
              <a:buNone/>
              <a:defRPr sz="1575" b="1" i="0">
                <a:solidFill>
                  <a:srgbClr val="111111"/>
                </a:solidFill>
                <a:latin typeface="Calibri"/>
                <a:ea typeface="Calibri"/>
                <a:cs typeface="Calibri"/>
              </a:defRPr>
            </a:pPr>
            <a:r>
              <a:rPr sz="1575" b="1" i="0">
                <a:solidFill>
                  <a:srgbClr val="111111"/>
                </a:solidFill>
                <a:latin typeface="Calibri"/>
                <a:ea typeface="Calibri"/>
                <a:cs typeface="Calibri"/>
              </a:rPr>
              <a:t>article recall in the 5.1 and 6.1 validation survivor runs</a:t>
            </a:r>
          </a:p>
        </p:txBody>
      </p:sp>
      <p:sp>
        <p:nvSpPr>
          <p:cNvPr id="6" name="Rectangle 5">
            <a:extLst>
              <a:ext uri="{FF2B5EF4-FFF2-40B4-BE49-F238E27FC236}">
                <a16:creationId xmlns:a16="http://schemas.microsoft.com/office/drawing/2014/main" id="{BE8B0C57-F149-4CAB-A07C-3BB009DE36D0}"/>
              </a:ext>
            </a:extLst>
          </p:cNvPr>
          <p:cNvSpPr>
            <a:spLocks noGrp="1"/>
          </p:cNvSpPr>
          <p:nvPr/>
        </p:nvSpPr>
        <p:spPr>
          <a:xfrm>
            <a:off x="7667625" y="1628775"/>
            <a:ext cx="3333750" cy="361950"/>
          </a:xfrm>
          <a:prstGeom prst="rect">
            <a:avLst/>
          </a:prstGeom>
          <a:noFill/>
          <a:ln w="0">
            <a:noFill/>
          </a:ln>
        </p:spPr>
        <p:txBody>
          <a:bodyPr wrap="square" lIns="0" tIns="0" rIns="0" bIns="0" anchor="ctr">
            <a:normAutofit/>
          </a:bodyPr>
          <a:lstStyle/>
          <a:p>
            <a:pPr algn="ctr">
              <a:lnSpc>
                <a:spcPct val="100000"/>
              </a:lnSpc>
              <a:buNone/>
              <a:defRPr sz="1163" b="0" i="0">
                <a:solidFill>
                  <a:srgbClr val="5E5E5E"/>
                </a:solidFill>
                <a:latin typeface="Calibri"/>
                <a:ea typeface="Calibri"/>
                <a:cs typeface="Calibri"/>
              </a:defRPr>
            </a:pPr>
            <a:r>
              <a:rPr sz="1163" b="0" i="0">
                <a:solidFill>
                  <a:srgbClr val="5E5E5E"/>
                </a:solidFill>
                <a:latin typeface="Calibri"/>
                <a:ea typeface="Calibri"/>
                <a:cs typeface="Calibri"/>
              </a:rPr>
              <a:t>7.1: 99.3% — one request-typing edge case in 75 question-runs</a:t>
            </a:r>
          </a:p>
        </p:txBody>
      </p:sp>
      <p:sp>
        <p:nvSpPr>
          <p:cNvPr id="7" name="Rectangle 6">
            <a:extLst>
              <a:ext uri="{FF2B5EF4-FFF2-40B4-BE49-F238E27FC236}">
                <a16:creationId xmlns:a16="http://schemas.microsoft.com/office/drawing/2014/main" id="{6FF752E4-60DE-44BF-BBAF-61A4E0D52C63}"/>
              </a:ext>
            </a:extLst>
          </p:cNvPr>
          <p:cNvSpPr>
            <a:spLocks noGrp="1"/>
          </p:cNvSpPr>
          <p:nvPr/>
        </p:nvSpPr>
        <p:spPr>
          <a:xfrm>
            <a:off x="762000" y="2409825"/>
            <a:ext cx="2762250" cy="409575"/>
          </a:xfrm>
          <a:prstGeom prst="rect">
            <a:avLst/>
          </a:prstGeom>
          <a:solidFill>
            <a:srgbClr val="A31F34"/>
          </a:solidFill>
          <a:ln w="9525">
            <a:solidFill>
              <a:srgbClr val="FFFFFF"/>
            </a:solidFill>
            <a:prstDash val="solid"/>
          </a:ln>
        </p:spPr>
        <p:txBody>
          <a:bodyPr/>
          <a:lstStyle/>
          <a:p>
            <a:endParaRPr lang="en-US"/>
          </a:p>
        </p:txBody>
      </p:sp>
      <p:sp>
        <p:nvSpPr>
          <p:cNvPr id="8" name="Rectangle 7">
            <a:extLst>
              <a:ext uri="{FF2B5EF4-FFF2-40B4-BE49-F238E27FC236}">
                <a16:creationId xmlns:a16="http://schemas.microsoft.com/office/drawing/2014/main" id="{A308196B-4A19-4351-A693-C7839E7762B2}"/>
              </a:ext>
            </a:extLst>
          </p:cNvPr>
          <p:cNvSpPr>
            <a:spLocks noGrp="1"/>
          </p:cNvSpPr>
          <p:nvPr/>
        </p:nvSpPr>
        <p:spPr>
          <a:xfrm>
            <a:off x="857250" y="2486025"/>
            <a:ext cx="2571750" cy="257175"/>
          </a:xfrm>
          <a:prstGeom prst="rect">
            <a:avLst/>
          </a:prstGeom>
          <a:noFill/>
          <a:ln w="0">
            <a:noFill/>
          </a:ln>
        </p:spPr>
        <p:txBody>
          <a:bodyPr wrap="square" lIns="0" tIns="0" rIns="0" bIns="0" anchor="ctr">
            <a:normAutofit/>
          </a:bodyPr>
          <a:lstStyle/>
          <a:p>
            <a:pPr algn="l">
              <a:lnSpc>
                <a:spcPct val="100000"/>
              </a:lnSpc>
              <a:buNone/>
              <a:defRPr sz="1238" b="1" i="0">
                <a:solidFill>
                  <a:srgbClr val="FFFFFF"/>
                </a:solidFill>
                <a:latin typeface="Calibri"/>
                <a:ea typeface="Calibri"/>
                <a:cs typeface="Calibri"/>
              </a:defRPr>
            </a:pPr>
            <a:r>
              <a:rPr sz="1238" b="1" i="0">
                <a:solidFill>
                  <a:srgbClr val="FFFFFF"/>
                </a:solidFill>
                <a:latin typeface="Calibri"/>
                <a:ea typeface="Calibri"/>
                <a:cs typeface="Calibri"/>
              </a:rPr>
              <a:t>Observed failure</a:t>
            </a:r>
          </a:p>
        </p:txBody>
      </p:sp>
      <p:sp>
        <p:nvSpPr>
          <p:cNvPr id="9" name="Rectangle 8">
            <a:extLst>
              <a:ext uri="{FF2B5EF4-FFF2-40B4-BE49-F238E27FC236}">
                <a16:creationId xmlns:a16="http://schemas.microsoft.com/office/drawing/2014/main" id="{5D52C5BF-1427-4D21-BB4D-78986944AE1C}"/>
              </a:ext>
            </a:extLst>
          </p:cNvPr>
          <p:cNvSpPr>
            <a:spLocks noGrp="1"/>
          </p:cNvSpPr>
          <p:nvPr/>
        </p:nvSpPr>
        <p:spPr>
          <a:xfrm>
            <a:off x="3524250" y="2409825"/>
            <a:ext cx="3714750" cy="409575"/>
          </a:xfrm>
          <a:prstGeom prst="rect">
            <a:avLst/>
          </a:prstGeom>
          <a:solidFill>
            <a:srgbClr val="A31F34"/>
          </a:solidFill>
          <a:ln w="9525">
            <a:solidFill>
              <a:srgbClr val="FFFFFF"/>
            </a:solidFill>
            <a:prstDash val="solid"/>
          </a:ln>
        </p:spPr>
        <p:txBody>
          <a:bodyPr/>
          <a:lstStyle/>
          <a:p>
            <a:endParaRPr lang="en-US"/>
          </a:p>
        </p:txBody>
      </p:sp>
      <p:sp>
        <p:nvSpPr>
          <p:cNvPr id="10" name="Rectangle 9">
            <a:extLst>
              <a:ext uri="{FF2B5EF4-FFF2-40B4-BE49-F238E27FC236}">
                <a16:creationId xmlns:a16="http://schemas.microsoft.com/office/drawing/2014/main" id="{5E5A528B-8FD8-4DAD-965C-295477F9A3D5}"/>
              </a:ext>
            </a:extLst>
          </p:cNvPr>
          <p:cNvSpPr>
            <a:spLocks noGrp="1"/>
          </p:cNvSpPr>
          <p:nvPr/>
        </p:nvSpPr>
        <p:spPr>
          <a:xfrm>
            <a:off x="3619500" y="2486025"/>
            <a:ext cx="3524250" cy="257175"/>
          </a:xfrm>
          <a:prstGeom prst="rect">
            <a:avLst/>
          </a:prstGeom>
          <a:noFill/>
          <a:ln w="0">
            <a:noFill/>
          </a:ln>
        </p:spPr>
        <p:txBody>
          <a:bodyPr wrap="square" lIns="0" tIns="0" rIns="0" bIns="0" anchor="ctr">
            <a:normAutofit/>
          </a:bodyPr>
          <a:lstStyle/>
          <a:p>
            <a:pPr algn="ctr">
              <a:lnSpc>
                <a:spcPct val="100000"/>
              </a:lnSpc>
              <a:buNone/>
              <a:defRPr sz="1238" b="1" i="0">
                <a:solidFill>
                  <a:srgbClr val="FFFFFF"/>
                </a:solidFill>
                <a:latin typeface="Calibri"/>
                <a:ea typeface="Calibri"/>
                <a:cs typeface="Calibri"/>
              </a:defRPr>
            </a:pPr>
            <a:r>
              <a:rPr sz="1238" b="1" i="0">
                <a:solidFill>
                  <a:srgbClr val="FFFFFF"/>
                </a:solidFill>
                <a:latin typeface="Calibri"/>
                <a:ea typeface="Calibri"/>
                <a:cs typeface="Calibri"/>
              </a:rPr>
              <a:t>Capability that survived</a:t>
            </a:r>
          </a:p>
        </p:txBody>
      </p:sp>
      <p:sp>
        <p:nvSpPr>
          <p:cNvPr id="11" name="Rectangle 10">
            <a:extLst>
              <a:ext uri="{FF2B5EF4-FFF2-40B4-BE49-F238E27FC236}">
                <a16:creationId xmlns:a16="http://schemas.microsoft.com/office/drawing/2014/main" id="{D2A8E424-0905-4348-9366-C660A643B407}"/>
              </a:ext>
            </a:extLst>
          </p:cNvPr>
          <p:cNvSpPr>
            <a:spLocks noGrp="1"/>
          </p:cNvSpPr>
          <p:nvPr/>
        </p:nvSpPr>
        <p:spPr>
          <a:xfrm>
            <a:off x="7239000" y="2409825"/>
            <a:ext cx="4191000" cy="409575"/>
          </a:xfrm>
          <a:prstGeom prst="rect">
            <a:avLst/>
          </a:prstGeom>
          <a:solidFill>
            <a:srgbClr val="A31F34"/>
          </a:solidFill>
          <a:ln w="9525">
            <a:solidFill>
              <a:srgbClr val="FFFFFF"/>
            </a:solidFill>
            <a:prstDash val="solid"/>
          </a:ln>
        </p:spPr>
        <p:txBody>
          <a:bodyPr/>
          <a:lstStyle/>
          <a:p>
            <a:endParaRPr lang="en-US"/>
          </a:p>
        </p:txBody>
      </p:sp>
      <p:sp>
        <p:nvSpPr>
          <p:cNvPr id="12" name="Rectangle 11">
            <a:extLst>
              <a:ext uri="{FF2B5EF4-FFF2-40B4-BE49-F238E27FC236}">
                <a16:creationId xmlns:a16="http://schemas.microsoft.com/office/drawing/2014/main" id="{8B02B9F3-18D8-435D-8878-4A9E440EB00B}"/>
              </a:ext>
            </a:extLst>
          </p:cNvPr>
          <p:cNvSpPr>
            <a:spLocks noGrp="1"/>
          </p:cNvSpPr>
          <p:nvPr/>
        </p:nvSpPr>
        <p:spPr>
          <a:xfrm>
            <a:off x="7334250" y="2486025"/>
            <a:ext cx="4000500" cy="257175"/>
          </a:xfrm>
          <a:prstGeom prst="rect">
            <a:avLst/>
          </a:prstGeom>
          <a:noFill/>
          <a:ln w="0">
            <a:noFill/>
          </a:ln>
        </p:spPr>
        <p:txBody>
          <a:bodyPr wrap="square" lIns="0" tIns="0" rIns="0" bIns="0" anchor="ctr">
            <a:normAutofit/>
          </a:bodyPr>
          <a:lstStyle/>
          <a:p>
            <a:pPr algn="ctr">
              <a:lnSpc>
                <a:spcPct val="100000"/>
              </a:lnSpc>
              <a:buNone/>
              <a:defRPr sz="1238" b="1" i="0">
                <a:solidFill>
                  <a:srgbClr val="FFFFFF"/>
                </a:solidFill>
                <a:latin typeface="Calibri"/>
                <a:ea typeface="Calibri"/>
                <a:cs typeface="Calibri"/>
              </a:defRPr>
            </a:pPr>
            <a:r>
              <a:rPr sz="1238" b="1" i="0">
                <a:solidFill>
                  <a:srgbClr val="FFFFFF"/>
                </a:solidFill>
                <a:latin typeface="Calibri"/>
                <a:ea typeface="Calibri"/>
                <a:cs typeface="Calibri"/>
              </a:rPr>
              <a:t>Why it remained</a:t>
            </a:r>
          </a:p>
        </p:txBody>
      </p:sp>
      <p:sp>
        <p:nvSpPr>
          <p:cNvPr id="13" name="Rectangle 12">
            <a:extLst>
              <a:ext uri="{FF2B5EF4-FFF2-40B4-BE49-F238E27FC236}">
                <a16:creationId xmlns:a16="http://schemas.microsoft.com/office/drawing/2014/main" id="{4E215561-AECC-4FCD-99C9-715D2DC99631}"/>
              </a:ext>
            </a:extLst>
          </p:cNvPr>
          <p:cNvSpPr>
            <a:spLocks noGrp="1"/>
          </p:cNvSpPr>
          <p:nvPr/>
        </p:nvSpPr>
        <p:spPr>
          <a:xfrm>
            <a:off x="762000" y="2819400"/>
            <a:ext cx="2762250" cy="590550"/>
          </a:xfrm>
          <a:prstGeom prst="rect">
            <a:avLst/>
          </a:prstGeom>
          <a:solidFill>
            <a:srgbClr val="FFFFFF"/>
          </a:solidFill>
          <a:ln w="7620">
            <a:solidFill>
              <a:srgbClr val="D8D8D8"/>
            </a:solidFill>
            <a:prstDash val="solid"/>
          </a:ln>
        </p:spPr>
        <p:txBody>
          <a:bodyPr/>
          <a:lstStyle/>
          <a:p>
            <a:endParaRPr lang="en-US"/>
          </a:p>
        </p:txBody>
      </p:sp>
      <p:sp>
        <p:nvSpPr>
          <p:cNvPr id="14" name="Rectangle 13">
            <a:extLst>
              <a:ext uri="{FF2B5EF4-FFF2-40B4-BE49-F238E27FC236}">
                <a16:creationId xmlns:a16="http://schemas.microsoft.com/office/drawing/2014/main" id="{27093899-B776-4ABD-B470-EBF1D5747AF9}"/>
              </a:ext>
            </a:extLst>
          </p:cNvPr>
          <p:cNvSpPr>
            <a:spLocks noGrp="1"/>
          </p:cNvSpPr>
          <p:nvPr/>
        </p:nvSpPr>
        <p:spPr>
          <a:xfrm>
            <a:off x="876300" y="2895600"/>
            <a:ext cx="2533650" cy="438150"/>
          </a:xfrm>
          <a:prstGeom prst="rect">
            <a:avLst/>
          </a:prstGeom>
          <a:noFill/>
          <a:ln w="0">
            <a:noFill/>
          </a:ln>
        </p:spPr>
        <p:txBody>
          <a:bodyPr wrap="square" lIns="0" tIns="0" rIns="0" bIns="0" anchor="ctr">
            <a:normAutofit/>
          </a:bodyPr>
          <a:lstStyle/>
          <a:p>
            <a:pPr algn="l">
              <a:lnSpc>
                <a:spcPct val="95000"/>
              </a:lnSpc>
              <a:buNone/>
              <a:defRPr sz="1140" b="0" i="0">
                <a:solidFill>
                  <a:srgbClr val="111111"/>
                </a:solidFill>
                <a:latin typeface="Calibri"/>
                <a:ea typeface="Calibri"/>
                <a:cs typeface="Calibri"/>
              </a:defRPr>
            </a:pPr>
            <a:r>
              <a:rPr sz="1140" b="0" i="0">
                <a:solidFill>
                  <a:srgbClr val="111111"/>
                </a:solidFill>
                <a:latin typeface="Calibri"/>
                <a:ea typeface="Calibri"/>
                <a:cs typeface="Calibri"/>
              </a:rPr>
              <a:t>Named entity buried</a:t>
            </a:r>
          </a:p>
        </p:txBody>
      </p:sp>
      <p:sp>
        <p:nvSpPr>
          <p:cNvPr id="15" name="Rectangle 14">
            <a:extLst>
              <a:ext uri="{FF2B5EF4-FFF2-40B4-BE49-F238E27FC236}">
                <a16:creationId xmlns:a16="http://schemas.microsoft.com/office/drawing/2014/main" id="{E92D0A2E-6494-459F-927C-A1F4F2300C19}"/>
              </a:ext>
            </a:extLst>
          </p:cNvPr>
          <p:cNvSpPr>
            <a:spLocks noGrp="1"/>
          </p:cNvSpPr>
          <p:nvPr/>
        </p:nvSpPr>
        <p:spPr>
          <a:xfrm>
            <a:off x="3524250" y="2819400"/>
            <a:ext cx="3714750" cy="590550"/>
          </a:xfrm>
          <a:prstGeom prst="rect">
            <a:avLst/>
          </a:prstGeom>
          <a:solidFill>
            <a:srgbClr val="FFFFFF"/>
          </a:solidFill>
          <a:ln w="7620">
            <a:solidFill>
              <a:srgbClr val="D8D8D8"/>
            </a:solidFill>
            <a:prstDash val="solid"/>
          </a:ln>
        </p:spPr>
        <p:txBody>
          <a:bodyPr/>
          <a:lstStyle/>
          <a:p>
            <a:endParaRPr lang="en-US"/>
          </a:p>
        </p:txBody>
      </p:sp>
      <p:sp>
        <p:nvSpPr>
          <p:cNvPr id="16" name="Rectangle 15">
            <a:extLst>
              <a:ext uri="{FF2B5EF4-FFF2-40B4-BE49-F238E27FC236}">
                <a16:creationId xmlns:a16="http://schemas.microsoft.com/office/drawing/2014/main" id="{0E2B6084-AFDF-4C90-B8B5-19FF12EEAC2A}"/>
              </a:ext>
            </a:extLst>
          </p:cNvPr>
          <p:cNvSpPr>
            <a:spLocks noGrp="1"/>
          </p:cNvSpPr>
          <p:nvPr/>
        </p:nvSpPr>
        <p:spPr>
          <a:xfrm>
            <a:off x="3638550" y="2895600"/>
            <a:ext cx="3486150" cy="438150"/>
          </a:xfrm>
          <a:prstGeom prst="rect">
            <a:avLst/>
          </a:prstGeom>
          <a:noFill/>
          <a:ln w="0">
            <a:noFill/>
          </a:ln>
        </p:spPr>
        <p:txBody>
          <a:bodyPr wrap="square" lIns="0" tIns="0" rIns="0" bIns="0" anchor="ctr">
            <a:normAutofit/>
          </a:bodyPr>
          <a:lstStyle/>
          <a:p>
            <a:pPr algn="l">
              <a:lnSpc>
                <a:spcPct val="95000"/>
              </a:lnSpc>
              <a:buNone/>
              <a:defRPr sz="1238" b="1" i="0">
                <a:solidFill>
                  <a:srgbClr val="7E1728"/>
                </a:solidFill>
                <a:latin typeface="Calibri"/>
                <a:ea typeface="Calibri"/>
                <a:cs typeface="Calibri"/>
              </a:defRPr>
            </a:pPr>
            <a:r>
              <a:rPr sz="1238" b="1" i="0">
                <a:solidFill>
                  <a:srgbClr val="7E1728"/>
                </a:solidFill>
                <a:latin typeface="Calibri"/>
                <a:ea typeface="Calibri"/>
                <a:cs typeface="Calibri"/>
              </a:rPr>
              <a:t>Entity-aware decomposer</a:t>
            </a:r>
          </a:p>
        </p:txBody>
      </p:sp>
      <p:sp>
        <p:nvSpPr>
          <p:cNvPr id="17" name="Rectangle 16">
            <a:extLst>
              <a:ext uri="{FF2B5EF4-FFF2-40B4-BE49-F238E27FC236}">
                <a16:creationId xmlns:a16="http://schemas.microsoft.com/office/drawing/2014/main" id="{70E1E5EC-57DB-49B9-8841-4A16E5E8A135}"/>
              </a:ext>
            </a:extLst>
          </p:cNvPr>
          <p:cNvSpPr>
            <a:spLocks noGrp="1"/>
          </p:cNvSpPr>
          <p:nvPr/>
        </p:nvSpPr>
        <p:spPr>
          <a:xfrm>
            <a:off x="7239000" y="2819400"/>
            <a:ext cx="4191000" cy="590550"/>
          </a:xfrm>
          <a:prstGeom prst="rect">
            <a:avLst/>
          </a:prstGeom>
          <a:solidFill>
            <a:srgbClr val="FFFFFF"/>
          </a:solidFill>
          <a:ln w="7620">
            <a:solidFill>
              <a:srgbClr val="D8D8D8"/>
            </a:solidFill>
            <a:prstDash val="solid"/>
          </a:ln>
        </p:spPr>
        <p:txBody>
          <a:bodyPr/>
          <a:lstStyle/>
          <a:p>
            <a:endParaRPr lang="en-US"/>
          </a:p>
        </p:txBody>
      </p:sp>
      <p:sp>
        <p:nvSpPr>
          <p:cNvPr id="18" name="Rectangle 17">
            <a:extLst>
              <a:ext uri="{FF2B5EF4-FFF2-40B4-BE49-F238E27FC236}">
                <a16:creationId xmlns:a16="http://schemas.microsoft.com/office/drawing/2014/main" id="{F16BFF4D-6F3F-43D2-9CA1-EE719E63BAE7}"/>
              </a:ext>
            </a:extLst>
          </p:cNvPr>
          <p:cNvSpPr>
            <a:spLocks noGrp="1"/>
          </p:cNvSpPr>
          <p:nvPr/>
        </p:nvSpPr>
        <p:spPr>
          <a:xfrm>
            <a:off x="7353300" y="2895600"/>
            <a:ext cx="3962400" cy="438150"/>
          </a:xfrm>
          <a:prstGeom prst="rect">
            <a:avLst/>
          </a:prstGeom>
          <a:noFill/>
          <a:ln w="0">
            <a:noFill/>
          </a:ln>
        </p:spPr>
        <p:txBody>
          <a:bodyPr wrap="square" lIns="0" tIns="0" rIns="0" bIns="0" anchor="ctr">
            <a:normAutofit/>
          </a:bodyPr>
          <a:lstStyle/>
          <a:p>
            <a:pPr algn="l">
              <a:lnSpc>
                <a:spcPct val="95000"/>
              </a:lnSpc>
              <a:buNone/>
              <a:defRPr sz="1140" b="0" i="0">
                <a:solidFill>
                  <a:srgbClr val="111111"/>
                </a:solidFill>
                <a:latin typeface="Calibri"/>
                <a:ea typeface="Calibri"/>
                <a:cs typeface="Calibri"/>
              </a:defRPr>
            </a:pPr>
            <a:r>
              <a:rPr sz="1140" b="0" i="0">
                <a:solidFill>
                  <a:srgbClr val="111111"/>
                </a:solidFill>
                <a:latin typeface="Calibri"/>
                <a:ea typeface="Calibri"/>
                <a:cs typeface="Calibri"/>
              </a:rPr>
              <a:t>Searches each named entity separately before merging candidates.</a:t>
            </a:r>
          </a:p>
        </p:txBody>
      </p:sp>
      <p:sp>
        <p:nvSpPr>
          <p:cNvPr id="19" name="Rectangle 18">
            <a:extLst>
              <a:ext uri="{FF2B5EF4-FFF2-40B4-BE49-F238E27FC236}">
                <a16:creationId xmlns:a16="http://schemas.microsoft.com/office/drawing/2014/main" id="{818D87A9-2319-48ED-979E-4FF9C6AE61E1}"/>
              </a:ext>
            </a:extLst>
          </p:cNvPr>
          <p:cNvSpPr>
            <a:spLocks noGrp="1"/>
          </p:cNvSpPr>
          <p:nvPr/>
        </p:nvSpPr>
        <p:spPr>
          <a:xfrm>
            <a:off x="762000" y="3409950"/>
            <a:ext cx="2762250" cy="590550"/>
          </a:xfrm>
          <a:prstGeom prst="rect">
            <a:avLst/>
          </a:prstGeom>
          <a:solidFill>
            <a:srgbClr val="F3F3F3"/>
          </a:solidFill>
          <a:ln w="7620">
            <a:solidFill>
              <a:srgbClr val="D8D8D8"/>
            </a:solidFill>
            <a:prstDash val="solid"/>
          </a:ln>
        </p:spPr>
        <p:txBody>
          <a:bodyPr/>
          <a:lstStyle/>
          <a:p>
            <a:endParaRPr lang="en-US"/>
          </a:p>
        </p:txBody>
      </p:sp>
      <p:sp>
        <p:nvSpPr>
          <p:cNvPr id="20" name="Rectangle 19">
            <a:extLst>
              <a:ext uri="{FF2B5EF4-FFF2-40B4-BE49-F238E27FC236}">
                <a16:creationId xmlns:a16="http://schemas.microsoft.com/office/drawing/2014/main" id="{DE20D546-91B5-4ECD-BF0F-41716AEC0969}"/>
              </a:ext>
            </a:extLst>
          </p:cNvPr>
          <p:cNvSpPr>
            <a:spLocks noGrp="1"/>
          </p:cNvSpPr>
          <p:nvPr/>
        </p:nvSpPr>
        <p:spPr>
          <a:xfrm>
            <a:off x="876300" y="3486150"/>
            <a:ext cx="2533650" cy="438150"/>
          </a:xfrm>
          <a:prstGeom prst="rect">
            <a:avLst/>
          </a:prstGeom>
          <a:noFill/>
          <a:ln w="0">
            <a:noFill/>
          </a:ln>
        </p:spPr>
        <p:txBody>
          <a:bodyPr wrap="square" lIns="0" tIns="0" rIns="0" bIns="0" anchor="ctr">
            <a:normAutofit/>
          </a:bodyPr>
          <a:lstStyle/>
          <a:p>
            <a:pPr algn="l">
              <a:lnSpc>
                <a:spcPct val="95000"/>
              </a:lnSpc>
              <a:buNone/>
              <a:defRPr sz="1140" b="0" i="0">
                <a:solidFill>
                  <a:srgbClr val="111111"/>
                </a:solidFill>
                <a:latin typeface="Calibri"/>
                <a:ea typeface="Calibri"/>
                <a:cs typeface="Calibri"/>
              </a:defRPr>
            </a:pPr>
            <a:r>
              <a:rPr sz="1140" b="0" i="0">
                <a:solidFill>
                  <a:srgbClr val="111111"/>
                </a:solidFill>
                <a:latin typeface="Calibri"/>
                <a:ea typeface="Calibri"/>
                <a:cs typeface="Calibri"/>
              </a:rPr>
              <a:t>Right article, wrong snippet</a:t>
            </a:r>
          </a:p>
        </p:txBody>
      </p:sp>
      <p:sp>
        <p:nvSpPr>
          <p:cNvPr id="21" name="Rectangle 20">
            <a:extLst>
              <a:ext uri="{FF2B5EF4-FFF2-40B4-BE49-F238E27FC236}">
                <a16:creationId xmlns:a16="http://schemas.microsoft.com/office/drawing/2014/main" id="{8532B88F-95CC-47A3-9899-EEEC33B2517E}"/>
              </a:ext>
            </a:extLst>
          </p:cNvPr>
          <p:cNvSpPr>
            <a:spLocks noGrp="1"/>
          </p:cNvSpPr>
          <p:nvPr/>
        </p:nvSpPr>
        <p:spPr>
          <a:xfrm>
            <a:off x="3524250" y="3409950"/>
            <a:ext cx="3714750" cy="590550"/>
          </a:xfrm>
          <a:prstGeom prst="rect">
            <a:avLst/>
          </a:prstGeom>
          <a:solidFill>
            <a:srgbClr val="F3F3F3"/>
          </a:solidFill>
          <a:ln w="7620">
            <a:solidFill>
              <a:srgbClr val="D8D8D8"/>
            </a:solidFill>
            <a:prstDash val="solid"/>
          </a:ln>
        </p:spPr>
        <p:txBody>
          <a:bodyPr/>
          <a:lstStyle/>
          <a:p>
            <a:endParaRPr lang="en-US"/>
          </a:p>
        </p:txBody>
      </p:sp>
      <p:sp>
        <p:nvSpPr>
          <p:cNvPr id="22" name="Rectangle 21">
            <a:extLst>
              <a:ext uri="{FF2B5EF4-FFF2-40B4-BE49-F238E27FC236}">
                <a16:creationId xmlns:a16="http://schemas.microsoft.com/office/drawing/2014/main" id="{16462E44-4BBC-4AA9-B363-ED28FA756C8B}"/>
              </a:ext>
            </a:extLst>
          </p:cNvPr>
          <p:cNvSpPr>
            <a:spLocks noGrp="1"/>
          </p:cNvSpPr>
          <p:nvPr/>
        </p:nvSpPr>
        <p:spPr>
          <a:xfrm>
            <a:off x="3638550" y="3486150"/>
            <a:ext cx="3486150" cy="438150"/>
          </a:xfrm>
          <a:prstGeom prst="rect">
            <a:avLst/>
          </a:prstGeom>
          <a:noFill/>
          <a:ln w="0">
            <a:noFill/>
          </a:ln>
        </p:spPr>
        <p:txBody>
          <a:bodyPr wrap="square" lIns="0" tIns="0" rIns="0" bIns="0" anchor="ctr">
            <a:normAutofit/>
          </a:bodyPr>
          <a:lstStyle/>
          <a:p>
            <a:pPr algn="l">
              <a:lnSpc>
                <a:spcPct val="95000"/>
              </a:lnSpc>
              <a:buNone/>
              <a:defRPr sz="1238" b="1" i="0">
                <a:solidFill>
                  <a:srgbClr val="7E1728"/>
                </a:solidFill>
                <a:latin typeface="Calibri"/>
                <a:ea typeface="Calibri"/>
                <a:cs typeface="Calibri"/>
              </a:defRPr>
            </a:pPr>
            <a:r>
              <a:rPr sz="1238" b="1" i="0">
                <a:solidFill>
                  <a:srgbClr val="7E1728"/>
                </a:solidFill>
                <a:latin typeface="Calibri"/>
                <a:ea typeface="Calibri"/>
                <a:cs typeface="Calibri"/>
              </a:rPr>
              <a:t>TOC reviewer</a:t>
            </a:r>
          </a:p>
        </p:txBody>
      </p:sp>
      <p:sp>
        <p:nvSpPr>
          <p:cNvPr id="23" name="Rectangle 22">
            <a:extLst>
              <a:ext uri="{FF2B5EF4-FFF2-40B4-BE49-F238E27FC236}">
                <a16:creationId xmlns:a16="http://schemas.microsoft.com/office/drawing/2014/main" id="{F7CC8D15-22AD-4295-81AD-CF78C2B5A05E}"/>
              </a:ext>
            </a:extLst>
          </p:cNvPr>
          <p:cNvSpPr>
            <a:spLocks noGrp="1"/>
          </p:cNvSpPr>
          <p:nvPr/>
        </p:nvSpPr>
        <p:spPr>
          <a:xfrm>
            <a:off x="7239000" y="3409950"/>
            <a:ext cx="4191000" cy="590550"/>
          </a:xfrm>
          <a:prstGeom prst="rect">
            <a:avLst/>
          </a:prstGeom>
          <a:solidFill>
            <a:srgbClr val="F3F3F3"/>
          </a:solidFill>
          <a:ln w="7620">
            <a:solidFill>
              <a:srgbClr val="D8D8D8"/>
            </a:solidFill>
            <a:prstDash val="solid"/>
          </a:ln>
        </p:spPr>
        <p:txBody>
          <a:bodyPr/>
          <a:lstStyle/>
          <a:p>
            <a:endParaRPr lang="en-US"/>
          </a:p>
        </p:txBody>
      </p:sp>
      <p:sp>
        <p:nvSpPr>
          <p:cNvPr id="24" name="Rectangle 23">
            <a:extLst>
              <a:ext uri="{FF2B5EF4-FFF2-40B4-BE49-F238E27FC236}">
                <a16:creationId xmlns:a16="http://schemas.microsoft.com/office/drawing/2014/main" id="{124D2BCD-F701-45D8-8908-2F11798E6E93}"/>
              </a:ext>
            </a:extLst>
          </p:cNvPr>
          <p:cNvSpPr>
            <a:spLocks noGrp="1"/>
          </p:cNvSpPr>
          <p:nvPr/>
        </p:nvSpPr>
        <p:spPr>
          <a:xfrm>
            <a:off x="7353300" y="3486150"/>
            <a:ext cx="3962400" cy="438150"/>
          </a:xfrm>
          <a:prstGeom prst="rect">
            <a:avLst/>
          </a:prstGeom>
          <a:noFill/>
          <a:ln w="0">
            <a:noFill/>
          </a:ln>
        </p:spPr>
        <p:txBody>
          <a:bodyPr wrap="square" lIns="0" tIns="0" rIns="0" bIns="0" anchor="ctr">
            <a:normAutofit/>
          </a:bodyPr>
          <a:lstStyle/>
          <a:p>
            <a:pPr algn="l">
              <a:lnSpc>
                <a:spcPct val="95000"/>
              </a:lnSpc>
              <a:buNone/>
              <a:defRPr sz="1140" b="0" i="0">
                <a:solidFill>
                  <a:srgbClr val="111111"/>
                </a:solidFill>
                <a:latin typeface="Calibri"/>
                <a:ea typeface="Calibri"/>
                <a:cs typeface="Calibri"/>
              </a:defRPr>
            </a:pPr>
            <a:r>
              <a:rPr sz="1140" b="0" i="0">
                <a:solidFill>
                  <a:srgbClr val="111111"/>
                </a:solidFill>
                <a:latin typeface="Calibri"/>
                <a:ea typeface="Calibri"/>
                <a:cs typeface="Calibri"/>
              </a:rPr>
              <a:t>Judges title + section list, then selects section and table IDs.</a:t>
            </a:r>
          </a:p>
        </p:txBody>
      </p:sp>
      <p:sp>
        <p:nvSpPr>
          <p:cNvPr id="25" name="Rectangle 24">
            <a:extLst>
              <a:ext uri="{FF2B5EF4-FFF2-40B4-BE49-F238E27FC236}">
                <a16:creationId xmlns:a16="http://schemas.microsoft.com/office/drawing/2014/main" id="{EB4111A0-FDB2-43C9-95E0-FA5728C0C681}"/>
              </a:ext>
            </a:extLst>
          </p:cNvPr>
          <p:cNvSpPr>
            <a:spLocks noGrp="1"/>
          </p:cNvSpPr>
          <p:nvPr/>
        </p:nvSpPr>
        <p:spPr>
          <a:xfrm>
            <a:off x="762000" y="4000500"/>
            <a:ext cx="2762250" cy="590550"/>
          </a:xfrm>
          <a:prstGeom prst="rect">
            <a:avLst/>
          </a:prstGeom>
          <a:solidFill>
            <a:srgbClr val="FFFFFF"/>
          </a:solidFill>
          <a:ln w="7620">
            <a:solidFill>
              <a:srgbClr val="D8D8D8"/>
            </a:solidFill>
            <a:prstDash val="solid"/>
          </a:ln>
        </p:spPr>
        <p:txBody>
          <a:bodyPr/>
          <a:lstStyle/>
          <a:p>
            <a:endParaRPr lang="en-US"/>
          </a:p>
        </p:txBody>
      </p:sp>
      <p:sp>
        <p:nvSpPr>
          <p:cNvPr id="26" name="Rectangle 25">
            <a:extLst>
              <a:ext uri="{FF2B5EF4-FFF2-40B4-BE49-F238E27FC236}">
                <a16:creationId xmlns:a16="http://schemas.microsoft.com/office/drawing/2014/main" id="{2B9BB8C0-C02D-428B-BC4F-EEE01AE803A4}"/>
              </a:ext>
            </a:extLst>
          </p:cNvPr>
          <p:cNvSpPr>
            <a:spLocks noGrp="1"/>
          </p:cNvSpPr>
          <p:nvPr/>
        </p:nvSpPr>
        <p:spPr>
          <a:xfrm>
            <a:off x="876300" y="4076700"/>
            <a:ext cx="2533650" cy="438150"/>
          </a:xfrm>
          <a:prstGeom prst="rect">
            <a:avLst/>
          </a:prstGeom>
          <a:noFill/>
          <a:ln w="0">
            <a:noFill/>
          </a:ln>
        </p:spPr>
        <p:txBody>
          <a:bodyPr wrap="square" lIns="0" tIns="0" rIns="0" bIns="0" anchor="ctr">
            <a:normAutofit/>
          </a:bodyPr>
          <a:lstStyle/>
          <a:p>
            <a:pPr algn="l">
              <a:lnSpc>
                <a:spcPct val="95000"/>
              </a:lnSpc>
              <a:buNone/>
              <a:defRPr sz="1140" b="0" i="0">
                <a:solidFill>
                  <a:srgbClr val="111111"/>
                </a:solidFill>
                <a:latin typeface="Calibri"/>
                <a:ea typeface="Calibri"/>
                <a:cs typeface="Calibri"/>
              </a:defRPr>
            </a:pPr>
            <a:r>
              <a:rPr sz="1140" b="0" i="0">
                <a:solidFill>
                  <a:srgbClr val="111111"/>
                </a:solidFill>
                <a:latin typeface="Calibri"/>
                <a:ea typeface="Calibri"/>
                <a:cs typeface="Calibri"/>
              </a:rPr>
              <a:t>Evidence still incomplete</a:t>
            </a:r>
          </a:p>
        </p:txBody>
      </p:sp>
      <p:sp>
        <p:nvSpPr>
          <p:cNvPr id="27" name="Rectangle 26">
            <a:extLst>
              <a:ext uri="{FF2B5EF4-FFF2-40B4-BE49-F238E27FC236}">
                <a16:creationId xmlns:a16="http://schemas.microsoft.com/office/drawing/2014/main" id="{A9C1A86A-C2FB-4935-8C4F-1860DCF95418}"/>
              </a:ext>
            </a:extLst>
          </p:cNvPr>
          <p:cNvSpPr>
            <a:spLocks noGrp="1"/>
          </p:cNvSpPr>
          <p:nvPr/>
        </p:nvSpPr>
        <p:spPr>
          <a:xfrm>
            <a:off x="3524250" y="4000500"/>
            <a:ext cx="3714750" cy="590550"/>
          </a:xfrm>
          <a:prstGeom prst="rect">
            <a:avLst/>
          </a:prstGeom>
          <a:solidFill>
            <a:srgbClr val="FFFFFF"/>
          </a:solidFill>
          <a:ln w="7620">
            <a:solidFill>
              <a:srgbClr val="D8D8D8"/>
            </a:solidFill>
            <a:prstDash val="solid"/>
          </a:ln>
        </p:spPr>
        <p:txBody>
          <a:bodyPr/>
          <a:lstStyle/>
          <a:p>
            <a:endParaRPr lang="en-US"/>
          </a:p>
        </p:txBody>
      </p:sp>
      <p:sp>
        <p:nvSpPr>
          <p:cNvPr id="28" name="Rectangle 27">
            <a:extLst>
              <a:ext uri="{FF2B5EF4-FFF2-40B4-BE49-F238E27FC236}">
                <a16:creationId xmlns:a16="http://schemas.microsoft.com/office/drawing/2014/main" id="{E3B38FB0-8F45-4929-9172-4E194E20FD58}"/>
              </a:ext>
            </a:extLst>
          </p:cNvPr>
          <p:cNvSpPr>
            <a:spLocks noGrp="1"/>
          </p:cNvSpPr>
          <p:nvPr/>
        </p:nvSpPr>
        <p:spPr>
          <a:xfrm>
            <a:off x="3638550" y="4076700"/>
            <a:ext cx="3486150" cy="438150"/>
          </a:xfrm>
          <a:prstGeom prst="rect">
            <a:avLst/>
          </a:prstGeom>
          <a:noFill/>
          <a:ln w="0">
            <a:noFill/>
          </a:ln>
        </p:spPr>
        <p:txBody>
          <a:bodyPr wrap="square" lIns="0" tIns="0" rIns="0" bIns="0" anchor="ctr">
            <a:normAutofit/>
          </a:bodyPr>
          <a:lstStyle/>
          <a:p>
            <a:pPr algn="l">
              <a:lnSpc>
                <a:spcPct val="95000"/>
              </a:lnSpc>
              <a:buNone/>
              <a:defRPr sz="1238" b="1" i="0">
                <a:solidFill>
                  <a:srgbClr val="7E1728"/>
                </a:solidFill>
                <a:latin typeface="Calibri"/>
                <a:ea typeface="Calibri"/>
                <a:cs typeface="Calibri"/>
              </a:defRPr>
            </a:pPr>
            <a:r>
              <a:rPr sz="1238" b="1" i="0">
                <a:solidFill>
                  <a:srgbClr val="7E1728"/>
                </a:solidFill>
                <a:latin typeface="Calibri"/>
                <a:ea typeface="Calibri"/>
                <a:cs typeface="Calibri"/>
              </a:rPr>
              <a:t>Assessor + bounded escalation</a:t>
            </a:r>
          </a:p>
        </p:txBody>
      </p:sp>
      <p:sp>
        <p:nvSpPr>
          <p:cNvPr id="29" name="Rectangle 28">
            <a:extLst>
              <a:ext uri="{FF2B5EF4-FFF2-40B4-BE49-F238E27FC236}">
                <a16:creationId xmlns:a16="http://schemas.microsoft.com/office/drawing/2014/main" id="{A15B22CE-839C-4D2A-85A1-C07AA648EDED}"/>
              </a:ext>
            </a:extLst>
          </p:cNvPr>
          <p:cNvSpPr>
            <a:spLocks noGrp="1"/>
          </p:cNvSpPr>
          <p:nvPr/>
        </p:nvSpPr>
        <p:spPr>
          <a:xfrm>
            <a:off x="7239000" y="4000500"/>
            <a:ext cx="4191000" cy="590550"/>
          </a:xfrm>
          <a:prstGeom prst="rect">
            <a:avLst/>
          </a:prstGeom>
          <a:solidFill>
            <a:srgbClr val="FFFFFF"/>
          </a:solidFill>
          <a:ln w="7620">
            <a:solidFill>
              <a:srgbClr val="D8D8D8"/>
            </a:solidFill>
            <a:prstDash val="solid"/>
          </a:ln>
        </p:spPr>
        <p:txBody>
          <a:bodyPr/>
          <a:lstStyle/>
          <a:p>
            <a:endParaRPr lang="en-US"/>
          </a:p>
        </p:txBody>
      </p:sp>
      <p:sp>
        <p:nvSpPr>
          <p:cNvPr id="30" name="Rectangle 29">
            <a:extLst>
              <a:ext uri="{FF2B5EF4-FFF2-40B4-BE49-F238E27FC236}">
                <a16:creationId xmlns:a16="http://schemas.microsoft.com/office/drawing/2014/main" id="{146F0DDF-9158-4965-8C93-066657FB26CA}"/>
              </a:ext>
            </a:extLst>
          </p:cNvPr>
          <p:cNvSpPr>
            <a:spLocks noGrp="1"/>
          </p:cNvSpPr>
          <p:nvPr/>
        </p:nvSpPr>
        <p:spPr>
          <a:xfrm>
            <a:off x="7353300" y="4076700"/>
            <a:ext cx="3962400" cy="438150"/>
          </a:xfrm>
          <a:prstGeom prst="rect">
            <a:avLst/>
          </a:prstGeom>
          <a:noFill/>
          <a:ln w="0">
            <a:noFill/>
          </a:ln>
        </p:spPr>
        <p:txBody>
          <a:bodyPr wrap="square" lIns="0" tIns="0" rIns="0" bIns="0" anchor="ctr">
            <a:normAutofit/>
          </a:bodyPr>
          <a:lstStyle/>
          <a:p>
            <a:pPr algn="l">
              <a:lnSpc>
                <a:spcPct val="95000"/>
              </a:lnSpc>
              <a:buNone/>
              <a:defRPr sz="1140" b="0" i="0">
                <a:solidFill>
                  <a:srgbClr val="111111"/>
                </a:solidFill>
                <a:latin typeface="Calibri"/>
                <a:ea typeface="Calibri"/>
                <a:cs typeface="Calibri"/>
              </a:defRPr>
            </a:pPr>
            <a:r>
              <a:rPr sz="1140" b="0" i="0">
                <a:solidFill>
                  <a:srgbClr val="111111"/>
                </a:solidFill>
                <a:latin typeface="Calibri"/>
                <a:ea typeface="Calibri"/>
                <a:cs typeface="Calibri"/>
              </a:rPr>
              <a:t>Requests whole selected articles, then graph neighbors, before answering.</a:t>
            </a:r>
          </a:p>
        </p:txBody>
      </p:sp>
      <p:sp>
        <p:nvSpPr>
          <p:cNvPr id="31" name="Rectangle 30">
            <a:extLst>
              <a:ext uri="{FF2B5EF4-FFF2-40B4-BE49-F238E27FC236}">
                <a16:creationId xmlns:a16="http://schemas.microsoft.com/office/drawing/2014/main" id="{4C2B08C8-CA52-4F35-A370-55466CF103FB}"/>
              </a:ext>
            </a:extLst>
          </p:cNvPr>
          <p:cNvSpPr>
            <a:spLocks noGrp="1"/>
          </p:cNvSpPr>
          <p:nvPr/>
        </p:nvSpPr>
        <p:spPr>
          <a:xfrm>
            <a:off x="762000" y="4591050"/>
            <a:ext cx="2762250" cy="590550"/>
          </a:xfrm>
          <a:prstGeom prst="rect">
            <a:avLst/>
          </a:prstGeom>
          <a:solidFill>
            <a:srgbClr val="F3F3F3"/>
          </a:solidFill>
          <a:ln w="7620">
            <a:solidFill>
              <a:srgbClr val="D8D8D8"/>
            </a:solidFill>
            <a:prstDash val="solid"/>
          </a:ln>
        </p:spPr>
        <p:txBody>
          <a:bodyPr/>
          <a:lstStyle/>
          <a:p>
            <a:endParaRPr lang="en-US"/>
          </a:p>
        </p:txBody>
      </p:sp>
      <p:sp>
        <p:nvSpPr>
          <p:cNvPr id="32" name="Rectangle 31">
            <a:extLst>
              <a:ext uri="{FF2B5EF4-FFF2-40B4-BE49-F238E27FC236}">
                <a16:creationId xmlns:a16="http://schemas.microsoft.com/office/drawing/2014/main" id="{7FE8EAC9-03D5-4ABF-B429-86D2C7018762}"/>
              </a:ext>
            </a:extLst>
          </p:cNvPr>
          <p:cNvSpPr>
            <a:spLocks noGrp="1"/>
          </p:cNvSpPr>
          <p:nvPr/>
        </p:nvSpPr>
        <p:spPr>
          <a:xfrm>
            <a:off x="876300" y="4667250"/>
            <a:ext cx="2533650" cy="438150"/>
          </a:xfrm>
          <a:prstGeom prst="rect">
            <a:avLst/>
          </a:prstGeom>
          <a:noFill/>
          <a:ln w="0">
            <a:noFill/>
          </a:ln>
        </p:spPr>
        <p:txBody>
          <a:bodyPr wrap="square" lIns="0" tIns="0" rIns="0" bIns="0" anchor="ctr">
            <a:normAutofit/>
          </a:bodyPr>
          <a:lstStyle/>
          <a:p>
            <a:pPr algn="l">
              <a:lnSpc>
                <a:spcPct val="95000"/>
              </a:lnSpc>
              <a:buNone/>
              <a:defRPr sz="1140" b="0" i="0">
                <a:solidFill>
                  <a:srgbClr val="111111"/>
                </a:solidFill>
                <a:latin typeface="Calibri"/>
                <a:ea typeface="Calibri"/>
                <a:cs typeface="Calibri"/>
              </a:defRPr>
            </a:pPr>
            <a:r>
              <a:rPr sz="1140" b="0" i="0">
                <a:solidFill>
                  <a:srgbClr val="111111"/>
                </a:solidFill>
                <a:latin typeface="Calibri"/>
                <a:ea typeface="Calibri"/>
                <a:cs typeface="Calibri"/>
              </a:rPr>
              <a:t>Math and exhaustive lists fail</a:t>
            </a:r>
          </a:p>
        </p:txBody>
      </p:sp>
      <p:sp>
        <p:nvSpPr>
          <p:cNvPr id="33" name="Rectangle 32">
            <a:extLst>
              <a:ext uri="{FF2B5EF4-FFF2-40B4-BE49-F238E27FC236}">
                <a16:creationId xmlns:a16="http://schemas.microsoft.com/office/drawing/2014/main" id="{D37D0A11-41C2-4B3E-AD32-A1B89355F236}"/>
              </a:ext>
            </a:extLst>
          </p:cNvPr>
          <p:cNvSpPr>
            <a:spLocks noGrp="1"/>
          </p:cNvSpPr>
          <p:nvPr/>
        </p:nvSpPr>
        <p:spPr>
          <a:xfrm>
            <a:off x="3524250" y="4591050"/>
            <a:ext cx="3714750" cy="590550"/>
          </a:xfrm>
          <a:prstGeom prst="rect">
            <a:avLst/>
          </a:prstGeom>
          <a:solidFill>
            <a:srgbClr val="F3F3F3"/>
          </a:solidFill>
          <a:ln w="7620">
            <a:solidFill>
              <a:srgbClr val="D8D8D8"/>
            </a:solidFill>
            <a:prstDash val="solid"/>
          </a:ln>
        </p:spPr>
        <p:txBody>
          <a:bodyPr/>
          <a:lstStyle/>
          <a:p>
            <a:endParaRPr lang="en-US"/>
          </a:p>
        </p:txBody>
      </p:sp>
      <p:sp>
        <p:nvSpPr>
          <p:cNvPr id="34" name="Rectangle 33">
            <a:extLst>
              <a:ext uri="{FF2B5EF4-FFF2-40B4-BE49-F238E27FC236}">
                <a16:creationId xmlns:a16="http://schemas.microsoft.com/office/drawing/2014/main" id="{0B2EF467-B4FB-473A-B8E5-4268ABE1CE3D}"/>
              </a:ext>
            </a:extLst>
          </p:cNvPr>
          <p:cNvSpPr>
            <a:spLocks noGrp="1"/>
          </p:cNvSpPr>
          <p:nvPr/>
        </p:nvSpPr>
        <p:spPr>
          <a:xfrm>
            <a:off x="3638550" y="4667250"/>
            <a:ext cx="3486150" cy="438150"/>
          </a:xfrm>
          <a:prstGeom prst="rect">
            <a:avLst/>
          </a:prstGeom>
          <a:noFill/>
          <a:ln w="0">
            <a:noFill/>
          </a:ln>
        </p:spPr>
        <p:txBody>
          <a:bodyPr wrap="square" lIns="0" tIns="0" rIns="0" bIns="0" anchor="ctr">
            <a:normAutofit/>
          </a:bodyPr>
          <a:lstStyle/>
          <a:p>
            <a:pPr algn="l">
              <a:lnSpc>
                <a:spcPct val="95000"/>
              </a:lnSpc>
              <a:buNone/>
              <a:defRPr sz="1238" b="1" i="0">
                <a:solidFill>
                  <a:srgbClr val="7E1728"/>
                </a:solidFill>
                <a:latin typeface="Calibri"/>
                <a:ea typeface="Calibri"/>
                <a:cs typeface="Calibri"/>
              </a:defRPr>
            </a:pPr>
            <a:r>
              <a:rPr sz="1238" b="1" i="0">
                <a:solidFill>
                  <a:srgbClr val="7E1728"/>
                </a:solidFill>
                <a:latin typeface="Calibri"/>
                <a:ea typeface="Calibri"/>
                <a:cs typeface="Calibri"/>
              </a:rPr>
              <a:t>Deterministic table branch</a:t>
            </a:r>
          </a:p>
        </p:txBody>
      </p:sp>
      <p:sp>
        <p:nvSpPr>
          <p:cNvPr id="35" name="Rectangle 34">
            <a:extLst>
              <a:ext uri="{FF2B5EF4-FFF2-40B4-BE49-F238E27FC236}">
                <a16:creationId xmlns:a16="http://schemas.microsoft.com/office/drawing/2014/main" id="{24359338-9BE1-4A10-9349-F0845471BD3D}"/>
              </a:ext>
            </a:extLst>
          </p:cNvPr>
          <p:cNvSpPr>
            <a:spLocks noGrp="1"/>
          </p:cNvSpPr>
          <p:nvPr/>
        </p:nvSpPr>
        <p:spPr>
          <a:xfrm>
            <a:off x="7239000" y="4591050"/>
            <a:ext cx="4191000" cy="590550"/>
          </a:xfrm>
          <a:prstGeom prst="rect">
            <a:avLst/>
          </a:prstGeom>
          <a:solidFill>
            <a:srgbClr val="F3F3F3"/>
          </a:solidFill>
          <a:ln w="7620">
            <a:solidFill>
              <a:srgbClr val="D8D8D8"/>
            </a:solidFill>
            <a:prstDash val="solid"/>
          </a:ln>
        </p:spPr>
        <p:txBody>
          <a:bodyPr/>
          <a:lstStyle/>
          <a:p>
            <a:endParaRPr lang="en-US"/>
          </a:p>
        </p:txBody>
      </p:sp>
      <p:sp>
        <p:nvSpPr>
          <p:cNvPr id="36" name="Rectangle 35">
            <a:extLst>
              <a:ext uri="{FF2B5EF4-FFF2-40B4-BE49-F238E27FC236}">
                <a16:creationId xmlns:a16="http://schemas.microsoft.com/office/drawing/2014/main" id="{292987AC-92F9-4F27-8788-25F1F4041686}"/>
              </a:ext>
            </a:extLst>
          </p:cNvPr>
          <p:cNvSpPr>
            <a:spLocks noGrp="1"/>
          </p:cNvSpPr>
          <p:nvPr/>
        </p:nvSpPr>
        <p:spPr>
          <a:xfrm>
            <a:off x="7353300" y="4667250"/>
            <a:ext cx="3962400" cy="438150"/>
          </a:xfrm>
          <a:prstGeom prst="rect">
            <a:avLst/>
          </a:prstGeom>
          <a:noFill/>
          <a:ln w="0">
            <a:noFill/>
          </a:ln>
        </p:spPr>
        <p:txBody>
          <a:bodyPr wrap="square" lIns="0" tIns="0" rIns="0" bIns="0" anchor="ctr">
            <a:normAutofit/>
          </a:bodyPr>
          <a:lstStyle/>
          <a:p>
            <a:pPr algn="l">
              <a:lnSpc>
                <a:spcPct val="95000"/>
              </a:lnSpc>
              <a:buNone/>
              <a:defRPr sz="1140" b="0" i="0">
                <a:solidFill>
                  <a:srgbClr val="111111"/>
                </a:solidFill>
                <a:latin typeface="Calibri"/>
                <a:ea typeface="Calibri"/>
                <a:cs typeface="Calibri"/>
              </a:defRPr>
            </a:pPr>
            <a:r>
              <a:rPr sz="1140" b="0" i="0">
                <a:solidFill>
                  <a:srgbClr val="111111"/>
                </a:solidFill>
                <a:latin typeface="Calibri"/>
                <a:ea typeface="Calibri"/>
                <a:cs typeface="Calibri"/>
              </a:rPr>
              <a:t>A model plans; Python filters, counts, and returns provenance. Details next.</a:t>
            </a:r>
          </a:p>
        </p:txBody>
      </p:sp>
      <p:sp>
        <p:nvSpPr>
          <p:cNvPr id="37" name="Rectangle 36">
            <a:extLst>
              <a:ext uri="{FF2B5EF4-FFF2-40B4-BE49-F238E27FC236}">
                <a16:creationId xmlns:a16="http://schemas.microsoft.com/office/drawing/2014/main" id="{712082EB-7377-40BF-9D24-FB8265C4E2F7}"/>
              </a:ext>
            </a:extLst>
          </p:cNvPr>
          <p:cNvSpPr>
            <a:spLocks noGrp="1"/>
          </p:cNvSpPr>
          <p:nvPr/>
        </p:nvSpPr>
        <p:spPr>
          <a:xfrm>
            <a:off x="762000" y="5181600"/>
            <a:ext cx="2762250" cy="590550"/>
          </a:xfrm>
          <a:prstGeom prst="rect">
            <a:avLst/>
          </a:prstGeom>
          <a:solidFill>
            <a:srgbClr val="FFFFFF"/>
          </a:solidFill>
          <a:ln w="7620">
            <a:solidFill>
              <a:srgbClr val="D8D8D8"/>
            </a:solidFill>
            <a:prstDash val="solid"/>
          </a:ln>
        </p:spPr>
        <p:txBody>
          <a:bodyPr/>
          <a:lstStyle/>
          <a:p>
            <a:endParaRPr lang="en-US"/>
          </a:p>
        </p:txBody>
      </p:sp>
      <p:sp>
        <p:nvSpPr>
          <p:cNvPr id="38" name="Rectangle 37">
            <a:extLst>
              <a:ext uri="{FF2B5EF4-FFF2-40B4-BE49-F238E27FC236}">
                <a16:creationId xmlns:a16="http://schemas.microsoft.com/office/drawing/2014/main" id="{6CED4E7E-DB2B-4DB5-9A44-AA45D62DB99B}"/>
              </a:ext>
            </a:extLst>
          </p:cNvPr>
          <p:cNvSpPr>
            <a:spLocks noGrp="1"/>
          </p:cNvSpPr>
          <p:nvPr/>
        </p:nvSpPr>
        <p:spPr>
          <a:xfrm>
            <a:off x="876300" y="5257800"/>
            <a:ext cx="2533650" cy="438150"/>
          </a:xfrm>
          <a:prstGeom prst="rect">
            <a:avLst/>
          </a:prstGeom>
          <a:noFill/>
          <a:ln w="0">
            <a:noFill/>
          </a:ln>
        </p:spPr>
        <p:txBody>
          <a:bodyPr wrap="square" lIns="0" tIns="0" rIns="0" bIns="0" anchor="ctr">
            <a:normAutofit/>
          </a:bodyPr>
          <a:lstStyle/>
          <a:p>
            <a:pPr algn="l">
              <a:lnSpc>
                <a:spcPct val="95000"/>
              </a:lnSpc>
              <a:buNone/>
              <a:defRPr sz="1140" b="0" i="0">
                <a:solidFill>
                  <a:srgbClr val="111111"/>
                </a:solidFill>
                <a:latin typeface="Calibri"/>
                <a:ea typeface="Calibri"/>
                <a:cs typeface="Calibri"/>
              </a:defRPr>
            </a:pPr>
            <a:r>
              <a:rPr sz="1140" b="0" i="0">
                <a:solidFill>
                  <a:srgbClr val="111111"/>
                </a:solidFill>
                <a:latin typeface="Calibri"/>
                <a:ea typeface="Calibri"/>
                <a:cs typeface="Calibri"/>
              </a:rPr>
              <a:t>Failures were opaque</a:t>
            </a:r>
          </a:p>
        </p:txBody>
      </p:sp>
      <p:sp>
        <p:nvSpPr>
          <p:cNvPr id="39" name="Rectangle 38">
            <a:extLst>
              <a:ext uri="{FF2B5EF4-FFF2-40B4-BE49-F238E27FC236}">
                <a16:creationId xmlns:a16="http://schemas.microsoft.com/office/drawing/2014/main" id="{FC6F8CDF-4480-4C73-9DBA-B829FB47DF25}"/>
              </a:ext>
            </a:extLst>
          </p:cNvPr>
          <p:cNvSpPr>
            <a:spLocks noGrp="1"/>
          </p:cNvSpPr>
          <p:nvPr/>
        </p:nvSpPr>
        <p:spPr>
          <a:xfrm>
            <a:off x="3524250" y="5181600"/>
            <a:ext cx="3714750" cy="590550"/>
          </a:xfrm>
          <a:prstGeom prst="rect">
            <a:avLst/>
          </a:prstGeom>
          <a:solidFill>
            <a:srgbClr val="FFFFFF"/>
          </a:solidFill>
          <a:ln w="7620">
            <a:solidFill>
              <a:srgbClr val="D8D8D8"/>
            </a:solidFill>
            <a:prstDash val="solid"/>
          </a:ln>
        </p:spPr>
        <p:txBody>
          <a:bodyPr/>
          <a:lstStyle/>
          <a:p>
            <a:endParaRPr lang="en-US"/>
          </a:p>
        </p:txBody>
      </p:sp>
      <p:sp>
        <p:nvSpPr>
          <p:cNvPr id="40" name="Rectangle 39">
            <a:extLst>
              <a:ext uri="{FF2B5EF4-FFF2-40B4-BE49-F238E27FC236}">
                <a16:creationId xmlns:a16="http://schemas.microsoft.com/office/drawing/2014/main" id="{1D29995C-1839-4C9E-9B35-02EAD5FA8CED}"/>
              </a:ext>
            </a:extLst>
          </p:cNvPr>
          <p:cNvSpPr>
            <a:spLocks noGrp="1"/>
          </p:cNvSpPr>
          <p:nvPr/>
        </p:nvSpPr>
        <p:spPr>
          <a:xfrm>
            <a:off x="3638550" y="5257800"/>
            <a:ext cx="3486150" cy="438150"/>
          </a:xfrm>
          <a:prstGeom prst="rect">
            <a:avLst/>
          </a:prstGeom>
          <a:noFill/>
          <a:ln w="0">
            <a:noFill/>
          </a:ln>
        </p:spPr>
        <p:txBody>
          <a:bodyPr wrap="square" lIns="0" tIns="0" rIns="0" bIns="0" anchor="ctr">
            <a:normAutofit/>
          </a:bodyPr>
          <a:lstStyle/>
          <a:p>
            <a:pPr algn="l">
              <a:lnSpc>
                <a:spcPct val="95000"/>
              </a:lnSpc>
              <a:buNone/>
              <a:defRPr sz="1238" b="1" i="0">
                <a:solidFill>
                  <a:srgbClr val="7E1728"/>
                </a:solidFill>
                <a:latin typeface="Calibri"/>
                <a:ea typeface="Calibri"/>
                <a:cs typeface="Calibri"/>
              </a:defRPr>
            </a:pPr>
            <a:r>
              <a:rPr sz="1238" b="1" i="0">
                <a:solidFill>
                  <a:srgbClr val="7E1728"/>
                </a:solidFill>
                <a:latin typeface="Calibri"/>
                <a:ea typeface="Calibri"/>
                <a:cs typeface="Calibri"/>
              </a:rPr>
              <a:t>AgentState trace</a:t>
            </a:r>
          </a:p>
        </p:txBody>
      </p:sp>
      <p:sp>
        <p:nvSpPr>
          <p:cNvPr id="41" name="Rectangle 40">
            <a:extLst>
              <a:ext uri="{FF2B5EF4-FFF2-40B4-BE49-F238E27FC236}">
                <a16:creationId xmlns:a16="http://schemas.microsoft.com/office/drawing/2014/main" id="{4BB1F168-3AC9-4830-AAF5-A724E87C4014}"/>
              </a:ext>
            </a:extLst>
          </p:cNvPr>
          <p:cNvSpPr>
            <a:spLocks noGrp="1"/>
          </p:cNvSpPr>
          <p:nvPr/>
        </p:nvSpPr>
        <p:spPr>
          <a:xfrm>
            <a:off x="7239000" y="5181600"/>
            <a:ext cx="4191000" cy="590550"/>
          </a:xfrm>
          <a:prstGeom prst="rect">
            <a:avLst/>
          </a:prstGeom>
          <a:solidFill>
            <a:srgbClr val="FFFFFF"/>
          </a:solidFill>
          <a:ln w="7620">
            <a:solidFill>
              <a:srgbClr val="D8D8D8"/>
            </a:solidFill>
            <a:prstDash val="solid"/>
          </a:ln>
        </p:spPr>
        <p:txBody>
          <a:bodyPr/>
          <a:lstStyle/>
          <a:p>
            <a:endParaRPr lang="en-US"/>
          </a:p>
        </p:txBody>
      </p:sp>
      <p:sp>
        <p:nvSpPr>
          <p:cNvPr id="42" name="Rectangle 41">
            <a:extLst>
              <a:ext uri="{FF2B5EF4-FFF2-40B4-BE49-F238E27FC236}">
                <a16:creationId xmlns:a16="http://schemas.microsoft.com/office/drawing/2014/main" id="{941C4300-A12A-4337-B167-A951D61DFC9C}"/>
              </a:ext>
            </a:extLst>
          </p:cNvPr>
          <p:cNvSpPr>
            <a:spLocks noGrp="1"/>
          </p:cNvSpPr>
          <p:nvPr/>
        </p:nvSpPr>
        <p:spPr>
          <a:xfrm>
            <a:off x="7353300" y="5257800"/>
            <a:ext cx="3962400" cy="438150"/>
          </a:xfrm>
          <a:prstGeom prst="rect">
            <a:avLst/>
          </a:prstGeom>
          <a:noFill/>
          <a:ln w="0">
            <a:noFill/>
          </a:ln>
        </p:spPr>
        <p:txBody>
          <a:bodyPr wrap="square" lIns="0" tIns="0" rIns="0" bIns="0" anchor="ctr">
            <a:normAutofit/>
          </a:bodyPr>
          <a:lstStyle/>
          <a:p>
            <a:pPr algn="l">
              <a:lnSpc>
                <a:spcPct val="95000"/>
              </a:lnSpc>
              <a:buNone/>
              <a:defRPr sz="1140" b="0" i="0">
                <a:solidFill>
                  <a:srgbClr val="111111"/>
                </a:solidFill>
                <a:latin typeface="Calibri"/>
                <a:ea typeface="Calibri"/>
                <a:cs typeface="Calibri"/>
              </a:defRPr>
            </a:pPr>
            <a:r>
              <a:rPr sz="1140" b="0" i="0">
                <a:solidFill>
                  <a:srgbClr val="111111"/>
                </a:solidFill>
                <a:latin typeface="Calibri"/>
                <a:ea typeface="Calibri"/>
                <a:cs typeface="Calibri"/>
              </a:rPr>
              <a:t>Records routes, selections, plans, warnings, usage, and terminal evidence.</a:t>
            </a:r>
          </a:p>
        </p:txBody>
      </p:sp>
      <p:sp>
        <p:nvSpPr>
          <p:cNvPr id="43" name="Rectangle 42">
            <a:extLst>
              <a:ext uri="{FF2B5EF4-FFF2-40B4-BE49-F238E27FC236}">
                <a16:creationId xmlns:a16="http://schemas.microsoft.com/office/drawing/2014/main" id="{90EC4112-884F-4796-BEC3-757AAAFA005A}"/>
              </a:ext>
            </a:extLst>
          </p:cNvPr>
          <p:cNvSpPr>
            <a:spLocks noGrp="1"/>
          </p:cNvSpPr>
          <p:nvPr/>
        </p:nvSpPr>
        <p:spPr>
          <a:xfrm>
            <a:off x="1143000" y="5962650"/>
            <a:ext cx="9906000" cy="323850"/>
          </a:xfrm>
          <a:prstGeom prst="rect">
            <a:avLst/>
          </a:prstGeom>
          <a:noFill/>
          <a:ln w="0">
            <a:noFill/>
          </a:ln>
        </p:spPr>
        <p:txBody>
          <a:bodyPr wrap="square" lIns="0" tIns="0" rIns="0" bIns="0" anchor="t">
            <a:normAutofit/>
          </a:bodyPr>
          <a:lstStyle/>
          <a:p>
            <a:pPr algn="ctr">
              <a:lnSpc>
                <a:spcPct val="100000"/>
              </a:lnSpc>
              <a:buNone/>
              <a:defRPr sz="1200" b="1" i="0">
                <a:solidFill>
                  <a:srgbClr val="5E5E5E"/>
                </a:solidFill>
                <a:latin typeface="Calibri"/>
                <a:ea typeface="Calibri"/>
                <a:cs typeface="Calibri"/>
              </a:defRPr>
            </a:pPr>
            <a:r>
              <a:rPr sz="1200" b="1" i="0">
                <a:solidFill>
                  <a:srgbClr val="5E5E5E"/>
                </a:solidFill>
                <a:latin typeface="Calibri"/>
                <a:ea typeface="Calibri"/>
                <a:cs typeface="Calibri"/>
              </a:rPr>
              <a:t>Design rule: model decisions remain bounded; deterministic code performs the calculations; every transition is logged.</a:t>
            </a:r>
          </a:p>
        </p:txBody>
      </p:sp>
    </p:spTree>
    <p:extLst>
      <p:ext uri="{BB962C8B-B14F-4D97-AF65-F5344CB8AC3E}">
        <p14:creationId xmlns:p14="http://schemas.microsoft.com/office/powerpoint/2010/main" val="268178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vision-title">
            <a:extLst>
              <a:ext uri="{FF2B5EF4-FFF2-40B4-BE49-F238E27FC236}">
                <a16:creationId xmlns:a16="http://schemas.microsoft.com/office/drawing/2014/main" id="{57443416-8C0A-4A79-8201-16DD2EE255A0}"/>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Why tables required a separate path</a:t>
            </a:r>
          </a:p>
        </p:txBody>
      </p:sp>
      <p:sp>
        <p:nvSpPr>
          <p:cNvPr id="2" name="revision-subtitle">
            <a:extLst>
              <a:ext uri="{FF2B5EF4-FFF2-40B4-BE49-F238E27FC236}">
                <a16:creationId xmlns:a16="http://schemas.microsoft.com/office/drawing/2014/main" id="{116672B1-FCD7-472C-8638-C44C52797DFB}"/>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Retrieval found the article; structured computation was needed to answer counts, filters, ranges, and exhaustive lists reliably.</a:t>
            </a:r>
          </a:p>
        </p:txBody>
      </p:sp>
      <p:sp>
        <p:nvSpPr>
          <p:cNvPr id="3" name="Rounded Rectangle 2">
            <a:extLst>
              <a:ext uri="{FF2B5EF4-FFF2-40B4-BE49-F238E27FC236}">
                <a16:creationId xmlns:a16="http://schemas.microsoft.com/office/drawing/2014/main" id="{0631C3E6-3681-42D6-B878-DEF00022D970}"/>
              </a:ext>
            </a:extLst>
          </p:cNvPr>
          <p:cNvSpPr>
            <a:spLocks noGrp="1"/>
          </p:cNvSpPr>
          <p:nvPr/>
        </p:nvSpPr>
        <p:spPr>
          <a:xfrm>
            <a:off x="619125" y="1524000"/>
            <a:ext cx="5191125" cy="3695700"/>
          </a:xfrm>
          <a:prstGeom prst="roundRect">
            <a:avLst>
              <a:gd name="adj" fmla="val 2062"/>
            </a:avLst>
          </a:prstGeom>
          <a:solidFill>
            <a:srgbClr val="E8F4F5"/>
          </a:solidFill>
          <a:ln w="9525">
            <a:solidFill>
              <a:srgbClr val="B8DDE0"/>
            </a:solidFill>
            <a:prstDash val="solid"/>
          </a:ln>
        </p:spPr>
        <p:txBody>
          <a:bodyPr/>
          <a:lstStyle/>
          <a:p>
            <a:endParaRPr lang="en-US"/>
          </a:p>
        </p:txBody>
      </p:sp>
      <p:sp>
        <p:nvSpPr>
          <p:cNvPr id="4" name="Rectangle 3">
            <a:extLst>
              <a:ext uri="{FF2B5EF4-FFF2-40B4-BE49-F238E27FC236}">
                <a16:creationId xmlns:a16="http://schemas.microsoft.com/office/drawing/2014/main" id="{3FE41EF8-92E1-4F0C-AC84-48CD0240E0DF}"/>
              </a:ext>
            </a:extLst>
          </p:cNvPr>
          <p:cNvSpPr>
            <a:spLocks noGrp="1"/>
          </p:cNvSpPr>
          <p:nvPr/>
        </p:nvSpPr>
        <p:spPr>
          <a:xfrm>
            <a:off x="790575" y="1666875"/>
            <a:ext cx="4848225" cy="323850"/>
          </a:xfrm>
          <a:prstGeom prst="rect">
            <a:avLst/>
          </a:prstGeom>
          <a:noFill/>
          <a:ln w="0">
            <a:noFill/>
          </a:ln>
        </p:spPr>
        <p:txBody>
          <a:bodyPr wrap="square" lIns="0" tIns="0" rIns="0" bIns="0" anchor="ctr">
            <a:normAutofit/>
          </a:bodyPr>
          <a:lstStyle/>
          <a:p>
            <a:pPr algn="l">
              <a:lnSpc>
                <a:spcPct val="100000"/>
              </a:lnSpc>
              <a:buNone/>
              <a:defRPr sz="1575" b="1" i="0">
                <a:solidFill>
                  <a:srgbClr val="087E8B"/>
                </a:solidFill>
                <a:latin typeface="Calibri"/>
                <a:ea typeface="Calibri"/>
                <a:cs typeface="Calibri"/>
              </a:defRPr>
            </a:pPr>
            <a:r>
              <a:rPr sz="1575" b="1" i="0">
                <a:solidFill>
                  <a:srgbClr val="087E8B"/>
                </a:solidFill>
                <a:latin typeface="Calibri"/>
                <a:ea typeface="Calibri"/>
                <a:cs typeface="Calibri"/>
              </a:rPr>
              <a:t>What the table path does</a:t>
            </a:r>
          </a:p>
        </p:txBody>
      </p:sp>
      <p:sp>
        <p:nvSpPr>
          <p:cNvPr id="5" name="Rectangle 4">
            <a:extLst>
              <a:ext uri="{FF2B5EF4-FFF2-40B4-BE49-F238E27FC236}">
                <a16:creationId xmlns:a16="http://schemas.microsoft.com/office/drawing/2014/main" id="{D044C760-7A4F-4824-BC61-8DA93D56E132}"/>
              </a:ext>
            </a:extLst>
          </p:cNvPr>
          <p:cNvSpPr>
            <a:spLocks noGrp="1"/>
          </p:cNvSpPr>
          <p:nvPr/>
        </p:nvSpPr>
        <p:spPr>
          <a:xfrm>
            <a:off x="790575" y="2057400"/>
            <a:ext cx="4848225" cy="3028950"/>
          </a:xfrm>
          <a:prstGeom prst="rect">
            <a:avLst/>
          </a:prstGeom>
          <a:noFill/>
          <a:ln w="0">
            <a:noFill/>
          </a:ln>
        </p:spPr>
        <p:txBody>
          <a:bodyPr wrap="square" lIns="0" tIns="0" rIns="0" bIns="0" anchor="t">
            <a:normAutofit/>
          </a:bodyPr>
          <a:lstStyle/>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1   TOC review flags a table and selects an immutable table ID.</a:t>
            </a:r>
          </a:p>
          <a:p>
            <a:endParaRPr sz="1275" b="0" i="0">
              <a:solidFill>
                <a:srgbClr val="111111"/>
              </a:solidFill>
              <a:latin typeface="Calibri"/>
              <a:ea typeface="Calibri"/>
              <a:cs typeface="Calibri"/>
            </a:endParaRPr>
          </a:p>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2   NormalizedTable repairs headers and row alignment while preserving warnings.</a:t>
            </a:r>
          </a:p>
          <a:p>
            <a:endParaRPr sz="1275" b="0" i="0">
              <a:solidFill>
                <a:srgbClr val="111111"/>
              </a:solidFill>
              <a:latin typeface="Calibri"/>
              <a:ea typeface="Calibri"/>
              <a:cs typeface="Calibri"/>
            </a:endParaRPr>
          </a:p>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3   The planner chooses lookup, filter, count, aggregate, or intersection.</a:t>
            </a:r>
          </a:p>
          <a:p>
            <a:endParaRPr sz="1275" b="0" i="0">
              <a:solidFill>
                <a:srgbClr val="111111"/>
              </a:solidFill>
              <a:latin typeface="Calibri"/>
              <a:ea typeface="Calibri"/>
              <a:cs typeface="Calibri"/>
            </a:endParaRPr>
          </a:p>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4   Python executes the operation and returns source cells, results, and incomplete-state labels.</a:t>
            </a:r>
          </a:p>
          <a:p>
            <a:endParaRPr sz="1275" b="0" i="0">
              <a:solidFill>
                <a:srgbClr val="111111"/>
              </a:solidFill>
              <a:latin typeface="Calibri"/>
              <a:ea typeface="Calibri"/>
              <a:cs typeface="Calibri"/>
            </a:endParaRPr>
          </a:p>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The model explains the computed evidence; it does not perform the arithmetic itself.</a:t>
            </a:r>
          </a:p>
        </p:txBody>
      </p:sp>
      <p:sp>
        <p:nvSpPr>
          <p:cNvPr id="6" name="Rounded Rectangle 5">
            <a:extLst>
              <a:ext uri="{FF2B5EF4-FFF2-40B4-BE49-F238E27FC236}">
                <a16:creationId xmlns:a16="http://schemas.microsoft.com/office/drawing/2014/main" id="{60112BF4-5C74-49A2-98EE-2C8F9B834659}"/>
              </a:ext>
            </a:extLst>
          </p:cNvPr>
          <p:cNvSpPr>
            <a:spLocks noGrp="1"/>
          </p:cNvSpPr>
          <p:nvPr/>
        </p:nvSpPr>
        <p:spPr>
          <a:xfrm>
            <a:off x="6191250" y="1524000"/>
            <a:ext cx="5381625" cy="1790700"/>
          </a:xfrm>
          <a:prstGeom prst="roundRect">
            <a:avLst>
              <a:gd name="adj" fmla="val 4255"/>
            </a:avLst>
          </a:prstGeom>
          <a:solidFill>
            <a:srgbClr val="F7E9EC"/>
          </a:solidFill>
          <a:ln w="9525">
            <a:solidFill>
              <a:srgbClr val="E6BBC4"/>
            </a:solidFill>
            <a:prstDash val="solid"/>
          </a:ln>
        </p:spPr>
        <p:txBody>
          <a:bodyPr/>
          <a:lstStyle/>
          <a:p>
            <a:endParaRPr lang="en-US"/>
          </a:p>
        </p:txBody>
      </p:sp>
      <p:sp>
        <p:nvSpPr>
          <p:cNvPr id="7" name="Rectangle 6">
            <a:extLst>
              <a:ext uri="{FF2B5EF4-FFF2-40B4-BE49-F238E27FC236}">
                <a16:creationId xmlns:a16="http://schemas.microsoft.com/office/drawing/2014/main" id="{3A4D20E9-4511-41F6-A220-8849FD130BC1}"/>
              </a:ext>
            </a:extLst>
          </p:cNvPr>
          <p:cNvSpPr>
            <a:spLocks noGrp="1"/>
          </p:cNvSpPr>
          <p:nvPr/>
        </p:nvSpPr>
        <p:spPr>
          <a:xfrm>
            <a:off x="6477000" y="1714500"/>
            <a:ext cx="2000250" cy="266700"/>
          </a:xfrm>
          <a:prstGeom prst="rect">
            <a:avLst/>
          </a:prstGeom>
          <a:noFill/>
          <a:ln w="0">
            <a:noFill/>
          </a:ln>
        </p:spPr>
        <p:txBody>
          <a:bodyPr wrap="square" lIns="0" tIns="0" rIns="0" bIns="0" anchor="t">
            <a:normAutofit/>
          </a:bodyPr>
          <a:lstStyle/>
          <a:p>
            <a:pPr algn="l">
              <a:lnSpc>
                <a:spcPct val="100000"/>
              </a:lnSpc>
              <a:buNone/>
              <a:defRPr sz="1200" b="1" i="0">
                <a:solidFill>
                  <a:srgbClr val="A31F34"/>
                </a:solidFill>
                <a:latin typeface="Calibri"/>
                <a:ea typeface="Calibri"/>
                <a:cs typeface="Calibri"/>
              </a:defRPr>
            </a:pPr>
            <a:r>
              <a:rPr sz="1200" b="1" i="0">
                <a:solidFill>
                  <a:srgbClr val="A31F34"/>
                </a:solidFill>
                <a:latin typeface="Calibri"/>
                <a:ea typeface="Calibri"/>
                <a:cs typeface="Calibri"/>
              </a:rPr>
              <a:t>TABLE-HEAVY GT</a:t>
            </a:r>
          </a:p>
        </p:txBody>
      </p:sp>
      <p:sp>
        <p:nvSpPr>
          <p:cNvPr id="8" name="Rectangle 7">
            <a:extLst>
              <a:ext uri="{FF2B5EF4-FFF2-40B4-BE49-F238E27FC236}">
                <a16:creationId xmlns:a16="http://schemas.microsoft.com/office/drawing/2014/main" id="{2A8EC8DE-0479-48ED-B148-4AE0EF9AD1C5}"/>
              </a:ext>
            </a:extLst>
          </p:cNvPr>
          <p:cNvSpPr>
            <a:spLocks noGrp="1"/>
          </p:cNvSpPr>
          <p:nvPr/>
        </p:nvSpPr>
        <p:spPr>
          <a:xfrm>
            <a:off x="6572250" y="2133600"/>
            <a:ext cx="1095375" cy="419100"/>
          </a:xfrm>
          <a:prstGeom prst="rect">
            <a:avLst/>
          </a:prstGeom>
          <a:noFill/>
          <a:ln w="0">
            <a:noFill/>
          </a:ln>
        </p:spPr>
        <p:txBody>
          <a:bodyPr wrap="square" lIns="0" tIns="0" rIns="0" bIns="0" anchor="t">
            <a:normAutofit/>
          </a:bodyPr>
          <a:lstStyle/>
          <a:p>
            <a:pPr algn="ctr">
              <a:lnSpc>
                <a:spcPct val="100000"/>
              </a:lnSpc>
              <a:buNone/>
              <a:defRPr sz="2325" b="1" i="0">
                <a:solidFill>
                  <a:srgbClr val="5E5E5E"/>
                </a:solidFill>
                <a:latin typeface="Calibri"/>
                <a:ea typeface="Calibri"/>
                <a:cs typeface="Calibri"/>
              </a:defRPr>
            </a:pPr>
            <a:r>
              <a:rPr sz="2325" b="1" i="0">
                <a:solidFill>
                  <a:srgbClr val="5E5E5E"/>
                </a:solidFill>
                <a:latin typeface="Calibri"/>
                <a:ea typeface="Calibri"/>
                <a:cs typeface="Calibri"/>
              </a:rPr>
              <a:t>0.579</a:t>
            </a:r>
          </a:p>
        </p:txBody>
      </p:sp>
      <p:sp>
        <p:nvSpPr>
          <p:cNvPr id="9" name="Rectangle 8">
            <a:extLst>
              <a:ext uri="{FF2B5EF4-FFF2-40B4-BE49-F238E27FC236}">
                <a16:creationId xmlns:a16="http://schemas.microsoft.com/office/drawing/2014/main" id="{F1C5DB3F-3F32-4563-ABEB-37C3C459113A}"/>
              </a:ext>
            </a:extLst>
          </p:cNvPr>
          <p:cNvSpPr>
            <a:spLocks noGrp="1"/>
          </p:cNvSpPr>
          <p:nvPr/>
        </p:nvSpPr>
        <p:spPr>
          <a:xfrm>
            <a:off x="8239125" y="2133600"/>
            <a:ext cx="1095375" cy="419100"/>
          </a:xfrm>
          <a:prstGeom prst="rect">
            <a:avLst/>
          </a:prstGeom>
          <a:noFill/>
          <a:ln w="0">
            <a:noFill/>
          </a:ln>
        </p:spPr>
        <p:txBody>
          <a:bodyPr wrap="square" lIns="0" tIns="0" rIns="0" bIns="0" anchor="t">
            <a:normAutofit/>
          </a:bodyPr>
          <a:lstStyle/>
          <a:p>
            <a:pPr algn="ctr">
              <a:lnSpc>
                <a:spcPct val="100000"/>
              </a:lnSpc>
              <a:buNone/>
              <a:defRPr sz="2325" b="1" i="0">
                <a:solidFill>
                  <a:srgbClr val="5E5E5E"/>
                </a:solidFill>
                <a:latin typeface="Calibri"/>
                <a:ea typeface="Calibri"/>
                <a:cs typeface="Calibri"/>
              </a:defRPr>
            </a:pPr>
            <a:r>
              <a:rPr sz="2325" b="1" i="0">
                <a:solidFill>
                  <a:srgbClr val="5E5E5E"/>
                </a:solidFill>
                <a:latin typeface="Calibri"/>
                <a:ea typeface="Calibri"/>
                <a:cs typeface="Calibri"/>
              </a:rPr>
              <a:t>0.697</a:t>
            </a:r>
          </a:p>
        </p:txBody>
      </p:sp>
      <p:sp>
        <p:nvSpPr>
          <p:cNvPr id="10" name="Rectangle 9">
            <a:extLst>
              <a:ext uri="{FF2B5EF4-FFF2-40B4-BE49-F238E27FC236}">
                <a16:creationId xmlns:a16="http://schemas.microsoft.com/office/drawing/2014/main" id="{CF0D4A30-4F1B-41A8-B5BF-7BB8E46488FF}"/>
              </a:ext>
            </a:extLst>
          </p:cNvPr>
          <p:cNvSpPr>
            <a:spLocks noGrp="1"/>
          </p:cNvSpPr>
          <p:nvPr/>
        </p:nvSpPr>
        <p:spPr>
          <a:xfrm>
            <a:off x="9906000" y="2133600"/>
            <a:ext cx="1095375" cy="419100"/>
          </a:xfrm>
          <a:prstGeom prst="rect">
            <a:avLst/>
          </a:prstGeom>
          <a:noFill/>
          <a:ln w="0">
            <a:noFill/>
          </a:ln>
        </p:spPr>
        <p:txBody>
          <a:bodyPr wrap="square" lIns="0" tIns="0" rIns="0" bIns="0" anchor="t">
            <a:normAutofit/>
          </a:bodyPr>
          <a:lstStyle/>
          <a:p>
            <a:pPr algn="ctr">
              <a:lnSpc>
                <a:spcPct val="100000"/>
              </a:lnSpc>
              <a:buNone/>
              <a:defRPr sz="2325" b="1" i="0">
                <a:solidFill>
                  <a:srgbClr val="A31F34"/>
                </a:solidFill>
                <a:latin typeface="Calibri"/>
                <a:ea typeface="Calibri"/>
                <a:cs typeface="Calibri"/>
              </a:defRPr>
            </a:pPr>
            <a:r>
              <a:rPr sz="2325" b="1" i="0">
                <a:solidFill>
                  <a:srgbClr val="A31F34"/>
                </a:solidFill>
                <a:latin typeface="Calibri"/>
                <a:ea typeface="Calibri"/>
                <a:cs typeface="Calibri"/>
              </a:rPr>
              <a:t>0.789</a:t>
            </a:r>
          </a:p>
        </p:txBody>
      </p:sp>
      <p:sp>
        <p:nvSpPr>
          <p:cNvPr id="11" name="Rectangle 10">
            <a:extLst>
              <a:ext uri="{FF2B5EF4-FFF2-40B4-BE49-F238E27FC236}">
                <a16:creationId xmlns:a16="http://schemas.microsoft.com/office/drawing/2014/main" id="{E68A2CEA-C988-4F46-9CA6-9A3F7BDE6439}"/>
              </a:ext>
            </a:extLst>
          </p:cNvPr>
          <p:cNvSpPr>
            <a:spLocks noGrp="1"/>
          </p:cNvSpPr>
          <p:nvPr/>
        </p:nvSpPr>
        <p:spPr>
          <a:xfrm>
            <a:off x="6572250" y="2590800"/>
            <a:ext cx="1095375" cy="266700"/>
          </a:xfrm>
          <a:prstGeom prst="rect">
            <a:avLst/>
          </a:prstGeom>
          <a:noFill/>
          <a:ln w="0">
            <a:noFill/>
          </a:ln>
        </p:spPr>
        <p:txBody>
          <a:bodyPr wrap="square" lIns="0" tIns="0" rIns="0" bIns="0" anchor="t">
            <a:normAutofit/>
          </a:bodyPr>
          <a:lstStyle/>
          <a:p>
            <a:pPr algn="ctr">
              <a:lnSpc>
                <a:spcPct val="100000"/>
              </a:lnSpc>
              <a:buNone/>
              <a:defRPr sz="1088" b="0" i="0">
                <a:solidFill>
                  <a:srgbClr val="5E5E5E"/>
                </a:solidFill>
                <a:latin typeface="Calibri"/>
                <a:ea typeface="Calibri"/>
                <a:cs typeface="Calibri"/>
              </a:defRPr>
            </a:pPr>
            <a:r>
              <a:rPr sz="1088" b="0" i="0">
                <a:solidFill>
                  <a:srgbClr val="5E5E5E"/>
                </a:solidFill>
                <a:latin typeface="Calibri"/>
                <a:ea typeface="Calibri"/>
                <a:cs typeface="Calibri"/>
              </a:rPr>
              <a:t>TOC sections</a:t>
            </a:r>
          </a:p>
        </p:txBody>
      </p:sp>
      <p:sp>
        <p:nvSpPr>
          <p:cNvPr id="12" name="Rectangle 11">
            <a:extLst>
              <a:ext uri="{FF2B5EF4-FFF2-40B4-BE49-F238E27FC236}">
                <a16:creationId xmlns:a16="http://schemas.microsoft.com/office/drawing/2014/main" id="{02CC8EEC-0345-4E14-98A4-51E623E60139}"/>
              </a:ext>
            </a:extLst>
          </p:cNvPr>
          <p:cNvSpPr>
            <a:spLocks noGrp="1"/>
          </p:cNvSpPr>
          <p:nvPr/>
        </p:nvSpPr>
        <p:spPr>
          <a:xfrm>
            <a:off x="8239125" y="2590800"/>
            <a:ext cx="1095375" cy="266700"/>
          </a:xfrm>
          <a:prstGeom prst="rect">
            <a:avLst/>
          </a:prstGeom>
          <a:noFill/>
          <a:ln w="0">
            <a:noFill/>
          </a:ln>
        </p:spPr>
        <p:txBody>
          <a:bodyPr wrap="square" lIns="0" tIns="0" rIns="0" bIns="0" anchor="t">
            <a:normAutofit/>
          </a:bodyPr>
          <a:lstStyle/>
          <a:p>
            <a:pPr algn="ctr">
              <a:lnSpc>
                <a:spcPct val="100000"/>
              </a:lnSpc>
              <a:buNone/>
              <a:defRPr sz="1088" b="0" i="0">
                <a:solidFill>
                  <a:srgbClr val="5E5E5E"/>
                </a:solidFill>
                <a:latin typeface="Calibri"/>
                <a:ea typeface="Calibri"/>
                <a:cs typeface="Calibri"/>
              </a:defRPr>
            </a:pPr>
            <a:r>
              <a:rPr sz="1088" b="0" i="0">
                <a:solidFill>
                  <a:srgbClr val="5E5E5E"/>
                </a:solidFill>
                <a:latin typeface="Calibri"/>
                <a:ea typeface="Calibri"/>
                <a:cs typeface="Calibri"/>
              </a:rPr>
              <a:t>aligned tables</a:t>
            </a:r>
          </a:p>
        </p:txBody>
      </p:sp>
      <p:sp>
        <p:nvSpPr>
          <p:cNvPr id="13" name="Rectangle 12">
            <a:extLst>
              <a:ext uri="{FF2B5EF4-FFF2-40B4-BE49-F238E27FC236}">
                <a16:creationId xmlns:a16="http://schemas.microsoft.com/office/drawing/2014/main" id="{3062DBB2-AFFA-4E11-A7B2-F2002B633050}"/>
              </a:ext>
            </a:extLst>
          </p:cNvPr>
          <p:cNvSpPr>
            <a:spLocks noGrp="1"/>
          </p:cNvSpPr>
          <p:nvPr/>
        </p:nvSpPr>
        <p:spPr>
          <a:xfrm>
            <a:off x="9906000" y="2590800"/>
            <a:ext cx="1095375" cy="266700"/>
          </a:xfrm>
          <a:prstGeom prst="rect">
            <a:avLst/>
          </a:prstGeom>
          <a:noFill/>
          <a:ln w="0">
            <a:noFill/>
          </a:ln>
        </p:spPr>
        <p:txBody>
          <a:bodyPr wrap="square" lIns="0" tIns="0" rIns="0" bIns="0" anchor="t">
            <a:normAutofit/>
          </a:bodyPr>
          <a:lstStyle/>
          <a:p>
            <a:pPr algn="ctr">
              <a:lnSpc>
                <a:spcPct val="100000"/>
              </a:lnSpc>
              <a:buNone/>
              <a:defRPr sz="1088" b="1" i="0">
                <a:solidFill>
                  <a:srgbClr val="7E1728"/>
                </a:solidFill>
                <a:latin typeface="Calibri"/>
                <a:ea typeface="Calibri"/>
                <a:cs typeface="Calibri"/>
              </a:defRPr>
            </a:pPr>
            <a:r>
              <a:rPr sz="1088" b="1" i="0">
                <a:solidFill>
                  <a:srgbClr val="7E1728"/>
                </a:solidFill>
                <a:latin typeface="Calibri"/>
                <a:ea typeface="Calibri"/>
                <a:cs typeface="Calibri"/>
              </a:rPr>
              <a:t>forced compute</a:t>
            </a:r>
          </a:p>
        </p:txBody>
      </p:sp>
      <p:sp>
        <p:nvSpPr>
          <p:cNvPr id="14" name="Rectangle 13">
            <a:extLst>
              <a:ext uri="{FF2B5EF4-FFF2-40B4-BE49-F238E27FC236}">
                <a16:creationId xmlns:a16="http://schemas.microsoft.com/office/drawing/2014/main" id="{350C6405-CBFF-48AD-8F72-23797C56340B}"/>
              </a:ext>
            </a:extLst>
          </p:cNvPr>
          <p:cNvSpPr>
            <a:spLocks noGrp="1"/>
          </p:cNvSpPr>
          <p:nvPr/>
        </p:nvSpPr>
        <p:spPr>
          <a:xfrm>
            <a:off x="6572250" y="2933700"/>
            <a:ext cx="4524375" cy="266700"/>
          </a:xfrm>
          <a:prstGeom prst="rect">
            <a:avLst/>
          </a:prstGeom>
          <a:noFill/>
          <a:ln w="0">
            <a:noFill/>
          </a:ln>
        </p:spPr>
        <p:txBody>
          <a:bodyPr wrap="square" lIns="0" tIns="0" rIns="0" bIns="0" anchor="t">
            <a:normAutofit/>
          </a:bodyPr>
          <a:lstStyle/>
          <a:p>
            <a:pPr algn="ctr">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Quality rose while article recall reached 1.000.</a:t>
            </a:r>
          </a:p>
        </p:txBody>
      </p:sp>
      <p:sp>
        <p:nvSpPr>
          <p:cNvPr id="15" name="Rounded Rectangle 14">
            <a:extLst>
              <a:ext uri="{FF2B5EF4-FFF2-40B4-BE49-F238E27FC236}">
                <a16:creationId xmlns:a16="http://schemas.microsoft.com/office/drawing/2014/main" id="{4E68F4A0-9240-4E17-858A-032F1288B860}"/>
              </a:ext>
            </a:extLst>
          </p:cNvPr>
          <p:cNvSpPr>
            <a:spLocks noGrp="1"/>
          </p:cNvSpPr>
          <p:nvPr/>
        </p:nvSpPr>
        <p:spPr>
          <a:xfrm>
            <a:off x="6191250" y="3476625"/>
            <a:ext cx="5381625" cy="1743075"/>
          </a:xfrm>
          <a:prstGeom prst="roundRect">
            <a:avLst>
              <a:gd name="adj" fmla="val 4372"/>
            </a:avLst>
          </a:prstGeom>
          <a:solidFill>
            <a:srgbClr val="F3F3F3"/>
          </a:solidFill>
          <a:ln w="9525">
            <a:solidFill>
              <a:srgbClr val="D8D8D8"/>
            </a:solidFill>
            <a:prstDash val="solid"/>
          </a:ln>
        </p:spPr>
        <p:txBody>
          <a:bodyPr/>
          <a:lstStyle/>
          <a:p>
            <a:endParaRPr lang="en-US"/>
          </a:p>
        </p:txBody>
      </p:sp>
      <p:sp>
        <p:nvSpPr>
          <p:cNvPr id="16" name="Rectangle 15">
            <a:extLst>
              <a:ext uri="{FF2B5EF4-FFF2-40B4-BE49-F238E27FC236}">
                <a16:creationId xmlns:a16="http://schemas.microsoft.com/office/drawing/2014/main" id="{A3027B25-C0AD-4432-BB78-4D3E0E9E0892}"/>
              </a:ext>
            </a:extLst>
          </p:cNvPr>
          <p:cNvSpPr>
            <a:spLocks noGrp="1"/>
          </p:cNvSpPr>
          <p:nvPr/>
        </p:nvSpPr>
        <p:spPr>
          <a:xfrm>
            <a:off x="6477000" y="3667125"/>
            <a:ext cx="3048000" cy="266700"/>
          </a:xfrm>
          <a:prstGeom prst="rect">
            <a:avLst/>
          </a:prstGeom>
          <a:noFill/>
          <a:ln w="0">
            <a:noFill/>
          </a:ln>
        </p:spPr>
        <p:txBody>
          <a:bodyPr wrap="square" lIns="0" tIns="0" rIns="0" bIns="0" anchor="t">
            <a:normAutofit/>
          </a:bodyPr>
          <a:lstStyle/>
          <a:p>
            <a:pPr algn="l">
              <a:lnSpc>
                <a:spcPct val="100000"/>
              </a:lnSpc>
              <a:buNone/>
              <a:defRPr sz="1200" b="1" i="0">
                <a:solidFill>
                  <a:srgbClr val="A31F34"/>
                </a:solidFill>
                <a:latin typeface="Calibri"/>
                <a:ea typeface="Calibri"/>
                <a:cs typeface="Calibri"/>
              </a:defRPr>
            </a:pPr>
            <a:r>
              <a:rPr sz="1200" b="1" i="0">
                <a:solidFill>
                  <a:srgbClr val="A31F34"/>
                </a:solidFill>
                <a:latin typeface="Calibri"/>
                <a:ea typeface="Calibri"/>
                <a:cs typeface="Calibri"/>
              </a:rPr>
              <a:t>SYNTHESIS-HEAVY VALIDATION</a:t>
            </a:r>
          </a:p>
        </p:txBody>
      </p:sp>
      <p:sp>
        <p:nvSpPr>
          <p:cNvPr id="17" name="Rectangle 16">
            <a:extLst>
              <a:ext uri="{FF2B5EF4-FFF2-40B4-BE49-F238E27FC236}">
                <a16:creationId xmlns:a16="http://schemas.microsoft.com/office/drawing/2014/main" id="{C65C80AF-73D0-4FFE-90EE-96C0E5329362}"/>
              </a:ext>
            </a:extLst>
          </p:cNvPr>
          <p:cNvSpPr>
            <a:spLocks noGrp="1"/>
          </p:cNvSpPr>
          <p:nvPr/>
        </p:nvSpPr>
        <p:spPr>
          <a:xfrm>
            <a:off x="6496050" y="4067175"/>
            <a:ext cx="2095500" cy="266700"/>
          </a:xfrm>
          <a:prstGeom prst="rect">
            <a:avLst/>
          </a:prstGeom>
          <a:noFill/>
          <a:ln w="0">
            <a:noFill/>
          </a:ln>
        </p:spPr>
        <p:txBody>
          <a:bodyPr wrap="square" lIns="0" tIns="0" rIns="0" bIns="0" anchor="t">
            <a:normAutofit/>
          </a:bodyPr>
          <a:lstStyle/>
          <a:p>
            <a:pPr algn="l">
              <a:lnSpc>
                <a:spcPct val="100000"/>
              </a:lnSpc>
              <a:buNone/>
              <a:defRPr sz="1200" b="0" i="0">
                <a:solidFill>
                  <a:srgbClr val="111111"/>
                </a:solidFill>
                <a:latin typeface="Calibri"/>
                <a:ea typeface="Calibri"/>
                <a:cs typeface="Calibri"/>
              </a:defRPr>
            </a:pPr>
            <a:r>
              <a:rPr sz="1200" b="0" i="0">
                <a:solidFill>
                  <a:srgbClr val="111111"/>
                </a:solidFill>
                <a:latin typeface="Calibri"/>
                <a:ea typeface="Calibri"/>
                <a:cs typeface="Calibri"/>
              </a:rPr>
              <a:t>5.1 section gateway</a:t>
            </a:r>
          </a:p>
        </p:txBody>
      </p:sp>
      <p:sp>
        <p:nvSpPr>
          <p:cNvPr id="18" name="Rectangle 17">
            <a:extLst>
              <a:ext uri="{FF2B5EF4-FFF2-40B4-BE49-F238E27FC236}">
                <a16:creationId xmlns:a16="http://schemas.microsoft.com/office/drawing/2014/main" id="{C0B269D8-B740-4388-9F11-2381F5D67476}"/>
              </a:ext>
            </a:extLst>
          </p:cNvPr>
          <p:cNvSpPr>
            <a:spLocks noGrp="1"/>
          </p:cNvSpPr>
          <p:nvPr/>
        </p:nvSpPr>
        <p:spPr>
          <a:xfrm>
            <a:off x="9715500" y="4019550"/>
            <a:ext cx="1190625" cy="323850"/>
          </a:xfrm>
          <a:prstGeom prst="rect">
            <a:avLst/>
          </a:prstGeom>
          <a:noFill/>
          <a:ln w="0">
            <a:noFill/>
          </a:ln>
        </p:spPr>
        <p:txBody>
          <a:bodyPr wrap="square" lIns="0" tIns="0" rIns="0" bIns="0" anchor="t">
            <a:normAutofit/>
          </a:bodyPr>
          <a:lstStyle/>
          <a:p>
            <a:pPr algn="r">
              <a:lnSpc>
                <a:spcPct val="100000"/>
              </a:lnSpc>
              <a:buNone/>
              <a:defRPr sz="1800" b="1" i="0">
                <a:solidFill>
                  <a:srgbClr val="5E5E5E"/>
                </a:solidFill>
                <a:latin typeface="Calibri"/>
                <a:ea typeface="Calibri"/>
                <a:cs typeface="Calibri"/>
              </a:defRPr>
            </a:pPr>
            <a:r>
              <a:rPr sz="1800" b="1" i="0">
                <a:solidFill>
                  <a:srgbClr val="5E5E5E"/>
                </a:solidFill>
                <a:latin typeface="Calibri"/>
                <a:ea typeface="Calibri"/>
                <a:cs typeface="Calibri"/>
              </a:rPr>
              <a:t>0.845</a:t>
            </a:r>
          </a:p>
        </p:txBody>
      </p:sp>
      <p:sp>
        <p:nvSpPr>
          <p:cNvPr id="19" name="Rectangle 18">
            <a:extLst>
              <a:ext uri="{FF2B5EF4-FFF2-40B4-BE49-F238E27FC236}">
                <a16:creationId xmlns:a16="http://schemas.microsoft.com/office/drawing/2014/main" id="{EA5203C3-2C1E-4C48-B800-5F9740EA0FD6}"/>
              </a:ext>
            </a:extLst>
          </p:cNvPr>
          <p:cNvSpPr>
            <a:spLocks noGrp="1"/>
          </p:cNvSpPr>
          <p:nvPr/>
        </p:nvSpPr>
        <p:spPr>
          <a:xfrm>
            <a:off x="6496050" y="4448175"/>
            <a:ext cx="2381250" cy="266700"/>
          </a:xfrm>
          <a:prstGeom prst="rect">
            <a:avLst/>
          </a:prstGeom>
          <a:noFill/>
          <a:ln w="0">
            <a:noFill/>
          </a:ln>
        </p:spPr>
        <p:txBody>
          <a:bodyPr wrap="square" lIns="0" tIns="0" rIns="0" bIns="0" anchor="t">
            <a:normAutofit/>
          </a:bodyPr>
          <a:lstStyle/>
          <a:p>
            <a:pPr algn="l">
              <a:lnSpc>
                <a:spcPct val="100000"/>
              </a:lnSpc>
              <a:buNone/>
              <a:defRPr sz="1200" b="0" i="0">
                <a:solidFill>
                  <a:srgbClr val="111111"/>
                </a:solidFill>
                <a:latin typeface="Calibri"/>
                <a:ea typeface="Calibri"/>
                <a:cs typeface="Calibri"/>
              </a:defRPr>
            </a:pPr>
            <a:r>
              <a:rPr sz="1200" b="0" i="0">
                <a:solidFill>
                  <a:srgbClr val="111111"/>
                </a:solidFill>
                <a:latin typeface="Calibri"/>
                <a:ea typeface="Calibri"/>
                <a:cs typeface="Calibri"/>
              </a:rPr>
              <a:t>4.1 graph, fuller articles</a:t>
            </a:r>
          </a:p>
        </p:txBody>
      </p:sp>
      <p:sp>
        <p:nvSpPr>
          <p:cNvPr id="20" name="Rectangle 19">
            <a:extLst>
              <a:ext uri="{FF2B5EF4-FFF2-40B4-BE49-F238E27FC236}">
                <a16:creationId xmlns:a16="http://schemas.microsoft.com/office/drawing/2014/main" id="{A2E3829A-92C1-41AE-9B46-969957E8A615}"/>
              </a:ext>
            </a:extLst>
          </p:cNvPr>
          <p:cNvSpPr>
            <a:spLocks noGrp="1"/>
          </p:cNvSpPr>
          <p:nvPr/>
        </p:nvSpPr>
        <p:spPr>
          <a:xfrm>
            <a:off x="9715500" y="4400550"/>
            <a:ext cx="1190625" cy="323850"/>
          </a:xfrm>
          <a:prstGeom prst="rect">
            <a:avLst/>
          </a:prstGeom>
          <a:noFill/>
          <a:ln w="0">
            <a:noFill/>
          </a:ln>
        </p:spPr>
        <p:txBody>
          <a:bodyPr wrap="square" lIns="0" tIns="0" rIns="0" bIns="0" anchor="t">
            <a:normAutofit/>
          </a:bodyPr>
          <a:lstStyle/>
          <a:p>
            <a:pPr algn="r">
              <a:lnSpc>
                <a:spcPct val="100000"/>
              </a:lnSpc>
              <a:buNone/>
              <a:defRPr sz="1800" b="1" i="0">
                <a:solidFill>
                  <a:srgbClr val="A31F34"/>
                </a:solidFill>
                <a:latin typeface="Calibri"/>
                <a:ea typeface="Calibri"/>
                <a:cs typeface="Calibri"/>
              </a:defRPr>
            </a:pPr>
            <a:r>
              <a:rPr sz="1800" b="1" i="0">
                <a:solidFill>
                  <a:srgbClr val="A31F34"/>
                </a:solidFill>
                <a:latin typeface="Calibri"/>
                <a:ea typeface="Calibri"/>
                <a:cs typeface="Calibri"/>
              </a:rPr>
              <a:t>0.885</a:t>
            </a:r>
          </a:p>
        </p:txBody>
      </p:sp>
      <p:sp>
        <p:nvSpPr>
          <p:cNvPr id="21" name="Rectangle 20">
            <a:extLst>
              <a:ext uri="{FF2B5EF4-FFF2-40B4-BE49-F238E27FC236}">
                <a16:creationId xmlns:a16="http://schemas.microsoft.com/office/drawing/2014/main" id="{E5048555-FF4F-4201-A5AE-7BB2994F313D}"/>
              </a:ext>
            </a:extLst>
          </p:cNvPr>
          <p:cNvSpPr>
            <a:spLocks noGrp="1"/>
          </p:cNvSpPr>
          <p:nvPr/>
        </p:nvSpPr>
        <p:spPr>
          <a:xfrm>
            <a:off x="6572250" y="4857750"/>
            <a:ext cx="4524375" cy="257175"/>
          </a:xfrm>
          <a:prstGeom prst="rect">
            <a:avLst/>
          </a:prstGeom>
          <a:noFill/>
          <a:ln w="0">
            <a:noFill/>
          </a:ln>
        </p:spPr>
        <p:txBody>
          <a:bodyPr wrap="square" lIns="0" tIns="0" rIns="0" bIns="0" anchor="t">
            <a:normAutofit fontScale="98830"/>
          </a:bodyPr>
          <a:lstStyle/>
          <a:p>
            <a:pPr algn="ctr">
              <a:lnSpc>
                <a:spcPct val="100000"/>
              </a:lnSpc>
              <a:buNone/>
              <a:defRPr sz="1125" b="0" i="0">
                <a:solidFill>
                  <a:srgbClr val="5E5E5E"/>
                </a:solidFill>
                <a:latin typeface="Calibri"/>
                <a:ea typeface="Calibri"/>
                <a:cs typeface="Calibri"/>
              </a:defRPr>
            </a:pPr>
            <a:r>
              <a:rPr sz="1125" b="0" i="0">
                <a:solidFill>
                  <a:srgbClr val="5E5E5E"/>
                </a:solidFill>
                <a:latin typeface="Calibri"/>
                <a:ea typeface="Calibri"/>
                <a:cs typeface="Calibri"/>
              </a:rPr>
              <a:t>Full recall was not enough: narrow sections starved broad explanations.</a:t>
            </a:r>
          </a:p>
        </p:txBody>
      </p:sp>
      <p:sp>
        <p:nvSpPr>
          <p:cNvPr id="22" name="Rounded Rectangle 21">
            <a:extLst>
              <a:ext uri="{FF2B5EF4-FFF2-40B4-BE49-F238E27FC236}">
                <a16:creationId xmlns:a16="http://schemas.microsoft.com/office/drawing/2014/main" id="{FEC55852-56AC-415E-A7BE-73019886790F}"/>
              </a:ext>
            </a:extLst>
          </p:cNvPr>
          <p:cNvSpPr>
            <a:spLocks noGrp="1"/>
          </p:cNvSpPr>
          <p:nvPr/>
        </p:nvSpPr>
        <p:spPr>
          <a:xfrm>
            <a:off x="857250" y="5524500"/>
            <a:ext cx="10477500" cy="666750"/>
          </a:xfrm>
          <a:prstGeom prst="roundRect">
            <a:avLst>
              <a:gd name="adj" fmla="val 8571"/>
            </a:avLst>
          </a:prstGeom>
          <a:solidFill>
            <a:srgbClr val="FFFFFF"/>
          </a:solidFill>
          <a:ln w="9525">
            <a:solidFill>
              <a:srgbClr val="D8D8D8"/>
            </a:solidFill>
            <a:prstDash val="solid"/>
          </a:ln>
        </p:spPr>
        <p:txBody>
          <a:bodyPr/>
          <a:lstStyle/>
          <a:p>
            <a:endParaRPr lang="en-US"/>
          </a:p>
        </p:txBody>
      </p:sp>
      <p:sp>
        <p:nvSpPr>
          <p:cNvPr id="23" name="Rectangle 22">
            <a:extLst>
              <a:ext uri="{FF2B5EF4-FFF2-40B4-BE49-F238E27FC236}">
                <a16:creationId xmlns:a16="http://schemas.microsoft.com/office/drawing/2014/main" id="{544E28CC-70E3-4FD4-BFE1-2B9007B600B4}"/>
              </a:ext>
            </a:extLst>
          </p:cNvPr>
          <p:cNvSpPr>
            <a:spLocks noGrp="1"/>
          </p:cNvSpPr>
          <p:nvPr/>
        </p:nvSpPr>
        <p:spPr>
          <a:xfrm>
            <a:off x="1095375" y="5705475"/>
            <a:ext cx="2143125" cy="285750"/>
          </a:xfrm>
          <a:prstGeom prst="rect">
            <a:avLst/>
          </a:prstGeom>
          <a:noFill/>
          <a:ln w="0">
            <a:noFill/>
          </a:ln>
        </p:spPr>
        <p:txBody>
          <a:bodyPr wrap="square" lIns="0" tIns="0" rIns="0" bIns="0" anchor="ctr">
            <a:normAutofit/>
          </a:bodyPr>
          <a:lstStyle/>
          <a:p>
            <a:pPr algn="l">
              <a:lnSpc>
                <a:spcPct val="100000"/>
              </a:lnSpc>
              <a:buNone/>
              <a:defRPr sz="1200" b="1" i="0">
                <a:solidFill>
                  <a:srgbClr val="A31F34"/>
                </a:solidFill>
                <a:latin typeface="Calibri"/>
                <a:ea typeface="Calibri"/>
                <a:cs typeface="Calibri"/>
              </a:defRPr>
            </a:pPr>
            <a:r>
              <a:rPr sz="1200" b="1" i="0">
                <a:solidFill>
                  <a:srgbClr val="A31F34"/>
                </a:solidFill>
                <a:latin typeface="Calibri"/>
                <a:ea typeface="Calibri"/>
                <a:cs typeface="Calibri"/>
              </a:rPr>
              <a:t>FINAL DESIGN DECISION</a:t>
            </a:r>
          </a:p>
        </p:txBody>
      </p:sp>
      <p:sp>
        <p:nvSpPr>
          <p:cNvPr id="24" name="Rectangle 23">
            <a:extLst>
              <a:ext uri="{FF2B5EF4-FFF2-40B4-BE49-F238E27FC236}">
                <a16:creationId xmlns:a16="http://schemas.microsoft.com/office/drawing/2014/main" id="{F4D9FF1B-DADF-4756-9070-F269B8C83D4A}"/>
              </a:ext>
            </a:extLst>
          </p:cNvPr>
          <p:cNvSpPr>
            <a:spLocks noGrp="1"/>
          </p:cNvSpPr>
          <p:nvPr/>
        </p:nvSpPr>
        <p:spPr>
          <a:xfrm>
            <a:off x="3238500" y="5638800"/>
            <a:ext cx="7715250" cy="419100"/>
          </a:xfrm>
          <a:prstGeom prst="rect">
            <a:avLst/>
          </a:prstGeom>
          <a:noFill/>
          <a:ln w="0">
            <a:noFill/>
          </a:ln>
        </p:spPr>
        <p:txBody>
          <a:bodyPr wrap="square" lIns="0" tIns="0" rIns="0" bIns="0" anchor="ctr">
            <a:normAutofit fontScale="91667" lnSpcReduction="10000"/>
          </a:bodyPr>
          <a:lstStyle/>
          <a:p>
            <a:pPr algn="ctr">
              <a:lnSpc>
                <a:spcPct val="100000"/>
              </a:lnSpc>
              <a:buNone/>
              <a:defRPr sz="1500" b="1" i="0">
                <a:solidFill>
                  <a:srgbClr val="111111"/>
                </a:solidFill>
                <a:latin typeface="Calibri"/>
                <a:ea typeface="Calibri"/>
                <a:cs typeface="Calibri"/>
              </a:defRPr>
            </a:pPr>
            <a:r>
              <a:rPr sz="1500" b="1" i="0">
                <a:solidFill>
                  <a:srgbClr val="111111"/>
                </a:solidFill>
                <a:latin typeface="Calibri"/>
                <a:ea typeface="Calibri"/>
                <a:cs typeface="Calibri"/>
              </a:rPr>
              <a:t>Keep deterministic computation for table questions; restore whole selected articles for non-table questions in 6.1.</a:t>
            </a:r>
          </a:p>
        </p:txBody>
      </p:sp>
    </p:spTree>
    <p:extLst>
      <p:ext uri="{BB962C8B-B14F-4D97-AF65-F5344CB8AC3E}">
        <p14:creationId xmlns:p14="http://schemas.microsoft.com/office/powerpoint/2010/main" val="1527923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vision-title">
            <a:extLst>
              <a:ext uri="{FF2B5EF4-FFF2-40B4-BE49-F238E27FC236}">
                <a16:creationId xmlns:a16="http://schemas.microsoft.com/office/drawing/2014/main" id="{B0ADCFF0-15A6-483B-BC1E-F49A063224CF}"/>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Security enhancements that survived</a:t>
            </a:r>
          </a:p>
        </p:txBody>
      </p:sp>
      <p:sp>
        <p:nvSpPr>
          <p:cNvPr id="2" name="revision-subtitle">
            <a:extLst>
              <a:ext uri="{FF2B5EF4-FFF2-40B4-BE49-F238E27FC236}">
                <a16:creationId xmlns:a16="http://schemas.microsoft.com/office/drawing/2014/main" id="{40AA12BD-8E8F-4E5A-AACE-EFB6284103DA}"/>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The failure was a provenance error: untrusted conversation text could be repeated as though it came from the corpus.</a:t>
            </a:r>
          </a:p>
        </p:txBody>
      </p:sp>
      <p:sp>
        <p:nvSpPr>
          <p:cNvPr id="3" name="Rounded Rectangle 2">
            <a:extLst>
              <a:ext uri="{FF2B5EF4-FFF2-40B4-BE49-F238E27FC236}">
                <a16:creationId xmlns:a16="http://schemas.microsoft.com/office/drawing/2014/main" id="{F595C422-DD5E-4FF3-A5A9-611F9E8F4C95}"/>
              </a:ext>
            </a:extLst>
          </p:cNvPr>
          <p:cNvSpPr>
            <a:spLocks noGrp="1"/>
          </p:cNvSpPr>
          <p:nvPr/>
        </p:nvSpPr>
        <p:spPr>
          <a:xfrm>
            <a:off x="666750" y="1600200"/>
            <a:ext cx="3381375" cy="2952750"/>
          </a:xfrm>
          <a:prstGeom prst="roundRect">
            <a:avLst>
              <a:gd name="adj" fmla="val 2581"/>
            </a:avLst>
          </a:prstGeom>
          <a:solidFill>
            <a:srgbClr val="F3F3F3"/>
          </a:solidFill>
          <a:ln w="9525">
            <a:solidFill>
              <a:srgbClr val="D8D8D8"/>
            </a:solidFill>
            <a:prstDash val="solid"/>
          </a:ln>
        </p:spPr>
        <p:txBody>
          <a:bodyPr/>
          <a:lstStyle/>
          <a:p>
            <a:endParaRPr lang="en-US"/>
          </a:p>
        </p:txBody>
      </p:sp>
      <p:sp>
        <p:nvSpPr>
          <p:cNvPr id="4" name="Rectangle 3">
            <a:extLst>
              <a:ext uri="{FF2B5EF4-FFF2-40B4-BE49-F238E27FC236}">
                <a16:creationId xmlns:a16="http://schemas.microsoft.com/office/drawing/2014/main" id="{5C92EF66-1311-4BB1-9386-F8EF5241D34B}"/>
              </a:ext>
            </a:extLst>
          </p:cNvPr>
          <p:cNvSpPr>
            <a:spLocks noGrp="1"/>
          </p:cNvSpPr>
          <p:nvPr/>
        </p:nvSpPr>
        <p:spPr>
          <a:xfrm>
            <a:off x="838200" y="1743075"/>
            <a:ext cx="3038475" cy="323850"/>
          </a:xfrm>
          <a:prstGeom prst="rect">
            <a:avLst/>
          </a:prstGeom>
          <a:noFill/>
          <a:ln w="0">
            <a:noFill/>
          </a:ln>
        </p:spPr>
        <p:txBody>
          <a:bodyPr wrap="square" lIns="0" tIns="0" rIns="0" bIns="0" anchor="ctr">
            <a:normAutofit/>
          </a:bodyPr>
          <a:lstStyle/>
          <a:p>
            <a:pPr algn="l">
              <a:lnSpc>
                <a:spcPct val="100000"/>
              </a:lnSpc>
              <a:buNone/>
              <a:defRPr sz="1575" b="1" i="0">
                <a:solidFill>
                  <a:srgbClr val="A31F34"/>
                </a:solidFill>
                <a:latin typeface="Calibri"/>
                <a:ea typeface="Calibri"/>
                <a:cs typeface="Calibri"/>
              </a:defRPr>
            </a:pPr>
            <a:r>
              <a:rPr sz="1575" b="1" i="0">
                <a:solidFill>
                  <a:srgbClr val="A31F34"/>
                </a:solidFill>
                <a:latin typeface="Calibri"/>
                <a:ea typeface="Calibri"/>
                <a:cs typeface="Calibri"/>
              </a:rPr>
              <a:t>1  Sanitize input</a:t>
            </a:r>
          </a:p>
        </p:txBody>
      </p:sp>
      <p:sp>
        <p:nvSpPr>
          <p:cNvPr id="5" name="Rectangle 4">
            <a:extLst>
              <a:ext uri="{FF2B5EF4-FFF2-40B4-BE49-F238E27FC236}">
                <a16:creationId xmlns:a16="http://schemas.microsoft.com/office/drawing/2014/main" id="{0DBEE991-F961-4612-A243-3476F67620FB}"/>
              </a:ext>
            </a:extLst>
          </p:cNvPr>
          <p:cNvSpPr>
            <a:spLocks noGrp="1"/>
          </p:cNvSpPr>
          <p:nvPr/>
        </p:nvSpPr>
        <p:spPr>
          <a:xfrm>
            <a:off x="838200" y="2133600"/>
            <a:ext cx="3038475" cy="2286000"/>
          </a:xfrm>
          <a:prstGeom prst="rect">
            <a:avLst/>
          </a:prstGeom>
          <a:noFill/>
          <a:ln w="0">
            <a:noFill/>
          </a:ln>
        </p:spPr>
        <p:txBody>
          <a:bodyPr wrap="square" lIns="0" tIns="0" rIns="0" bIns="0" anchor="t">
            <a:normAutofit/>
          </a:bodyPr>
          <a:lstStyle/>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Before retrieval, deterministic middleware removes forged evidence formatting and flags instruction-pattern text.</a:t>
            </a:r>
          </a:p>
          <a:p>
            <a:endParaRPr sz="1275" b="0" i="0">
              <a:solidFill>
                <a:srgbClr val="111111"/>
              </a:solidFill>
              <a:latin typeface="Calibri"/>
              <a:ea typeface="Calibri"/>
              <a:cs typeface="Calibri"/>
            </a:endParaRPr>
          </a:p>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History stores the sanitized question, so a fake source is not carried into later turns unchanged.</a:t>
            </a:r>
          </a:p>
        </p:txBody>
      </p:sp>
      <p:sp>
        <p:nvSpPr>
          <p:cNvPr id="6" name="Rounded Rectangle 5">
            <a:extLst>
              <a:ext uri="{FF2B5EF4-FFF2-40B4-BE49-F238E27FC236}">
                <a16:creationId xmlns:a16="http://schemas.microsoft.com/office/drawing/2014/main" id="{58E35DD1-655A-4CEC-BEA8-1ADBE6F85670}"/>
              </a:ext>
            </a:extLst>
          </p:cNvPr>
          <p:cNvSpPr>
            <a:spLocks noGrp="1"/>
          </p:cNvSpPr>
          <p:nvPr/>
        </p:nvSpPr>
        <p:spPr>
          <a:xfrm>
            <a:off x="4400550" y="1600200"/>
            <a:ext cx="3381375" cy="2952750"/>
          </a:xfrm>
          <a:prstGeom prst="roundRect">
            <a:avLst>
              <a:gd name="adj" fmla="val 2581"/>
            </a:avLst>
          </a:prstGeom>
          <a:solidFill>
            <a:srgbClr val="F7E9EC"/>
          </a:solidFill>
          <a:ln w="9525">
            <a:solidFill>
              <a:srgbClr val="E6BBC4"/>
            </a:solidFill>
            <a:prstDash val="solid"/>
          </a:ln>
        </p:spPr>
        <p:txBody>
          <a:bodyPr/>
          <a:lstStyle/>
          <a:p>
            <a:endParaRPr lang="en-US"/>
          </a:p>
        </p:txBody>
      </p:sp>
      <p:sp>
        <p:nvSpPr>
          <p:cNvPr id="7" name="Rectangle 6">
            <a:extLst>
              <a:ext uri="{FF2B5EF4-FFF2-40B4-BE49-F238E27FC236}">
                <a16:creationId xmlns:a16="http://schemas.microsoft.com/office/drawing/2014/main" id="{581BDFB8-066D-4F03-8E3D-BE9CEDF8CF43}"/>
              </a:ext>
            </a:extLst>
          </p:cNvPr>
          <p:cNvSpPr>
            <a:spLocks noGrp="1"/>
          </p:cNvSpPr>
          <p:nvPr/>
        </p:nvSpPr>
        <p:spPr>
          <a:xfrm>
            <a:off x="4572000" y="1743075"/>
            <a:ext cx="3038475" cy="323850"/>
          </a:xfrm>
          <a:prstGeom prst="rect">
            <a:avLst/>
          </a:prstGeom>
          <a:noFill/>
          <a:ln w="0">
            <a:noFill/>
          </a:ln>
        </p:spPr>
        <p:txBody>
          <a:bodyPr wrap="square" lIns="0" tIns="0" rIns="0" bIns="0" anchor="ctr">
            <a:normAutofit/>
          </a:bodyPr>
          <a:lstStyle/>
          <a:p>
            <a:pPr algn="l">
              <a:lnSpc>
                <a:spcPct val="100000"/>
              </a:lnSpc>
              <a:buNone/>
              <a:defRPr sz="1575" b="1" i="0">
                <a:solidFill>
                  <a:srgbClr val="A31F34"/>
                </a:solidFill>
                <a:latin typeface="Calibri"/>
                <a:ea typeface="Calibri"/>
                <a:cs typeface="Calibri"/>
              </a:defRPr>
            </a:pPr>
            <a:r>
              <a:rPr sz="1575" b="1" i="0">
                <a:solidFill>
                  <a:srgbClr val="A31F34"/>
                </a:solidFill>
                <a:latin typeface="Calibri"/>
                <a:ea typeface="Calibri"/>
                <a:cs typeface="Calibri"/>
              </a:rPr>
              <a:t>2  Guard the trust boundary</a:t>
            </a:r>
          </a:p>
        </p:txBody>
      </p:sp>
      <p:sp>
        <p:nvSpPr>
          <p:cNvPr id="8" name="Rectangle 7">
            <a:extLst>
              <a:ext uri="{FF2B5EF4-FFF2-40B4-BE49-F238E27FC236}">
                <a16:creationId xmlns:a16="http://schemas.microsoft.com/office/drawing/2014/main" id="{1841072A-B597-476D-9636-0BFF37F96B47}"/>
              </a:ext>
            </a:extLst>
          </p:cNvPr>
          <p:cNvSpPr>
            <a:spLocks noGrp="1"/>
          </p:cNvSpPr>
          <p:nvPr/>
        </p:nvSpPr>
        <p:spPr>
          <a:xfrm>
            <a:off x="4572000" y="2133600"/>
            <a:ext cx="3038475" cy="2286000"/>
          </a:xfrm>
          <a:prstGeom prst="rect">
            <a:avLst/>
          </a:prstGeom>
          <a:noFill/>
          <a:ln w="0">
            <a:noFill/>
          </a:ln>
        </p:spPr>
        <p:txBody>
          <a:bodyPr wrap="square" lIns="0" tIns="0" rIns="0" bIns="0" anchor="t">
            <a:normAutofit/>
          </a:bodyPr>
          <a:lstStyle/>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The answer prompt states a trust order: current corpus evidence is factual support; prior conversation is context, not evidence.</a:t>
            </a:r>
          </a:p>
          <a:p>
            <a:endParaRPr sz="1275" b="0" i="0">
              <a:solidFill>
                <a:srgbClr val="111111"/>
              </a:solidFill>
              <a:latin typeface="Calibri"/>
              <a:ea typeface="Calibri"/>
              <a:cs typeface="Calibri"/>
            </a:endParaRPr>
          </a:p>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A quotation rule prevents conversational text from being presented as a verified source.</a:t>
            </a:r>
          </a:p>
        </p:txBody>
      </p:sp>
      <p:sp>
        <p:nvSpPr>
          <p:cNvPr id="9" name="Rounded Rectangle 8">
            <a:extLst>
              <a:ext uri="{FF2B5EF4-FFF2-40B4-BE49-F238E27FC236}">
                <a16:creationId xmlns:a16="http://schemas.microsoft.com/office/drawing/2014/main" id="{DF440035-A0C8-495A-8D6A-BD4602F4A0B4}"/>
              </a:ext>
            </a:extLst>
          </p:cNvPr>
          <p:cNvSpPr>
            <a:spLocks noGrp="1"/>
          </p:cNvSpPr>
          <p:nvPr/>
        </p:nvSpPr>
        <p:spPr>
          <a:xfrm>
            <a:off x="8143875" y="1600200"/>
            <a:ext cx="3381375" cy="2952750"/>
          </a:xfrm>
          <a:prstGeom prst="roundRect">
            <a:avLst>
              <a:gd name="adj" fmla="val 2581"/>
            </a:avLst>
          </a:prstGeom>
          <a:solidFill>
            <a:srgbClr val="E8F4F5"/>
          </a:solidFill>
          <a:ln w="9525">
            <a:solidFill>
              <a:srgbClr val="B8DDE0"/>
            </a:solidFill>
            <a:prstDash val="solid"/>
          </a:ln>
        </p:spPr>
        <p:txBody>
          <a:bodyPr/>
          <a:lstStyle/>
          <a:p>
            <a:endParaRPr lang="en-US"/>
          </a:p>
        </p:txBody>
      </p:sp>
      <p:sp>
        <p:nvSpPr>
          <p:cNvPr id="10" name="Rectangle 9">
            <a:extLst>
              <a:ext uri="{FF2B5EF4-FFF2-40B4-BE49-F238E27FC236}">
                <a16:creationId xmlns:a16="http://schemas.microsoft.com/office/drawing/2014/main" id="{01893D01-6823-4232-BD2B-0DBF4C548C52}"/>
              </a:ext>
            </a:extLst>
          </p:cNvPr>
          <p:cNvSpPr>
            <a:spLocks noGrp="1"/>
          </p:cNvSpPr>
          <p:nvPr/>
        </p:nvSpPr>
        <p:spPr>
          <a:xfrm>
            <a:off x="8315325" y="1743075"/>
            <a:ext cx="3038475" cy="323850"/>
          </a:xfrm>
          <a:prstGeom prst="rect">
            <a:avLst/>
          </a:prstGeom>
          <a:noFill/>
          <a:ln w="0">
            <a:noFill/>
          </a:ln>
        </p:spPr>
        <p:txBody>
          <a:bodyPr wrap="square" lIns="0" tIns="0" rIns="0" bIns="0" anchor="ctr">
            <a:normAutofit/>
          </a:bodyPr>
          <a:lstStyle/>
          <a:p>
            <a:pPr algn="l">
              <a:lnSpc>
                <a:spcPct val="100000"/>
              </a:lnSpc>
              <a:buNone/>
              <a:defRPr sz="1575" b="1" i="0">
                <a:solidFill>
                  <a:srgbClr val="087E8B"/>
                </a:solidFill>
                <a:latin typeface="Calibri"/>
                <a:ea typeface="Calibri"/>
                <a:cs typeface="Calibri"/>
              </a:defRPr>
            </a:pPr>
            <a:r>
              <a:rPr sz="1575" b="1" i="0">
                <a:solidFill>
                  <a:srgbClr val="087E8B"/>
                </a:solidFill>
                <a:latin typeface="Calibri"/>
                <a:ea typeface="Calibri"/>
                <a:cs typeface="Calibri"/>
              </a:rPr>
              <a:t>3  Check the drafted answer</a:t>
            </a:r>
          </a:p>
        </p:txBody>
      </p:sp>
      <p:sp>
        <p:nvSpPr>
          <p:cNvPr id="11" name="Rectangle 10">
            <a:extLst>
              <a:ext uri="{FF2B5EF4-FFF2-40B4-BE49-F238E27FC236}">
                <a16:creationId xmlns:a16="http://schemas.microsoft.com/office/drawing/2014/main" id="{26B1966E-F659-4AB3-B5CD-7102F952DB85}"/>
              </a:ext>
            </a:extLst>
          </p:cNvPr>
          <p:cNvSpPr>
            <a:spLocks noGrp="1"/>
          </p:cNvSpPr>
          <p:nvPr/>
        </p:nvSpPr>
        <p:spPr>
          <a:xfrm>
            <a:off x="8315325" y="2133600"/>
            <a:ext cx="3038475" cy="2286000"/>
          </a:xfrm>
          <a:prstGeom prst="rect">
            <a:avLst/>
          </a:prstGeom>
          <a:noFill/>
          <a:ln w="0">
            <a:noFill/>
          </a:ln>
        </p:spPr>
        <p:txBody>
          <a:bodyPr wrap="square" lIns="0" tIns="0" rIns="0" bIns="0" anchor="t">
            <a:normAutofit/>
          </a:bodyPr>
          <a:lstStyle/>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A deterministic grounding check compares quotations and multiword names with current-turn corpus evidence.</a:t>
            </a:r>
          </a:p>
          <a:p>
            <a:endParaRPr sz="1275" b="0" i="0">
              <a:solidFill>
                <a:srgbClr val="111111"/>
              </a:solidFill>
              <a:latin typeface="Calibri"/>
              <a:ea typeface="Calibri"/>
              <a:cs typeface="Calibri"/>
            </a:endParaRPr>
          </a:p>
          <a:p>
            <a:pPr algn="l">
              <a:lnSpc>
                <a:spcPct val="98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The reader receives a warning before a flagged answer. It is a backstop, not a complete fact checker.</a:t>
            </a:r>
          </a:p>
        </p:txBody>
      </p:sp>
      <p:sp>
        <p:nvSpPr>
          <p:cNvPr id="12" name="Rounded Rectangle 11">
            <a:extLst>
              <a:ext uri="{FF2B5EF4-FFF2-40B4-BE49-F238E27FC236}">
                <a16:creationId xmlns:a16="http://schemas.microsoft.com/office/drawing/2014/main" id="{494CE245-9208-4A5F-9BCB-3121A1B4A9F5}"/>
              </a:ext>
            </a:extLst>
          </p:cNvPr>
          <p:cNvSpPr>
            <a:spLocks noGrp="1"/>
          </p:cNvSpPr>
          <p:nvPr/>
        </p:nvSpPr>
        <p:spPr>
          <a:xfrm>
            <a:off x="857250" y="4857750"/>
            <a:ext cx="10477500" cy="1000125"/>
          </a:xfrm>
          <a:prstGeom prst="roundRect">
            <a:avLst>
              <a:gd name="adj" fmla="val 7619"/>
            </a:avLst>
          </a:prstGeom>
          <a:solidFill>
            <a:srgbClr val="F7E9EC"/>
          </a:solidFill>
          <a:ln w="9525">
            <a:solidFill>
              <a:srgbClr val="E6BBC4"/>
            </a:solidFill>
            <a:prstDash val="solid"/>
          </a:ln>
        </p:spPr>
        <p:txBody>
          <a:bodyPr/>
          <a:lstStyle/>
          <a:p>
            <a:endParaRPr lang="en-US"/>
          </a:p>
        </p:txBody>
      </p:sp>
      <p:sp>
        <p:nvSpPr>
          <p:cNvPr id="13" name="Rectangle 12">
            <a:extLst>
              <a:ext uri="{FF2B5EF4-FFF2-40B4-BE49-F238E27FC236}">
                <a16:creationId xmlns:a16="http://schemas.microsoft.com/office/drawing/2014/main" id="{A0D0019A-288F-45AB-9A89-C6FEC455D40D}"/>
              </a:ext>
            </a:extLst>
          </p:cNvPr>
          <p:cNvSpPr>
            <a:spLocks noGrp="1"/>
          </p:cNvSpPr>
          <p:nvPr/>
        </p:nvSpPr>
        <p:spPr>
          <a:xfrm>
            <a:off x="1143000" y="5010150"/>
            <a:ext cx="3238500" cy="476250"/>
          </a:xfrm>
          <a:prstGeom prst="rect">
            <a:avLst/>
          </a:prstGeom>
          <a:noFill/>
          <a:ln w="0">
            <a:noFill/>
          </a:ln>
        </p:spPr>
        <p:txBody>
          <a:bodyPr wrap="square" lIns="0" tIns="0" rIns="0" bIns="0" anchor="ctr">
            <a:normAutofit/>
          </a:bodyPr>
          <a:lstStyle/>
          <a:p>
            <a:pPr algn="ctr">
              <a:lnSpc>
                <a:spcPct val="100000"/>
              </a:lnSpc>
              <a:buNone/>
              <a:defRPr sz="2550" b="1" i="0">
                <a:solidFill>
                  <a:srgbClr val="7E1728"/>
                </a:solidFill>
                <a:latin typeface="Calibri"/>
                <a:ea typeface="Calibri"/>
                <a:cs typeface="Calibri"/>
              </a:defRPr>
            </a:pPr>
            <a:r>
              <a:rPr sz="2550" b="1" i="0">
                <a:solidFill>
                  <a:srgbClr val="7E1728"/>
                </a:solidFill>
                <a:latin typeface="Calibri"/>
                <a:ea typeface="Calibri"/>
                <a:cs typeface="Calibri"/>
              </a:rPr>
              <a:t>5 / 59  →  0 / 59</a:t>
            </a:r>
          </a:p>
        </p:txBody>
      </p:sp>
      <p:sp>
        <p:nvSpPr>
          <p:cNvPr id="14" name="Rectangle 13">
            <a:extLst>
              <a:ext uri="{FF2B5EF4-FFF2-40B4-BE49-F238E27FC236}">
                <a16:creationId xmlns:a16="http://schemas.microsoft.com/office/drawing/2014/main" id="{4E5F4730-2693-479B-9FDD-38DBFA60055B}"/>
              </a:ext>
            </a:extLst>
          </p:cNvPr>
          <p:cNvSpPr>
            <a:spLocks noGrp="1"/>
          </p:cNvSpPr>
          <p:nvPr/>
        </p:nvSpPr>
        <p:spPr>
          <a:xfrm>
            <a:off x="1143000" y="5486400"/>
            <a:ext cx="3238500" cy="238125"/>
          </a:xfrm>
          <a:prstGeom prst="rect">
            <a:avLst/>
          </a:prstGeom>
          <a:noFill/>
          <a:ln w="0">
            <a:noFill/>
          </a:ln>
        </p:spPr>
        <p:txBody>
          <a:bodyPr wrap="square" lIns="0" tIns="0" rIns="0" bIns="0" anchor="t">
            <a:normAutofit/>
          </a:bodyPr>
          <a:lstStyle/>
          <a:p>
            <a:pPr algn="ctr">
              <a:lnSpc>
                <a:spcPct val="100000"/>
              </a:lnSpc>
              <a:buNone/>
              <a:defRPr sz="1163" b="0" i="0">
                <a:solidFill>
                  <a:srgbClr val="5E5E5E"/>
                </a:solidFill>
                <a:latin typeface="Calibri"/>
                <a:ea typeface="Calibri"/>
                <a:cs typeface="Calibri"/>
              </a:defRPr>
            </a:pPr>
            <a:r>
              <a:rPr sz="1163" b="0" i="0">
                <a:solidFill>
                  <a:srgbClr val="5E5E5E"/>
                </a:solidFill>
                <a:latin typeface="Calibri"/>
                <a:ea typeface="Calibri"/>
                <a:cs typeface="Calibri"/>
              </a:rPr>
              <a:t>fabricated facts adopted before vs. after</a:t>
            </a:r>
          </a:p>
        </p:txBody>
      </p:sp>
      <p:sp>
        <p:nvSpPr>
          <p:cNvPr id="15" name="Rectangle 14">
            <a:extLst>
              <a:ext uri="{FF2B5EF4-FFF2-40B4-BE49-F238E27FC236}">
                <a16:creationId xmlns:a16="http://schemas.microsoft.com/office/drawing/2014/main" id="{131E694F-FBC6-40C7-A0BE-E25524D4AB6B}"/>
              </a:ext>
            </a:extLst>
          </p:cNvPr>
          <p:cNvSpPr>
            <a:spLocks noGrp="1"/>
          </p:cNvSpPr>
          <p:nvPr/>
        </p:nvSpPr>
        <p:spPr>
          <a:xfrm>
            <a:off x="4619625" y="5048250"/>
            <a:ext cx="3000375" cy="590550"/>
          </a:xfrm>
          <a:prstGeom prst="rect">
            <a:avLst/>
          </a:prstGeom>
          <a:noFill/>
          <a:ln w="0">
            <a:noFill/>
          </a:ln>
        </p:spPr>
        <p:txBody>
          <a:bodyPr wrap="square" lIns="0" tIns="0" rIns="0" bIns="0" anchor="ctr">
            <a:normAutofit fontScale="95192"/>
          </a:bodyPr>
          <a:lstStyle/>
          <a:p>
            <a:pPr algn="ctr">
              <a:lnSpc>
                <a:spcPct val="100000"/>
              </a:lnSpc>
              <a:buNone/>
              <a:defRPr sz="1500" b="1" i="0">
                <a:solidFill>
                  <a:srgbClr val="111111"/>
                </a:solidFill>
                <a:latin typeface="Calibri"/>
                <a:ea typeface="Calibri"/>
                <a:cs typeface="Calibri"/>
              </a:defRPr>
            </a:pPr>
            <a:r>
              <a:rPr sz="1500" b="1" i="0">
                <a:solidFill>
                  <a:srgbClr val="111111"/>
                </a:solidFill>
                <a:latin typeface="Calibri"/>
                <a:ea typeface="Calibri"/>
                <a:cs typeface="Calibri"/>
              </a:rPr>
              <a:t>Fake-nominee subset: 5/20 → 0/20</a:t>
            </a:r>
          </a:p>
          <a:p>
            <a:pPr algn="ctr">
              <a:lnSpc>
                <a:spcPct val="100000"/>
              </a:lnSpc>
              <a:buNone/>
              <a:defRPr sz="1500" b="1" i="0">
                <a:solidFill>
                  <a:srgbClr val="111111"/>
                </a:solidFill>
                <a:latin typeface="Calibri"/>
                <a:ea typeface="Calibri"/>
                <a:cs typeface="Calibri"/>
              </a:defRPr>
            </a:pPr>
            <a:r>
              <a:rPr sz="1500" b="1" i="0">
                <a:solidFill>
                  <a:srgbClr val="111111"/>
                </a:solidFill>
                <a:latin typeface="Calibri"/>
                <a:ea typeface="Calibri"/>
                <a:cs typeface="Calibri"/>
              </a:rPr>
              <a:t>Fisher exact p = 0.047</a:t>
            </a:r>
          </a:p>
        </p:txBody>
      </p:sp>
      <p:sp>
        <p:nvSpPr>
          <p:cNvPr id="16" name="Rectangle 15">
            <a:extLst>
              <a:ext uri="{FF2B5EF4-FFF2-40B4-BE49-F238E27FC236}">
                <a16:creationId xmlns:a16="http://schemas.microsoft.com/office/drawing/2014/main" id="{BD843C08-F55B-4F11-9333-69CFE6374499}"/>
              </a:ext>
            </a:extLst>
          </p:cNvPr>
          <p:cNvSpPr>
            <a:spLocks noGrp="1"/>
          </p:cNvSpPr>
          <p:nvPr/>
        </p:nvSpPr>
        <p:spPr>
          <a:xfrm>
            <a:off x="7810500" y="5029200"/>
            <a:ext cx="3143250" cy="628650"/>
          </a:xfrm>
          <a:prstGeom prst="rect">
            <a:avLst/>
          </a:prstGeom>
          <a:noFill/>
          <a:ln w="0">
            <a:noFill/>
          </a:ln>
        </p:spPr>
        <p:txBody>
          <a:bodyPr wrap="square" lIns="0" tIns="0" rIns="0" bIns="0" anchor="ctr">
            <a:normAutofit/>
          </a:bodyPr>
          <a:lstStyle/>
          <a:p>
            <a:pPr algn="ctr">
              <a:lnSpc>
                <a:spcPct val="100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Trade-off</a:t>
            </a:r>
          </a:p>
          <a:p>
            <a:pPr algn="ctr">
              <a:lnSpc>
                <a:spcPct val="100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47 of 155 answers were warned; 6 were judged fully correct.</a:t>
            </a:r>
          </a:p>
        </p:txBody>
      </p:sp>
      <p:sp>
        <p:nvSpPr>
          <p:cNvPr id="17" name="Rectangle 16">
            <a:extLst>
              <a:ext uri="{FF2B5EF4-FFF2-40B4-BE49-F238E27FC236}">
                <a16:creationId xmlns:a16="http://schemas.microsoft.com/office/drawing/2014/main" id="{7CA02445-B045-4D04-9A24-0AD7AD61582D}"/>
              </a:ext>
            </a:extLst>
          </p:cNvPr>
          <p:cNvSpPr>
            <a:spLocks noGrp="1"/>
          </p:cNvSpPr>
          <p:nvPr/>
        </p:nvSpPr>
        <p:spPr>
          <a:xfrm>
            <a:off x="1190625" y="6019800"/>
            <a:ext cx="9810750" cy="333375"/>
          </a:xfrm>
          <a:prstGeom prst="rect">
            <a:avLst/>
          </a:prstGeom>
          <a:noFill/>
          <a:ln w="0">
            <a:noFill/>
          </a:ln>
        </p:spPr>
        <p:txBody>
          <a:bodyPr wrap="square" lIns="0" tIns="0" rIns="0" bIns="0" anchor="t">
            <a:normAutofit/>
          </a:bodyPr>
          <a:lstStyle/>
          <a:p>
            <a:pPr algn="ctr">
              <a:lnSpc>
                <a:spcPct val="100000"/>
              </a:lnSpc>
              <a:buNone/>
              <a:defRPr sz="1065" b="0" i="0">
                <a:solidFill>
                  <a:srgbClr val="5E5E5E"/>
                </a:solidFill>
                <a:latin typeface="Calibri"/>
                <a:ea typeface="Calibri"/>
                <a:cs typeface="Calibri"/>
              </a:defRPr>
            </a:pPr>
            <a:r>
              <a:rPr sz="1065" b="0" i="0">
                <a:solidFill>
                  <a:srgbClr val="5E5E5E"/>
                </a:solidFill>
                <a:latin typeface="Calibri"/>
                <a:ea typeface="Calibri"/>
                <a:cs typeface="Calibri"/>
              </a:rPr>
              <a:t>Controls were enabled together. The fake content was absent from the first draft, so the experiment cannot assign prevention to one layer; the output check remained a backstop.</a:t>
            </a:r>
          </a:p>
        </p:txBody>
      </p:sp>
    </p:spTree>
    <p:extLst>
      <p:ext uri="{BB962C8B-B14F-4D97-AF65-F5344CB8AC3E}">
        <p14:creationId xmlns:p14="http://schemas.microsoft.com/office/powerpoint/2010/main" val="3370024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A734B-D395-FF5A-7308-06695B7CD136}"/>
            </a:ext>
          </a:extLst>
        </p:cNvPr>
        <p:cNvGrpSpPr/>
        <p:nvPr/>
      </p:nvGrpSpPr>
      <p:grpSpPr>
        <a:xfrm>
          <a:off x="0" y="0"/>
          <a:ext cx="0" cy="0"/>
          <a:chOff x="0" y="0"/>
          <a:chExt cx="0" cy="0"/>
        </a:xfrm>
      </p:grpSpPr>
      <p:sp>
        <p:nvSpPr>
          <p:cNvPr id="3" name="revision-title">
            <a:extLst>
              <a:ext uri="{FF2B5EF4-FFF2-40B4-BE49-F238E27FC236}">
                <a16:creationId xmlns:a16="http://schemas.microsoft.com/office/drawing/2014/main" id="{0B6B37B1-9F03-F9F8-5C0D-74474C724076}"/>
              </a:ext>
            </a:extLst>
          </p:cNvPr>
          <p:cNvSpPr>
            <a:spLocks noGrp="1"/>
          </p:cNvSpPr>
          <p:nvPr/>
        </p:nvSpPr>
        <p:spPr>
          <a:xfrm>
            <a:off x="2286000" y="521207"/>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dirty="0">
                <a:solidFill>
                  <a:srgbClr val="111111"/>
                </a:solidFill>
                <a:latin typeface="Calibri"/>
                <a:ea typeface="Calibri"/>
                <a:cs typeface="Calibri"/>
              </a:rPr>
              <a:t>The assessor and the answer are 93% of the cost</a:t>
            </a:r>
          </a:p>
        </p:txBody>
      </p:sp>
      <p:sp>
        <p:nvSpPr>
          <p:cNvPr id="4" name="revision-subtitle">
            <a:extLst>
              <a:ext uri="{FF2B5EF4-FFF2-40B4-BE49-F238E27FC236}">
                <a16:creationId xmlns:a16="http://schemas.microsoft.com/office/drawing/2014/main" id="{B889DD72-ADEE-9F15-A332-D0829945FFE9}"/>
              </a:ext>
            </a:extLst>
          </p:cNvPr>
          <p:cNvSpPr>
            <a:spLocks noGrp="1"/>
          </p:cNvSpPr>
          <p:nvPr/>
        </p:nvSpPr>
        <p:spPr>
          <a:xfrm>
            <a:off x="952500" y="1069848"/>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dirty="0">
                <a:solidFill>
                  <a:srgbClr val="5E5E5E"/>
                </a:solidFill>
                <a:latin typeface="Calibri"/>
                <a:ea typeface="Calibri"/>
                <a:cs typeface="Calibri"/>
              </a:rPr>
              <a:t>Share of list cost per question by role · final retriever · validation set, 3 runs (75 question-runs) · total $0.107 per question</a:t>
            </a:r>
          </a:p>
        </p:txBody>
      </p:sp>
      <p:graphicFrame>
        <p:nvGraphicFramePr>
          <p:cNvPr id="5" name="cost-by-role-chart"/>
          <p:cNvGraphicFramePr>
            <a:graphicFrameLocks noGrp="1"/>
          </p:cNvGraphicFramePr>
          <p:nvPr/>
        </p:nvGraphicFramePr>
        <p:xfrm>
          <a:off x="685800" y="1554480"/>
          <a:ext cx="10817352"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6" name="cost-note"/>
          <p:cNvSpPr txBox="1"/>
          <p:nvPr/>
        </p:nvSpPr>
        <p:spPr>
          <a:xfrm>
            <a:off x="685800" y="5760720"/>
            <a:ext cx="10817352" cy="548640"/>
          </a:xfrm>
          <a:prstGeom prst="rect">
            <a:avLst/>
          </a:prstGeom>
          <a:noFill/>
        </p:spPr>
        <p:txBody>
          <a:bodyPr wrap="square" lIns="0" tIns="0" rIns="0" bIns="0" anchor="t">
            <a:spAutoFit/>
          </a:bodyPr>
          <a:lstStyle/>
          <a:p>
            <a:pPr algn="l"/>
            <a:r>
              <a:rPr sz="1400" b="1">
                <a:solidFill>
                  <a:srgbClr val="A31F34"/>
                </a:solidFill>
                <a:latin typeface="Calibri"/>
              </a:rPr>
              <a:t>Red: the two roles that switch to gpt-5.4 on table questions. </a:t>
            </a:r>
            <a:r>
              <a:rPr sz="1400" b="0">
                <a:solidFill>
                  <a:srgbClr val="5E5E5E"/>
                </a:solidFill>
                <a:latin typeface="Calibri"/>
              </a:rPr>
              <a:t>The assessor runs about twice per question.</a:t>
            </a:r>
          </a:p>
        </p:txBody>
      </p:sp>
    </p:spTree>
    <p:extLst>
      <p:ext uri="{BB962C8B-B14F-4D97-AF65-F5344CB8AC3E}">
        <p14:creationId xmlns:p14="http://schemas.microsoft.com/office/powerpoint/2010/main" val="3584496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vision-title">
            <a:extLst>
              <a:ext uri="{FF2B5EF4-FFF2-40B4-BE49-F238E27FC236}">
                <a16:creationId xmlns:a16="http://schemas.microsoft.com/office/drawing/2014/main" id="{5DD15D5C-79E5-4D27-9368-403B0C93AB3D}"/>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The table signal creates two execution paths</a:t>
            </a:r>
          </a:p>
        </p:txBody>
      </p:sp>
      <p:sp>
        <p:nvSpPr>
          <p:cNvPr id="2" name="revision-subtitle">
            <a:extLst>
              <a:ext uri="{FF2B5EF4-FFF2-40B4-BE49-F238E27FC236}">
                <a16:creationId xmlns:a16="http://schemas.microsoft.com/office/drawing/2014/main" id="{2FE17EFF-D4EB-480C-BAE8-3962BD8DDED3}"/>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The decision happens after retrieval, when the system can see the selected articles, sections, and tables.</a:t>
            </a:r>
          </a:p>
        </p:txBody>
      </p:sp>
      <p:sp>
        <p:nvSpPr>
          <p:cNvPr id="3" name="Rounded Rectangle 2">
            <a:extLst>
              <a:ext uri="{FF2B5EF4-FFF2-40B4-BE49-F238E27FC236}">
                <a16:creationId xmlns:a16="http://schemas.microsoft.com/office/drawing/2014/main" id="{4C988203-43E3-465B-8D98-3BB3BAED4FA6}"/>
              </a:ext>
            </a:extLst>
          </p:cNvPr>
          <p:cNvSpPr>
            <a:spLocks noGrp="1"/>
          </p:cNvSpPr>
          <p:nvPr/>
        </p:nvSpPr>
        <p:spPr>
          <a:xfrm>
            <a:off x="809625" y="1638300"/>
            <a:ext cx="1762125" cy="781050"/>
          </a:xfrm>
          <a:prstGeom prst="roundRect">
            <a:avLst>
              <a:gd name="adj" fmla="val 9756"/>
            </a:avLst>
          </a:prstGeom>
          <a:solidFill>
            <a:srgbClr val="F3F3F3"/>
          </a:solidFill>
          <a:ln w="9525">
            <a:solidFill>
              <a:srgbClr val="D8D8D8"/>
            </a:solidFill>
            <a:prstDash val="solid"/>
          </a:ln>
        </p:spPr>
        <p:txBody>
          <a:bodyPr/>
          <a:lstStyle/>
          <a:p>
            <a:endParaRPr lang="en-US"/>
          </a:p>
        </p:txBody>
      </p:sp>
      <p:sp>
        <p:nvSpPr>
          <p:cNvPr id="4" name="Rectangle 3">
            <a:extLst>
              <a:ext uri="{FF2B5EF4-FFF2-40B4-BE49-F238E27FC236}">
                <a16:creationId xmlns:a16="http://schemas.microsoft.com/office/drawing/2014/main" id="{0D26A6F9-7687-4C73-B9BF-17E1805E00AF}"/>
              </a:ext>
            </a:extLst>
          </p:cNvPr>
          <p:cNvSpPr>
            <a:spLocks noGrp="1"/>
          </p:cNvSpPr>
          <p:nvPr/>
        </p:nvSpPr>
        <p:spPr>
          <a:xfrm>
            <a:off x="1000125" y="1828800"/>
            <a:ext cx="1381125" cy="361950"/>
          </a:xfrm>
          <a:prstGeom prst="rect">
            <a:avLst/>
          </a:prstGeom>
          <a:noFill/>
          <a:ln w="0">
            <a:noFill/>
          </a:ln>
        </p:spPr>
        <p:txBody>
          <a:bodyPr wrap="square" lIns="0" tIns="0" rIns="0" bIns="0" anchor="ctr">
            <a:normAutofit/>
          </a:bodyPr>
          <a:lstStyle/>
          <a:p>
            <a:pPr algn="ctr">
              <a:lnSpc>
                <a:spcPct val="100000"/>
              </a:lnSpc>
              <a:buNone/>
              <a:defRPr sz="1800" b="1" i="0">
                <a:solidFill>
                  <a:srgbClr val="111111"/>
                </a:solidFill>
                <a:latin typeface="Calibri"/>
                <a:ea typeface="Calibri"/>
                <a:cs typeface="Calibri"/>
              </a:defRPr>
            </a:pPr>
            <a:r>
              <a:rPr sz="1800" b="1" i="0">
                <a:solidFill>
                  <a:srgbClr val="111111"/>
                </a:solidFill>
                <a:latin typeface="Calibri"/>
                <a:ea typeface="Calibri"/>
                <a:cs typeface="Calibri"/>
              </a:rPr>
              <a:t>Question</a:t>
            </a:r>
          </a:p>
        </p:txBody>
      </p:sp>
      <p:sp>
        <p:nvSpPr>
          <p:cNvPr id="5" name="Rectangle 4">
            <a:extLst>
              <a:ext uri="{FF2B5EF4-FFF2-40B4-BE49-F238E27FC236}">
                <a16:creationId xmlns:a16="http://schemas.microsoft.com/office/drawing/2014/main" id="{0D2E699A-4561-4916-A07E-00F6A9485708}"/>
              </a:ext>
            </a:extLst>
          </p:cNvPr>
          <p:cNvSpPr>
            <a:spLocks noGrp="1"/>
          </p:cNvSpPr>
          <p:nvPr/>
        </p:nvSpPr>
        <p:spPr>
          <a:xfrm>
            <a:off x="2647950" y="1800225"/>
            <a:ext cx="457200" cy="400050"/>
          </a:xfrm>
          <a:prstGeom prst="rect">
            <a:avLst/>
          </a:prstGeom>
          <a:noFill/>
          <a:ln w="0">
            <a:noFill/>
          </a:ln>
        </p:spPr>
        <p:txBody>
          <a:bodyPr wrap="square" lIns="0" tIns="0" rIns="0" bIns="0" anchor="ctr">
            <a:normAutofit/>
          </a:bodyPr>
          <a:lstStyle/>
          <a:p>
            <a:pPr algn="ctr">
              <a:lnSpc>
                <a:spcPct val="100000"/>
              </a:lnSpc>
              <a:buNone/>
              <a:defRPr sz="2325" b="1" i="0">
                <a:solidFill>
                  <a:srgbClr val="5E5E5E"/>
                </a:solidFill>
                <a:latin typeface="Calibri"/>
                <a:ea typeface="Calibri"/>
                <a:cs typeface="Calibri"/>
              </a:defRPr>
            </a:pPr>
            <a:r>
              <a:rPr sz="2325" b="1" i="0">
                <a:solidFill>
                  <a:srgbClr val="5E5E5E"/>
                </a:solidFill>
                <a:latin typeface="Calibri"/>
                <a:ea typeface="Calibri"/>
                <a:cs typeface="Calibri"/>
              </a:rPr>
              <a:t>→</a:t>
            </a:r>
          </a:p>
        </p:txBody>
      </p:sp>
      <p:sp>
        <p:nvSpPr>
          <p:cNvPr id="6" name="Rounded Rectangle 5">
            <a:extLst>
              <a:ext uri="{FF2B5EF4-FFF2-40B4-BE49-F238E27FC236}">
                <a16:creationId xmlns:a16="http://schemas.microsoft.com/office/drawing/2014/main" id="{87E75D39-29EF-44FE-849C-3A362574FF47}"/>
              </a:ext>
            </a:extLst>
          </p:cNvPr>
          <p:cNvSpPr>
            <a:spLocks noGrp="1"/>
          </p:cNvSpPr>
          <p:nvPr/>
        </p:nvSpPr>
        <p:spPr>
          <a:xfrm>
            <a:off x="3143250" y="1562100"/>
            <a:ext cx="3143250" cy="933450"/>
          </a:xfrm>
          <a:prstGeom prst="roundRect">
            <a:avLst>
              <a:gd name="adj" fmla="val 8163"/>
            </a:avLst>
          </a:prstGeom>
          <a:solidFill>
            <a:srgbClr val="E8F4F5"/>
          </a:solidFill>
          <a:ln w="9525">
            <a:solidFill>
              <a:srgbClr val="B8DDE0"/>
            </a:solidFill>
            <a:prstDash val="solid"/>
          </a:ln>
        </p:spPr>
        <p:txBody>
          <a:bodyPr/>
          <a:lstStyle/>
          <a:p>
            <a:endParaRPr lang="en-US"/>
          </a:p>
        </p:txBody>
      </p:sp>
      <p:sp>
        <p:nvSpPr>
          <p:cNvPr id="7" name="Rectangle 6">
            <a:extLst>
              <a:ext uri="{FF2B5EF4-FFF2-40B4-BE49-F238E27FC236}">
                <a16:creationId xmlns:a16="http://schemas.microsoft.com/office/drawing/2014/main" id="{DA7D9DB9-EFB0-4B34-9898-FFB3A51E0C83}"/>
              </a:ext>
            </a:extLst>
          </p:cNvPr>
          <p:cNvSpPr>
            <a:spLocks noGrp="1"/>
          </p:cNvSpPr>
          <p:nvPr/>
        </p:nvSpPr>
        <p:spPr>
          <a:xfrm>
            <a:off x="3381375" y="1724025"/>
            <a:ext cx="2667000" cy="295275"/>
          </a:xfrm>
          <a:prstGeom prst="rect">
            <a:avLst/>
          </a:prstGeom>
          <a:noFill/>
          <a:ln w="0">
            <a:noFill/>
          </a:ln>
        </p:spPr>
        <p:txBody>
          <a:bodyPr wrap="square" lIns="0" tIns="0" rIns="0" bIns="0" anchor="t">
            <a:normAutofit fontScale="95388"/>
          </a:bodyPr>
          <a:lstStyle/>
          <a:p>
            <a:pPr algn="ctr">
              <a:lnSpc>
                <a:spcPct val="100000"/>
              </a:lnSpc>
              <a:buNone/>
              <a:defRPr sz="1575" b="1" i="0">
                <a:solidFill>
                  <a:srgbClr val="087E8B"/>
                </a:solidFill>
                <a:latin typeface="Calibri"/>
                <a:ea typeface="Calibri"/>
                <a:cs typeface="Calibri"/>
              </a:defRPr>
            </a:pPr>
            <a:r>
              <a:rPr sz="1575" b="1" i="0">
                <a:solidFill>
                  <a:srgbClr val="087E8B"/>
                </a:solidFill>
                <a:latin typeface="Calibri"/>
                <a:ea typeface="Calibri"/>
                <a:cs typeface="Calibri"/>
              </a:rPr>
              <a:t>Retrieve and review with mini</a:t>
            </a:r>
          </a:p>
        </p:txBody>
      </p:sp>
      <p:sp>
        <p:nvSpPr>
          <p:cNvPr id="8" name="Rectangle 7">
            <a:extLst>
              <a:ext uri="{FF2B5EF4-FFF2-40B4-BE49-F238E27FC236}">
                <a16:creationId xmlns:a16="http://schemas.microsoft.com/office/drawing/2014/main" id="{BE8B5AA3-D167-480A-90F2-1DF780F95233}"/>
              </a:ext>
            </a:extLst>
          </p:cNvPr>
          <p:cNvSpPr>
            <a:spLocks noGrp="1"/>
          </p:cNvSpPr>
          <p:nvPr/>
        </p:nvSpPr>
        <p:spPr>
          <a:xfrm>
            <a:off x="3381375" y="2057400"/>
            <a:ext cx="2667000" cy="323850"/>
          </a:xfrm>
          <a:prstGeom prst="rect">
            <a:avLst/>
          </a:prstGeom>
          <a:noFill/>
          <a:ln w="0">
            <a:noFill/>
          </a:ln>
        </p:spPr>
        <p:txBody>
          <a:bodyPr wrap="square" lIns="0" tIns="0" rIns="0" bIns="0" anchor="ctr">
            <a:normAutofit fontScale="91358" lnSpcReduction="10000"/>
          </a:bodyPr>
          <a:lstStyle/>
          <a:p>
            <a:pPr algn="ctr">
              <a:lnSpc>
                <a:spcPct val="100000"/>
              </a:lnSpc>
              <a:buNone/>
              <a:defRPr sz="1163" b="0" i="0">
                <a:solidFill>
                  <a:srgbClr val="111111"/>
                </a:solidFill>
                <a:latin typeface="Calibri"/>
                <a:ea typeface="Calibri"/>
                <a:cs typeface="Calibri"/>
              </a:defRPr>
            </a:pPr>
            <a:r>
              <a:rPr sz="1163" b="0" i="0">
                <a:solidFill>
                  <a:srgbClr val="111111"/>
                </a:solidFill>
                <a:latin typeface="Calibri"/>
                <a:ea typeface="Calibri"/>
                <a:cs typeface="Calibri"/>
              </a:rPr>
              <a:t>Select articles and sections. Record stable table IDs.</a:t>
            </a:r>
          </a:p>
        </p:txBody>
      </p:sp>
      <p:sp>
        <p:nvSpPr>
          <p:cNvPr id="9" name="Rectangle 8">
            <a:extLst>
              <a:ext uri="{FF2B5EF4-FFF2-40B4-BE49-F238E27FC236}">
                <a16:creationId xmlns:a16="http://schemas.microsoft.com/office/drawing/2014/main" id="{37E14623-3602-48DE-BC55-80F2B27A52EC}"/>
              </a:ext>
            </a:extLst>
          </p:cNvPr>
          <p:cNvSpPr>
            <a:spLocks noGrp="1"/>
          </p:cNvSpPr>
          <p:nvPr/>
        </p:nvSpPr>
        <p:spPr>
          <a:xfrm>
            <a:off x="6353175" y="1800225"/>
            <a:ext cx="457200" cy="400050"/>
          </a:xfrm>
          <a:prstGeom prst="rect">
            <a:avLst/>
          </a:prstGeom>
          <a:noFill/>
          <a:ln w="0">
            <a:noFill/>
          </a:ln>
        </p:spPr>
        <p:txBody>
          <a:bodyPr wrap="square" lIns="0" tIns="0" rIns="0" bIns="0" anchor="ctr">
            <a:normAutofit/>
          </a:bodyPr>
          <a:lstStyle/>
          <a:p>
            <a:pPr algn="ctr">
              <a:lnSpc>
                <a:spcPct val="100000"/>
              </a:lnSpc>
              <a:buNone/>
              <a:defRPr sz="2325" b="1" i="0">
                <a:solidFill>
                  <a:srgbClr val="5E5E5E"/>
                </a:solidFill>
                <a:latin typeface="Calibri"/>
                <a:ea typeface="Calibri"/>
                <a:cs typeface="Calibri"/>
              </a:defRPr>
            </a:pPr>
            <a:r>
              <a:rPr sz="2325" b="1" i="0">
                <a:solidFill>
                  <a:srgbClr val="5E5E5E"/>
                </a:solidFill>
                <a:latin typeface="Calibri"/>
                <a:ea typeface="Calibri"/>
                <a:cs typeface="Calibri"/>
              </a:rPr>
              <a:t>→</a:t>
            </a:r>
          </a:p>
        </p:txBody>
      </p:sp>
      <p:sp>
        <p:nvSpPr>
          <p:cNvPr id="10" name="Rounded Rectangle 9">
            <a:extLst>
              <a:ext uri="{FF2B5EF4-FFF2-40B4-BE49-F238E27FC236}">
                <a16:creationId xmlns:a16="http://schemas.microsoft.com/office/drawing/2014/main" id="{46CB7F4E-D16E-48EC-B254-C43CFE24DB7B}"/>
              </a:ext>
            </a:extLst>
          </p:cNvPr>
          <p:cNvSpPr>
            <a:spLocks noGrp="1"/>
          </p:cNvSpPr>
          <p:nvPr/>
        </p:nvSpPr>
        <p:spPr>
          <a:xfrm>
            <a:off x="6858000" y="1562100"/>
            <a:ext cx="3333750" cy="933450"/>
          </a:xfrm>
          <a:prstGeom prst="roundRect">
            <a:avLst>
              <a:gd name="adj" fmla="val 8163"/>
            </a:avLst>
          </a:prstGeom>
          <a:solidFill>
            <a:srgbClr val="F7E9EC"/>
          </a:solidFill>
          <a:ln w="14288">
            <a:solidFill>
              <a:srgbClr val="E6BBC4"/>
            </a:solidFill>
            <a:prstDash val="solid"/>
          </a:ln>
        </p:spPr>
        <p:txBody>
          <a:bodyPr/>
          <a:lstStyle/>
          <a:p>
            <a:endParaRPr lang="en-US"/>
          </a:p>
        </p:txBody>
      </p:sp>
      <p:sp>
        <p:nvSpPr>
          <p:cNvPr id="11" name="Rectangle 10">
            <a:extLst>
              <a:ext uri="{FF2B5EF4-FFF2-40B4-BE49-F238E27FC236}">
                <a16:creationId xmlns:a16="http://schemas.microsoft.com/office/drawing/2014/main" id="{C1FD4220-AE05-41B5-87E7-D80DC62A5DB1}"/>
              </a:ext>
            </a:extLst>
          </p:cNvPr>
          <p:cNvSpPr>
            <a:spLocks noGrp="1"/>
          </p:cNvSpPr>
          <p:nvPr/>
        </p:nvSpPr>
        <p:spPr>
          <a:xfrm>
            <a:off x="7124700" y="1714500"/>
            <a:ext cx="2800350" cy="400050"/>
          </a:xfrm>
          <a:prstGeom prst="rect">
            <a:avLst/>
          </a:prstGeom>
          <a:noFill/>
          <a:ln w="0">
            <a:noFill/>
          </a:ln>
        </p:spPr>
        <p:txBody>
          <a:bodyPr wrap="square" lIns="0" tIns="0" rIns="0" bIns="0" anchor="ctr">
            <a:normAutofit fontScale="95000" lnSpcReduction="10000"/>
          </a:bodyPr>
          <a:lstStyle/>
          <a:p>
            <a:pPr algn="ctr">
              <a:lnSpc>
                <a:spcPct val="100000"/>
              </a:lnSpc>
              <a:buNone/>
              <a:defRPr sz="1500" b="1" i="0">
                <a:solidFill>
                  <a:srgbClr val="7E1728"/>
                </a:solidFill>
                <a:latin typeface="Calibri"/>
                <a:ea typeface="Calibri"/>
                <a:cs typeface="Calibri"/>
              </a:defRPr>
            </a:pPr>
            <a:r>
              <a:rPr sz="1500" b="1" i="0">
                <a:solidFill>
                  <a:srgbClr val="7E1728"/>
                </a:solidFill>
                <a:latin typeface="Calibri"/>
                <a:ea typeface="Calibri"/>
                <a:cs typeface="Calibri"/>
              </a:rPr>
              <a:t>Does the answer require table computation?</a:t>
            </a:r>
          </a:p>
        </p:txBody>
      </p:sp>
      <p:sp>
        <p:nvSpPr>
          <p:cNvPr id="12" name="Rectangle 11">
            <a:extLst>
              <a:ext uri="{FF2B5EF4-FFF2-40B4-BE49-F238E27FC236}">
                <a16:creationId xmlns:a16="http://schemas.microsoft.com/office/drawing/2014/main" id="{A7EE97F1-2531-453F-A3B5-D2F7EB3E4419}"/>
              </a:ext>
            </a:extLst>
          </p:cNvPr>
          <p:cNvSpPr>
            <a:spLocks noGrp="1"/>
          </p:cNvSpPr>
          <p:nvPr/>
        </p:nvSpPr>
        <p:spPr>
          <a:xfrm>
            <a:off x="7124700" y="2133600"/>
            <a:ext cx="2800350" cy="257175"/>
          </a:xfrm>
          <a:prstGeom prst="rect">
            <a:avLst/>
          </a:prstGeom>
          <a:noFill/>
          <a:ln w="0">
            <a:noFill/>
          </a:ln>
        </p:spPr>
        <p:txBody>
          <a:bodyPr wrap="square" lIns="0" tIns="0" rIns="0" bIns="0" anchor="t">
            <a:normAutofit fontScale="87963" lnSpcReduction="20000"/>
          </a:bodyPr>
          <a:lstStyle/>
          <a:p>
            <a:pPr algn="ctr">
              <a:lnSpc>
                <a:spcPct val="100000"/>
              </a:lnSpc>
              <a:buNone/>
              <a:defRPr sz="1088" b="0" i="0">
                <a:solidFill>
                  <a:srgbClr val="5E5E5E"/>
                </a:solidFill>
                <a:latin typeface="Calibri"/>
                <a:ea typeface="Calibri"/>
                <a:cs typeface="Calibri"/>
              </a:defRPr>
            </a:pPr>
            <a:r>
              <a:rPr sz="1088" b="0" i="0">
                <a:solidFill>
                  <a:srgbClr val="5E5E5E"/>
                </a:solidFill>
                <a:latin typeface="Calibri"/>
                <a:ea typeface="Calibri"/>
                <a:cs typeface="Calibri"/>
              </a:rPr>
              <a:t>A table flag or selected table ID activates the table path.</a:t>
            </a:r>
          </a:p>
        </p:txBody>
      </p:sp>
      <p:sp>
        <p:nvSpPr>
          <p:cNvPr id="13" name="Rectangle 12">
            <a:extLst>
              <a:ext uri="{FF2B5EF4-FFF2-40B4-BE49-F238E27FC236}">
                <a16:creationId xmlns:a16="http://schemas.microsoft.com/office/drawing/2014/main" id="{BAA6D413-5DCA-4036-8A1F-8D24E2EAA508}"/>
              </a:ext>
            </a:extLst>
          </p:cNvPr>
          <p:cNvSpPr>
            <a:spLocks noGrp="1"/>
          </p:cNvSpPr>
          <p:nvPr/>
        </p:nvSpPr>
        <p:spPr>
          <a:xfrm>
            <a:off x="2571750" y="2762250"/>
            <a:ext cx="857250" cy="247650"/>
          </a:xfrm>
          <a:prstGeom prst="rect">
            <a:avLst/>
          </a:prstGeom>
          <a:noFill/>
          <a:ln w="0">
            <a:noFill/>
          </a:ln>
        </p:spPr>
        <p:txBody>
          <a:bodyPr wrap="square" lIns="0" tIns="0" rIns="0" bIns="0" anchor="t">
            <a:normAutofit/>
          </a:bodyPr>
          <a:lstStyle/>
          <a:p>
            <a:pPr algn="ctr">
              <a:lnSpc>
                <a:spcPct val="100000"/>
              </a:lnSpc>
              <a:buNone/>
              <a:defRPr sz="1125" b="1" i="0">
                <a:solidFill>
                  <a:srgbClr val="087E8B"/>
                </a:solidFill>
                <a:latin typeface="Calibri"/>
                <a:ea typeface="Calibri"/>
                <a:cs typeface="Calibri"/>
              </a:defRPr>
            </a:pPr>
            <a:r>
              <a:rPr sz="1125" b="1" i="0">
                <a:solidFill>
                  <a:srgbClr val="087E8B"/>
                </a:solidFill>
                <a:latin typeface="Calibri"/>
                <a:ea typeface="Calibri"/>
                <a:cs typeface="Calibri"/>
              </a:rPr>
              <a:t>NO</a:t>
            </a:r>
          </a:p>
        </p:txBody>
      </p:sp>
      <p:sp>
        <p:nvSpPr>
          <p:cNvPr id="14" name="Rectangle 13">
            <a:extLst>
              <a:ext uri="{FF2B5EF4-FFF2-40B4-BE49-F238E27FC236}">
                <a16:creationId xmlns:a16="http://schemas.microsoft.com/office/drawing/2014/main" id="{F03BF6AB-51D8-498E-A5B8-0C7BC0940AEB}"/>
              </a:ext>
            </a:extLst>
          </p:cNvPr>
          <p:cNvSpPr>
            <a:spLocks noGrp="1"/>
          </p:cNvSpPr>
          <p:nvPr/>
        </p:nvSpPr>
        <p:spPr>
          <a:xfrm>
            <a:off x="8763000" y="2762250"/>
            <a:ext cx="857250" cy="247650"/>
          </a:xfrm>
          <a:prstGeom prst="rect">
            <a:avLst/>
          </a:prstGeom>
          <a:noFill/>
          <a:ln w="0">
            <a:noFill/>
          </a:ln>
        </p:spPr>
        <p:txBody>
          <a:bodyPr wrap="square" lIns="0" tIns="0" rIns="0" bIns="0" anchor="t">
            <a:normAutofit/>
          </a:bodyPr>
          <a:lstStyle/>
          <a:p>
            <a:pPr algn="ctr">
              <a:lnSpc>
                <a:spcPct val="100000"/>
              </a:lnSpc>
              <a:buNone/>
              <a:defRPr sz="1125" b="1" i="0">
                <a:solidFill>
                  <a:srgbClr val="A31F34"/>
                </a:solidFill>
                <a:latin typeface="Calibri"/>
                <a:ea typeface="Calibri"/>
                <a:cs typeface="Calibri"/>
              </a:defRPr>
            </a:pPr>
            <a:r>
              <a:rPr sz="1125" b="1" i="0">
                <a:solidFill>
                  <a:srgbClr val="A31F34"/>
                </a:solidFill>
                <a:latin typeface="Calibri"/>
                <a:ea typeface="Calibri"/>
                <a:cs typeface="Calibri"/>
              </a:rPr>
              <a:t>YES</a:t>
            </a:r>
          </a:p>
        </p:txBody>
      </p:sp>
      <p:sp>
        <p:nvSpPr>
          <p:cNvPr id="15" name="Rounded Rectangle 14">
            <a:extLst>
              <a:ext uri="{FF2B5EF4-FFF2-40B4-BE49-F238E27FC236}">
                <a16:creationId xmlns:a16="http://schemas.microsoft.com/office/drawing/2014/main" id="{58AFC728-13CE-402C-B7B2-253730C6D5C9}"/>
              </a:ext>
            </a:extLst>
          </p:cNvPr>
          <p:cNvSpPr>
            <a:spLocks noGrp="1"/>
          </p:cNvSpPr>
          <p:nvPr/>
        </p:nvSpPr>
        <p:spPr>
          <a:xfrm>
            <a:off x="666750" y="3048000"/>
            <a:ext cx="4953000" cy="2381250"/>
          </a:xfrm>
          <a:prstGeom prst="roundRect">
            <a:avLst>
              <a:gd name="adj" fmla="val 3200"/>
            </a:avLst>
          </a:prstGeom>
          <a:solidFill>
            <a:srgbClr val="F3F3F3"/>
          </a:solidFill>
          <a:ln w="9525">
            <a:solidFill>
              <a:srgbClr val="D8D8D8"/>
            </a:solidFill>
            <a:prstDash val="solid"/>
          </a:ln>
        </p:spPr>
        <p:txBody>
          <a:bodyPr/>
          <a:lstStyle/>
          <a:p>
            <a:endParaRPr lang="en-US"/>
          </a:p>
        </p:txBody>
      </p:sp>
      <p:sp>
        <p:nvSpPr>
          <p:cNvPr id="16" name="Rectangle 15">
            <a:extLst>
              <a:ext uri="{FF2B5EF4-FFF2-40B4-BE49-F238E27FC236}">
                <a16:creationId xmlns:a16="http://schemas.microsoft.com/office/drawing/2014/main" id="{53EF899C-D169-4566-B1F5-5A3EE1A342A2}"/>
              </a:ext>
            </a:extLst>
          </p:cNvPr>
          <p:cNvSpPr>
            <a:spLocks noGrp="1"/>
          </p:cNvSpPr>
          <p:nvPr/>
        </p:nvSpPr>
        <p:spPr>
          <a:xfrm>
            <a:off x="1000125" y="3257550"/>
            <a:ext cx="4286250" cy="323850"/>
          </a:xfrm>
          <a:prstGeom prst="rect">
            <a:avLst/>
          </a:prstGeom>
          <a:noFill/>
          <a:ln w="0">
            <a:noFill/>
          </a:ln>
        </p:spPr>
        <p:txBody>
          <a:bodyPr wrap="square" lIns="0" tIns="0" rIns="0" bIns="0" anchor="t">
            <a:normAutofit/>
          </a:bodyPr>
          <a:lstStyle/>
          <a:p>
            <a:pPr algn="ctr">
              <a:lnSpc>
                <a:spcPct val="100000"/>
              </a:lnSpc>
              <a:buNone/>
              <a:defRPr sz="1650" b="1" i="0">
                <a:solidFill>
                  <a:srgbClr val="087E8B"/>
                </a:solidFill>
                <a:latin typeface="Calibri"/>
                <a:ea typeface="Calibri"/>
                <a:cs typeface="Calibri"/>
              </a:defRPr>
            </a:pPr>
            <a:r>
              <a:rPr sz="1650" b="1" i="0">
                <a:solidFill>
                  <a:srgbClr val="087E8B"/>
                </a:solidFill>
                <a:latin typeface="Calibri"/>
                <a:ea typeface="Calibri"/>
                <a:cs typeface="Calibri"/>
              </a:rPr>
              <a:t>TEXT-ONLY QUESTION</a:t>
            </a:r>
          </a:p>
        </p:txBody>
      </p:sp>
      <p:sp>
        <p:nvSpPr>
          <p:cNvPr id="17" name="Rounded Rectangle 16">
            <a:extLst>
              <a:ext uri="{FF2B5EF4-FFF2-40B4-BE49-F238E27FC236}">
                <a16:creationId xmlns:a16="http://schemas.microsoft.com/office/drawing/2014/main" id="{D600BCE9-BE23-4881-947B-486392D5DE89}"/>
              </a:ext>
            </a:extLst>
          </p:cNvPr>
          <p:cNvSpPr>
            <a:spLocks noGrp="1"/>
          </p:cNvSpPr>
          <p:nvPr/>
        </p:nvSpPr>
        <p:spPr>
          <a:xfrm>
            <a:off x="1143000" y="3857625"/>
            <a:ext cx="1666875" cy="723900"/>
          </a:xfrm>
          <a:prstGeom prst="roundRect">
            <a:avLst>
              <a:gd name="adj" fmla="val 9211"/>
            </a:avLst>
          </a:prstGeom>
          <a:solidFill>
            <a:srgbClr val="FFFFFF"/>
          </a:solidFill>
          <a:ln w="9525">
            <a:solidFill>
              <a:srgbClr val="D8D8D8"/>
            </a:solidFill>
            <a:prstDash val="solid"/>
          </a:ln>
        </p:spPr>
        <p:txBody>
          <a:bodyPr/>
          <a:lstStyle/>
          <a:p>
            <a:endParaRPr lang="en-US"/>
          </a:p>
        </p:txBody>
      </p:sp>
      <p:sp>
        <p:nvSpPr>
          <p:cNvPr id="18" name="Rectangle 17">
            <a:extLst>
              <a:ext uri="{FF2B5EF4-FFF2-40B4-BE49-F238E27FC236}">
                <a16:creationId xmlns:a16="http://schemas.microsoft.com/office/drawing/2014/main" id="{F37CC70B-0061-493E-A7F7-2F2DABD72AC0}"/>
              </a:ext>
            </a:extLst>
          </p:cNvPr>
          <p:cNvSpPr>
            <a:spLocks noGrp="1"/>
          </p:cNvSpPr>
          <p:nvPr/>
        </p:nvSpPr>
        <p:spPr>
          <a:xfrm>
            <a:off x="1304925" y="4000500"/>
            <a:ext cx="1343025" cy="457200"/>
          </a:xfrm>
          <a:prstGeom prst="rect">
            <a:avLst/>
          </a:prstGeom>
          <a:noFill/>
          <a:ln w="0">
            <a:noFill/>
          </a:ln>
        </p:spPr>
        <p:txBody>
          <a:bodyPr wrap="square" lIns="0" tIns="0" rIns="0" bIns="0" anchor="ctr">
            <a:normAutofit fontScale="98333"/>
          </a:bodyPr>
          <a:lstStyle/>
          <a:p>
            <a:pPr algn="ctr">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Mini assesses</a:t>
            </a:r>
          </a:p>
          <a:p>
            <a:pPr algn="ctr">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selected sections</a:t>
            </a:r>
          </a:p>
        </p:txBody>
      </p:sp>
      <p:sp>
        <p:nvSpPr>
          <p:cNvPr id="19" name="Rectangle 18">
            <a:extLst>
              <a:ext uri="{FF2B5EF4-FFF2-40B4-BE49-F238E27FC236}">
                <a16:creationId xmlns:a16="http://schemas.microsoft.com/office/drawing/2014/main" id="{5BEEC7F3-040D-47B9-92F5-7D1DDB2A5860}"/>
              </a:ext>
            </a:extLst>
          </p:cNvPr>
          <p:cNvSpPr>
            <a:spLocks noGrp="1"/>
          </p:cNvSpPr>
          <p:nvPr/>
        </p:nvSpPr>
        <p:spPr>
          <a:xfrm>
            <a:off x="2905125" y="4010025"/>
            <a:ext cx="400050" cy="400050"/>
          </a:xfrm>
          <a:prstGeom prst="rect">
            <a:avLst/>
          </a:prstGeom>
          <a:noFill/>
          <a:ln w="0">
            <a:noFill/>
          </a:ln>
        </p:spPr>
        <p:txBody>
          <a:bodyPr wrap="square" lIns="0" tIns="0" rIns="0" bIns="0" anchor="t">
            <a:normAutofit/>
          </a:bodyPr>
          <a:lstStyle/>
          <a:p>
            <a:pPr algn="ctr">
              <a:lnSpc>
                <a:spcPct val="100000"/>
              </a:lnSpc>
              <a:buNone/>
              <a:defRPr sz="2100" b="1" i="0">
                <a:solidFill>
                  <a:srgbClr val="5E5E5E"/>
                </a:solidFill>
                <a:latin typeface="Calibri"/>
                <a:ea typeface="Calibri"/>
                <a:cs typeface="Calibri"/>
              </a:defRPr>
            </a:pPr>
            <a:r>
              <a:rPr sz="2100" b="1" i="0">
                <a:solidFill>
                  <a:srgbClr val="5E5E5E"/>
                </a:solidFill>
                <a:latin typeface="Calibri"/>
                <a:ea typeface="Calibri"/>
                <a:cs typeface="Calibri"/>
              </a:rPr>
              <a:t>→</a:t>
            </a:r>
          </a:p>
        </p:txBody>
      </p:sp>
      <p:sp>
        <p:nvSpPr>
          <p:cNvPr id="20" name="Rounded Rectangle 19">
            <a:extLst>
              <a:ext uri="{FF2B5EF4-FFF2-40B4-BE49-F238E27FC236}">
                <a16:creationId xmlns:a16="http://schemas.microsoft.com/office/drawing/2014/main" id="{8B8D545C-8124-4083-B650-AD33D9757A63}"/>
              </a:ext>
            </a:extLst>
          </p:cNvPr>
          <p:cNvSpPr>
            <a:spLocks noGrp="1"/>
          </p:cNvSpPr>
          <p:nvPr/>
        </p:nvSpPr>
        <p:spPr>
          <a:xfrm>
            <a:off x="3381375" y="3857625"/>
            <a:ext cx="1666875" cy="723900"/>
          </a:xfrm>
          <a:prstGeom prst="roundRect">
            <a:avLst>
              <a:gd name="adj" fmla="val 9211"/>
            </a:avLst>
          </a:prstGeom>
          <a:solidFill>
            <a:srgbClr val="FFFFFF"/>
          </a:solidFill>
          <a:ln w="9525">
            <a:solidFill>
              <a:srgbClr val="D8D8D8"/>
            </a:solidFill>
            <a:prstDash val="solid"/>
          </a:ln>
        </p:spPr>
        <p:txBody>
          <a:bodyPr/>
          <a:lstStyle/>
          <a:p>
            <a:endParaRPr lang="en-US"/>
          </a:p>
        </p:txBody>
      </p:sp>
      <p:sp>
        <p:nvSpPr>
          <p:cNvPr id="21" name="Rectangle 20">
            <a:extLst>
              <a:ext uri="{FF2B5EF4-FFF2-40B4-BE49-F238E27FC236}">
                <a16:creationId xmlns:a16="http://schemas.microsoft.com/office/drawing/2014/main" id="{E61FD808-6333-4E59-B546-AE8218579B05}"/>
              </a:ext>
            </a:extLst>
          </p:cNvPr>
          <p:cNvSpPr>
            <a:spLocks noGrp="1"/>
          </p:cNvSpPr>
          <p:nvPr/>
        </p:nvSpPr>
        <p:spPr>
          <a:xfrm>
            <a:off x="3438144" y="4000500"/>
            <a:ext cx="1554480" cy="457200"/>
          </a:xfrm>
          <a:prstGeom prst="rect">
            <a:avLst/>
          </a:prstGeom>
          <a:noFill/>
          <a:ln w="0">
            <a:noFill/>
          </a:ln>
        </p:spPr>
        <p:txBody>
          <a:bodyPr wrap="square" lIns="0" tIns="0" rIns="0" bIns="0" anchor="ctr">
            <a:normAutofit/>
          </a:bodyPr>
          <a:lstStyle/>
          <a:p>
            <a:pPr algn="ctr">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Mini answers</a:t>
            </a:r>
          </a:p>
          <a:p>
            <a:pPr algn="ctr">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from whole articles</a:t>
            </a:r>
          </a:p>
        </p:txBody>
      </p:sp>
      <p:sp>
        <p:nvSpPr>
          <p:cNvPr id="22" name="Rectangle 21">
            <a:extLst>
              <a:ext uri="{FF2B5EF4-FFF2-40B4-BE49-F238E27FC236}">
                <a16:creationId xmlns:a16="http://schemas.microsoft.com/office/drawing/2014/main" id="{B675343A-A594-4A60-BACE-A5533A7EFC00}"/>
              </a:ext>
            </a:extLst>
          </p:cNvPr>
          <p:cNvSpPr>
            <a:spLocks noGrp="1"/>
          </p:cNvSpPr>
          <p:nvPr/>
        </p:nvSpPr>
        <p:spPr>
          <a:xfrm>
            <a:off x="1095375" y="4857750"/>
            <a:ext cx="4095750" cy="304800"/>
          </a:xfrm>
          <a:prstGeom prst="rect">
            <a:avLst/>
          </a:prstGeom>
          <a:noFill/>
          <a:ln w="0">
            <a:noFill/>
          </a:ln>
        </p:spPr>
        <p:txBody>
          <a:bodyPr wrap="square" lIns="0" tIns="0" rIns="0" bIns="0" anchor="t">
            <a:normAutofit/>
          </a:bodyPr>
          <a:lstStyle/>
          <a:p>
            <a:pPr algn="ctr">
              <a:lnSpc>
                <a:spcPct val="100000"/>
              </a:lnSpc>
              <a:buNone/>
              <a:defRPr sz="1200" b="0" i="0">
                <a:solidFill>
                  <a:srgbClr val="5E5E5E"/>
                </a:solidFill>
                <a:latin typeface="Calibri"/>
                <a:ea typeface="Calibri"/>
                <a:cs typeface="Calibri"/>
              </a:defRPr>
            </a:pPr>
            <a:r>
              <a:rPr sz="1200" b="0" i="0">
                <a:solidFill>
                  <a:srgbClr val="5E5E5E"/>
                </a:solidFill>
                <a:latin typeface="Calibri"/>
                <a:ea typeface="Calibri"/>
                <a:cs typeface="Calibri"/>
              </a:rPr>
              <a:t>No table planner. Every model call stays on mini.</a:t>
            </a:r>
          </a:p>
        </p:txBody>
      </p:sp>
      <p:sp>
        <p:nvSpPr>
          <p:cNvPr id="23" name="Rounded Rectangle 22">
            <a:extLst>
              <a:ext uri="{FF2B5EF4-FFF2-40B4-BE49-F238E27FC236}">
                <a16:creationId xmlns:a16="http://schemas.microsoft.com/office/drawing/2014/main" id="{F706D603-4640-4A91-B2C1-2E4920612F32}"/>
              </a:ext>
            </a:extLst>
          </p:cNvPr>
          <p:cNvSpPr>
            <a:spLocks noGrp="1"/>
          </p:cNvSpPr>
          <p:nvPr/>
        </p:nvSpPr>
        <p:spPr>
          <a:xfrm>
            <a:off x="6191250" y="3048000"/>
            <a:ext cx="5334000" cy="2381250"/>
          </a:xfrm>
          <a:prstGeom prst="roundRect">
            <a:avLst>
              <a:gd name="adj" fmla="val 3200"/>
            </a:avLst>
          </a:prstGeom>
          <a:solidFill>
            <a:srgbClr val="F7E9EC"/>
          </a:solidFill>
          <a:ln w="9525">
            <a:solidFill>
              <a:srgbClr val="E6BBC4"/>
            </a:solidFill>
            <a:prstDash val="solid"/>
          </a:ln>
        </p:spPr>
        <p:txBody>
          <a:bodyPr/>
          <a:lstStyle/>
          <a:p>
            <a:endParaRPr lang="en-US"/>
          </a:p>
        </p:txBody>
      </p:sp>
      <p:sp>
        <p:nvSpPr>
          <p:cNvPr id="24" name="Rectangle 23">
            <a:extLst>
              <a:ext uri="{FF2B5EF4-FFF2-40B4-BE49-F238E27FC236}">
                <a16:creationId xmlns:a16="http://schemas.microsoft.com/office/drawing/2014/main" id="{4F0F61AF-076F-4628-A206-D076279A0C8B}"/>
              </a:ext>
            </a:extLst>
          </p:cNvPr>
          <p:cNvSpPr>
            <a:spLocks noGrp="1"/>
          </p:cNvSpPr>
          <p:nvPr/>
        </p:nvSpPr>
        <p:spPr>
          <a:xfrm>
            <a:off x="6572250" y="3257550"/>
            <a:ext cx="4572000" cy="323850"/>
          </a:xfrm>
          <a:prstGeom prst="rect">
            <a:avLst/>
          </a:prstGeom>
          <a:noFill/>
          <a:ln w="0">
            <a:noFill/>
          </a:ln>
        </p:spPr>
        <p:txBody>
          <a:bodyPr wrap="square" lIns="0" tIns="0" rIns="0" bIns="0" anchor="t">
            <a:normAutofit/>
          </a:bodyPr>
          <a:lstStyle/>
          <a:p>
            <a:pPr algn="ctr">
              <a:lnSpc>
                <a:spcPct val="100000"/>
              </a:lnSpc>
              <a:buNone/>
              <a:defRPr sz="1650" b="1" i="0">
                <a:solidFill>
                  <a:srgbClr val="A31F34"/>
                </a:solidFill>
                <a:latin typeface="Calibri"/>
                <a:ea typeface="Calibri"/>
                <a:cs typeface="Calibri"/>
              </a:defRPr>
            </a:pPr>
            <a:r>
              <a:rPr sz="1650" b="1" i="0">
                <a:solidFill>
                  <a:srgbClr val="A31F34"/>
                </a:solidFill>
                <a:latin typeface="Calibri"/>
                <a:ea typeface="Calibri"/>
                <a:cs typeface="Calibri"/>
              </a:rPr>
              <a:t>TABLE QUESTION</a:t>
            </a:r>
          </a:p>
        </p:txBody>
      </p:sp>
      <p:sp>
        <p:nvSpPr>
          <p:cNvPr id="25" name="Rounded Rectangle 24">
            <a:extLst>
              <a:ext uri="{FF2B5EF4-FFF2-40B4-BE49-F238E27FC236}">
                <a16:creationId xmlns:a16="http://schemas.microsoft.com/office/drawing/2014/main" id="{A3639674-3474-489F-9C7A-A16F1050C9EF}"/>
              </a:ext>
            </a:extLst>
          </p:cNvPr>
          <p:cNvSpPr>
            <a:spLocks noGrp="1"/>
          </p:cNvSpPr>
          <p:nvPr/>
        </p:nvSpPr>
        <p:spPr>
          <a:xfrm>
            <a:off x="6477000" y="3857625"/>
            <a:ext cx="1066800" cy="723900"/>
          </a:xfrm>
          <a:prstGeom prst="roundRect">
            <a:avLst>
              <a:gd name="adj" fmla="val 9211"/>
            </a:avLst>
          </a:prstGeom>
          <a:solidFill>
            <a:srgbClr val="FFFFFF"/>
          </a:solidFill>
          <a:ln w="9525">
            <a:solidFill>
              <a:srgbClr val="E6BBC4"/>
            </a:solidFill>
            <a:prstDash val="solid"/>
          </a:ln>
        </p:spPr>
        <p:txBody>
          <a:bodyPr/>
          <a:lstStyle/>
          <a:p>
            <a:endParaRPr lang="en-US"/>
          </a:p>
        </p:txBody>
      </p:sp>
      <p:sp>
        <p:nvSpPr>
          <p:cNvPr id="26" name="Rectangle 25">
            <a:extLst>
              <a:ext uri="{FF2B5EF4-FFF2-40B4-BE49-F238E27FC236}">
                <a16:creationId xmlns:a16="http://schemas.microsoft.com/office/drawing/2014/main" id="{E897333F-D2DF-4244-AE29-A27CD6C06D66}"/>
              </a:ext>
            </a:extLst>
          </p:cNvPr>
          <p:cNvSpPr>
            <a:spLocks noGrp="1"/>
          </p:cNvSpPr>
          <p:nvPr/>
        </p:nvSpPr>
        <p:spPr>
          <a:xfrm>
            <a:off x="6553200" y="3981450"/>
            <a:ext cx="914400" cy="485775"/>
          </a:xfrm>
          <a:prstGeom prst="rect">
            <a:avLst/>
          </a:prstGeom>
          <a:noFill/>
          <a:ln w="0">
            <a:noFill/>
          </a:ln>
        </p:spPr>
        <p:txBody>
          <a:bodyPr wrap="square" lIns="0" tIns="0" rIns="0" bIns="0" anchor="ctr">
            <a:normAutofit/>
          </a:bodyPr>
          <a:lstStyle/>
          <a:p>
            <a:pPr algn="ctr">
              <a:lnSpc>
                <a:spcPct val="100000"/>
              </a:lnSpc>
              <a:buNone/>
              <a:defRPr sz="1088" b="1" i="0">
                <a:solidFill>
                  <a:srgbClr val="7E1728"/>
                </a:solidFill>
                <a:latin typeface="Calibri"/>
                <a:ea typeface="Calibri"/>
                <a:cs typeface="Calibri"/>
              </a:defRPr>
            </a:pPr>
            <a:r>
              <a:rPr sz="1088" b="1" i="0">
                <a:solidFill>
                  <a:srgbClr val="7E1728"/>
                </a:solidFill>
                <a:latin typeface="Calibri"/>
                <a:ea typeface="Calibri"/>
                <a:cs typeface="Calibri"/>
              </a:rPr>
              <a:t>gpt-5.4</a:t>
            </a:r>
          </a:p>
          <a:p>
            <a:pPr algn="ctr">
              <a:lnSpc>
                <a:spcPct val="100000"/>
              </a:lnSpc>
              <a:buNone/>
              <a:defRPr sz="1088" b="1" i="0">
                <a:solidFill>
                  <a:srgbClr val="7E1728"/>
                </a:solidFill>
                <a:latin typeface="Calibri"/>
                <a:ea typeface="Calibri"/>
                <a:cs typeface="Calibri"/>
              </a:defRPr>
            </a:pPr>
            <a:r>
              <a:rPr sz="1088" b="1" i="0">
                <a:solidFill>
                  <a:srgbClr val="7E1728"/>
                </a:solidFill>
                <a:latin typeface="Calibri"/>
                <a:ea typeface="Calibri"/>
                <a:cs typeface="Calibri"/>
              </a:rPr>
              <a:t>assesses</a:t>
            </a:r>
          </a:p>
        </p:txBody>
      </p:sp>
      <p:sp>
        <p:nvSpPr>
          <p:cNvPr id="27" name="Rectangle 26">
            <a:extLst>
              <a:ext uri="{FF2B5EF4-FFF2-40B4-BE49-F238E27FC236}">
                <a16:creationId xmlns:a16="http://schemas.microsoft.com/office/drawing/2014/main" id="{5D089288-608E-40B4-844F-DE2F3C769BF4}"/>
              </a:ext>
            </a:extLst>
          </p:cNvPr>
          <p:cNvSpPr>
            <a:spLocks noGrp="1"/>
          </p:cNvSpPr>
          <p:nvPr/>
        </p:nvSpPr>
        <p:spPr>
          <a:xfrm>
            <a:off x="7553325" y="4019550"/>
            <a:ext cx="180975" cy="342900"/>
          </a:xfrm>
          <a:prstGeom prst="rect">
            <a:avLst/>
          </a:prstGeom>
          <a:noFill/>
          <a:ln w="0">
            <a:noFill/>
          </a:ln>
        </p:spPr>
        <p:txBody>
          <a:bodyPr wrap="square" lIns="0" tIns="0" rIns="0" bIns="0" anchor="t">
            <a:normAutofit fontScale="94248"/>
          </a:bodyPr>
          <a:lstStyle/>
          <a:p>
            <a:pPr algn="ctr">
              <a:lnSpc>
                <a:spcPct val="100000"/>
              </a:lnSpc>
              <a:buNone/>
              <a:defRPr sz="1650" b="1" i="0">
                <a:solidFill>
                  <a:srgbClr val="5E5E5E"/>
                </a:solidFill>
                <a:latin typeface="Calibri"/>
                <a:ea typeface="Calibri"/>
                <a:cs typeface="Calibri"/>
              </a:defRPr>
            </a:pPr>
            <a:r>
              <a:rPr sz="1650" b="1" i="0">
                <a:solidFill>
                  <a:srgbClr val="5E5E5E"/>
                </a:solidFill>
                <a:latin typeface="Calibri"/>
                <a:ea typeface="Calibri"/>
                <a:cs typeface="Calibri"/>
              </a:rPr>
              <a:t>→</a:t>
            </a:r>
          </a:p>
        </p:txBody>
      </p:sp>
      <p:sp>
        <p:nvSpPr>
          <p:cNvPr id="28" name="Rounded Rectangle 27">
            <a:extLst>
              <a:ext uri="{FF2B5EF4-FFF2-40B4-BE49-F238E27FC236}">
                <a16:creationId xmlns:a16="http://schemas.microsoft.com/office/drawing/2014/main" id="{877FE8EC-DE8E-4BC4-8FF5-6BA4467F7362}"/>
              </a:ext>
            </a:extLst>
          </p:cNvPr>
          <p:cNvSpPr>
            <a:spLocks noGrp="1"/>
          </p:cNvSpPr>
          <p:nvPr/>
        </p:nvSpPr>
        <p:spPr>
          <a:xfrm>
            <a:off x="7734300" y="3857625"/>
            <a:ext cx="1066800" cy="723900"/>
          </a:xfrm>
          <a:prstGeom prst="roundRect">
            <a:avLst>
              <a:gd name="adj" fmla="val 9211"/>
            </a:avLst>
          </a:prstGeom>
          <a:solidFill>
            <a:srgbClr val="FFFFFF"/>
          </a:solidFill>
          <a:ln w="9525">
            <a:solidFill>
              <a:srgbClr val="D8D8D8"/>
            </a:solidFill>
            <a:prstDash val="solid"/>
          </a:ln>
        </p:spPr>
        <p:txBody>
          <a:bodyPr/>
          <a:lstStyle/>
          <a:p>
            <a:endParaRPr lang="en-US"/>
          </a:p>
        </p:txBody>
      </p:sp>
      <p:sp>
        <p:nvSpPr>
          <p:cNvPr id="29" name="Rectangle 28">
            <a:extLst>
              <a:ext uri="{FF2B5EF4-FFF2-40B4-BE49-F238E27FC236}">
                <a16:creationId xmlns:a16="http://schemas.microsoft.com/office/drawing/2014/main" id="{D1BACC1F-6004-4A70-B2A6-102765A2F193}"/>
              </a:ext>
            </a:extLst>
          </p:cNvPr>
          <p:cNvSpPr>
            <a:spLocks noGrp="1"/>
          </p:cNvSpPr>
          <p:nvPr/>
        </p:nvSpPr>
        <p:spPr>
          <a:xfrm>
            <a:off x="7810500" y="3981450"/>
            <a:ext cx="914400" cy="485775"/>
          </a:xfrm>
          <a:prstGeom prst="rect">
            <a:avLst/>
          </a:prstGeom>
          <a:noFill/>
          <a:ln w="0">
            <a:noFill/>
          </a:ln>
        </p:spPr>
        <p:txBody>
          <a:bodyPr wrap="square" lIns="0" tIns="0" rIns="0" bIns="0" anchor="ctr">
            <a:normAutofit/>
          </a:bodyPr>
          <a:lstStyle/>
          <a:p>
            <a:pPr algn="ctr">
              <a:lnSpc>
                <a:spcPct val="100000"/>
              </a:lnSpc>
              <a:buNone/>
              <a:defRPr sz="1088" b="1" i="0">
                <a:solidFill>
                  <a:srgbClr val="111111"/>
                </a:solidFill>
                <a:latin typeface="Calibri"/>
                <a:ea typeface="Calibri"/>
                <a:cs typeface="Calibri"/>
              </a:defRPr>
            </a:pPr>
            <a:r>
              <a:rPr sz="1088" b="1" i="0">
                <a:solidFill>
                  <a:srgbClr val="111111"/>
                </a:solidFill>
                <a:latin typeface="Calibri"/>
                <a:ea typeface="Calibri"/>
                <a:cs typeface="Calibri"/>
              </a:rPr>
              <a:t>Mini plans</a:t>
            </a:r>
          </a:p>
          <a:p>
            <a:pPr algn="ctr">
              <a:lnSpc>
                <a:spcPct val="100000"/>
              </a:lnSpc>
              <a:buNone/>
              <a:defRPr sz="1088" b="1" i="0">
                <a:solidFill>
                  <a:srgbClr val="111111"/>
                </a:solidFill>
                <a:latin typeface="Calibri"/>
                <a:ea typeface="Calibri"/>
                <a:cs typeface="Calibri"/>
              </a:defRPr>
            </a:pPr>
            <a:r>
              <a:rPr sz="1088" b="1" i="0">
                <a:solidFill>
                  <a:srgbClr val="111111"/>
                </a:solidFill>
                <a:latin typeface="Calibri"/>
                <a:ea typeface="Calibri"/>
                <a:cs typeface="Calibri"/>
              </a:rPr>
              <a:t>the operation</a:t>
            </a:r>
          </a:p>
        </p:txBody>
      </p:sp>
      <p:sp>
        <p:nvSpPr>
          <p:cNvPr id="30" name="Rectangle 29">
            <a:extLst>
              <a:ext uri="{FF2B5EF4-FFF2-40B4-BE49-F238E27FC236}">
                <a16:creationId xmlns:a16="http://schemas.microsoft.com/office/drawing/2014/main" id="{F0D4BC84-876D-4477-8F57-E5BC484B7297}"/>
              </a:ext>
            </a:extLst>
          </p:cNvPr>
          <p:cNvSpPr>
            <a:spLocks noGrp="1"/>
          </p:cNvSpPr>
          <p:nvPr/>
        </p:nvSpPr>
        <p:spPr>
          <a:xfrm>
            <a:off x="8810625" y="4019550"/>
            <a:ext cx="180975" cy="342900"/>
          </a:xfrm>
          <a:prstGeom prst="rect">
            <a:avLst/>
          </a:prstGeom>
          <a:noFill/>
          <a:ln w="0">
            <a:noFill/>
          </a:ln>
        </p:spPr>
        <p:txBody>
          <a:bodyPr wrap="square" lIns="0" tIns="0" rIns="0" bIns="0" anchor="t">
            <a:normAutofit fontScale="94248"/>
          </a:bodyPr>
          <a:lstStyle/>
          <a:p>
            <a:pPr algn="ctr">
              <a:lnSpc>
                <a:spcPct val="100000"/>
              </a:lnSpc>
              <a:buNone/>
              <a:defRPr sz="1650" b="1" i="0">
                <a:solidFill>
                  <a:srgbClr val="5E5E5E"/>
                </a:solidFill>
                <a:latin typeface="Calibri"/>
                <a:ea typeface="Calibri"/>
                <a:cs typeface="Calibri"/>
              </a:defRPr>
            </a:pPr>
            <a:r>
              <a:rPr sz="1650" b="1" i="0">
                <a:solidFill>
                  <a:srgbClr val="5E5E5E"/>
                </a:solidFill>
                <a:latin typeface="Calibri"/>
                <a:ea typeface="Calibri"/>
                <a:cs typeface="Calibri"/>
              </a:rPr>
              <a:t>→</a:t>
            </a:r>
          </a:p>
        </p:txBody>
      </p:sp>
      <p:sp>
        <p:nvSpPr>
          <p:cNvPr id="31" name="Rounded Rectangle 30">
            <a:extLst>
              <a:ext uri="{FF2B5EF4-FFF2-40B4-BE49-F238E27FC236}">
                <a16:creationId xmlns:a16="http://schemas.microsoft.com/office/drawing/2014/main" id="{FB3346E1-0989-486E-828D-0917E9A65C8C}"/>
              </a:ext>
            </a:extLst>
          </p:cNvPr>
          <p:cNvSpPr>
            <a:spLocks noGrp="1"/>
          </p:cNvSpPr>
          <p:nvPr/>
        </p:nvSpPr>
        <p:spPr>
          <a:xfrm>
            <a:off x="8991600" y="3857625"/>
            <a:ext cx="1066800" cy="723900"/>
          </a:xfrm>
          <a:prstGeom prst="roundRect">
            <a:avLst>
              <a:gd name="adj" fmla="val 9211"/>
            </a:avLst>
          </a:prstGeom>
          <a:solidFill>
            <a:srgbClr val="FFFFFF"/>
          </a:solidFill>
          <a:ln w="9525">
            <a:solidFill>
              <a:srgbClr val="E6BBC4"/>
            </a:solidFill>
            <a:prstDash val="solid"/>
          </a:ln>
        </p:spPr>
        <p:txBody>
          <a:bodyPr/>
          <a:lstStyle/>
          <a:p>
            <a:endParaRPr lang="en-US"/>
          </a:p>
        </p:txBody>
      </p:sp>
      <p:sp>
        <p:nvSpPr>
          <p:cNvPr id="32" name="Rectangle 31">
            <a:extLst>
              <a:ext uri="{FF2B5EF4-FFF2-40B4-BE49-F238E27FC236}">
                <a16:creationId xmlns:a16="http://schemas.microsoft.com/office/drawing/2014/main" id="{5046B3DC-134D-4762-8BB1-09FC78AA7F15}"/>
              </a:ext>
            </a:extLst>
          </p:cNvPr>
          <p:cNvSpPr>
            <a:spLocks noGrp="1"/>
          </p:cNvSpPr>
          <p:nvPr/>
        </p:nvSpPr>
        <p:spPr>
          <a:xfrm>
            <a:off x="9067800" y="3981450"/>
            <a:ext cx="914400" cy="485775"/>
          </a:xfrm>
          <a:prstGeom prst="rect">
            <a:avLst/>
          </a:prstGeom>
          <a:noFill/>
          <a:ln w="0">
            <a:noFill/>
          </a:ln>
        </p:spPr>
        <p:txBody>
          <a:bodyPr wrap="square" lIns="0" tIns="0" rIns="0" bIns="0" anchor="ctr">
            <a:normAutofit/>
          </a:bodyPr>
          <a:lstStyle/>
          <a:p>
            <a:pPr algn="ctr">
              <a:lnSpc>
                <a:spcPct val="100000"/>
              </a:lnSpc>
              <a:buNone/>
              <a:defRPr sz="1088" b="1" i="0">
                <a:solidFill>
                  <a:srgbClr val="111111"/>
                </a:solidFill>
                <a:latin typeface="Calibri"/>
                <a:ea typeface="Calibri"/>
                <a:cs typeface="Calibri"/>
              </a:defRPr>
            </a:pPr>
            <a:r>
              <a:rPr sz="1088" b="1" i="0">
                <a:solidFill>
                  <a:srgbClr val="111111"/>
                </a:solidFill>
                <a:latin typeface="Calibri"/>
                <a:ea typeface="Calibri"/>
                <a:cs typeface="Calibri"/>
              </a:rPr>
              <a:t>Python</a:t>
            </a:r>
          </a:p>
          <a:p>
            <a:pPr algn="ctr">
              <a:lnSpc>
                <a:spcPct val="100000"/>
              </a:lnSpc>
              <a:buNone/>
              <a:defRPr sz="1088" b="1" i="0">
                <a:solidFill>
                  <a:srgbClr val="111111"/>
                </a:solidFill>
                <a:latin typeface="Calibri"/>
                <a:ea typeface="Calibri"/>
                <a:cs typeface="Calibri"/>
              </a:defRPr>
            </a:pPr>
            <a:r>
              <a:rPr sz="1088" b="1" i="0">
                <a:solidFill>
                  <a:srgbClr val="111111"/>
                </a:solidFill>
                <a:latin typeface="Calibri"/>
                <a:ea typeface="Calibri"/>
                <a:cs typeface="Calibri"/>
              </a:rPr>
              <a:t>computes</a:t>
            </a:r>
          </a:p>
        </p:txBody>
      </p:sp>
      <p:sp>
        <p:nvSpPr>
          <p:cNvPr id="33" name="Rectangle 32">
            <a:extLst>
              <a:ext uri="{FF2B5EF4-FFF2-40B4-BE49-F238E27FC236}">
                <a16:creationId xmlns:a16="http://schemas.microsoft.com/office/drawing/2014/main" id="{56C5A948-0026-4221-83AF-94CAF4F186E2}"/>
              </a:ext>
            </a:extLst>
          </p:cNvPr>
          <p:cNvSpPr>
            <a:spLocks noGrp="1"/>
          </p:cNvSpPr>
          <p:nvPr/>
        </p:nvSpPr>
        <p:spPr>
          <a:xfrm>
            <a:off x="10067925" y="4019550"/>
            <a:ext cx="180975" cy="342900"/>
          </a:xfrm>
          <a:prstGeom prst="rect">
            <a:avLst/>
          </a:prstGeom>
          <a:noFill/>
          <a:ln w="0">
            <a:noFill/>
          </a:ln>
        </p:spPr>
        <p:txBody>
          <a:bodyPr wrap="square" lIns="0" tIns="0" rIns="0" bIns="0" anchor="t">
            <a:normAutofit fontScale="94248"/>
          </a:bodyPr>
          <a:lstStyle/>
          <a:p>
            <a:pPr algn="ctr">
              <a:lnSpc>
                <a:spcPct val="100000"/>
              </a:lnSpc>
              <a:buNone/>
              <a:defRPr sz="1650" b="1" i="0">
                <a:solidFill>
                  <a:srgbClr val="5E5E5E"/>
                </a:solidFill>
                <a:latin typeface="Calibri"/>
                <a:ea typeface="Calibri"/>
                <a:cs typeface="Calibri"/>
              </a:defRPr>
            </a:pPr>
            <a:r>
              <a:rPr sz="1650" b="1" i="0">
                <a:solidFill>
                  <a:srgbClr val="5E5E5E"/>
                </a:solidFill>
                <a:latin typeface="Calibri"/>
                <a:ea typeface="Calibri"/>
                <a:cs typeface="Calibri"/>
              </a:rPr>
              <a:t>→</a:t>
            </a:r>
          </a:p>
        </p:txBody>
      </p:sp>
      <p:sp>
        <p:nvSpPr>
          <p:cNvPr id="34" name="Rounded Rectangle 33">
            <a:extLst>
              <a:ext uri="{FF2B5EF4-FFF2-40B4-BE49-F238E27FC236}">
                <a16:creationId xmlns:a16="http://schemas.microsoft.com/office/drawing/2014/main" id="{B76EE76C-22CB-4EE5-85A1-F0A7EBE8C241}"/>
              </a:ext>
            </a:extLst>
          </p:cNvPr>
          <p:cNvSpPr>
            <a:spLocks noGrp="1"/>
          </p:cNvSpPr>
          <p:nvPr/>
        </p:nvSpPr>
        <p:spPr>
          <a:xfrm>
            <a:off x="10248900" y="3857625"/>
            <a:ext cx="1066800" cy="723900"/>
          </a:xfrm>
          <a:prstGeom prst="roundRect">
            <a:avLst>
              <a:gd name="adj" fmla="val 9211"/>
            </a:avLst>
          </a:prstGeom>
          <a:solidFill>
            <a:srgbClr val="FFFFFF"/>
          </a:solidFill>
          <a:ln w="9525">
            <a:solidFill>
              <a:srgbClr val="E6BBC4"/>
            </a:solidFill>
            <a:prstDash val="solid"/>
          </a:ln>
        </p:spPr>
        <p:txBody>
          <a:bodyPr/>
          <a:lstStyle/>
          <a:p>
            <a:endParaRPr lang="en-US"/>
          </a:p>
        </p:txBody>
      </p:sp>
      <p:sp>
        <p:nvSpPr>
          <p:cNvPr id="35" name="Rectangle 34">
            <a:extLst>
              <a:ext uri="{FF2B5EF4-FFF2-40B4-BE49-F238E27FC236}">
                <a16:creationId xmlns:a16="http://schemas.microsoft.com/office/drawing/2014/main" id="{C73FED97-7011-4A42-9F09-247E0BD60C2B}"/>
              </a:ext>
            </a:extLst>
          </p:cNvPr>
          <p:cNvSpPr>
            <a:spLocks noGrp="1"/>
          </p:cNvSpPr>
          <p:nvPr/>
        </p:nvSpPr>
        <p:spPr>
          <a:xfrm>
            <a:off x="10325100" y="3981450"/>
            <a:ext cx="914400" cy="485775"/>
          </a:xfrm>
          <a:prstGeom prst="rect">
            <a:avLst/>
          </a:prstGeom>
          <a:noFill/>
          <a:ln w="0">
            <a:noFill/>
          </a:ln>
        </p:spPr>
        <p:txBody>
          <a:bodyPr wrap="square" lIns="0" tIns="0" rIns="0" bIns="0" anchor="ctr">
            <a:normAutofit fontScale="99034"/>
          </a:bodyPr>
          <a:lstStyle/>
          <a:p>
            <a:pPr algn="ctr">
              <a:lnSpc>
                <a:spcPct val="100000"/>
              </a:lnSpc>
              <a:buNone/>
              <a:defRPr sz="1088" b="1" i="0">
                <a:solidFill>
                  <a:srgbClr val="7E1728"/>
                </a:solidFill>
                <a:latin typeface="Calibri"/>
                <a:ea typeface="Calibri"/>
                <a:cs typeface="Calibri"/>
              </a:defRPr>
            </a:pPr>
            <a:r>
              <a:rPr sz="1088" b="1" i="0">
                <a:solidFill>
                  <a:srgbClr val="7E1728"/>
                </a:solidFill>
                <a:latin typeface="Calibri"/>
                <a:ea typeface="Calibri"/>
                <a:cs typeface="Calibri"/>
              </a:rPr>
              <a:t>gpt-5.4</a:t>
            </a:r>
          </a:p>
          <a:p>
            <a:pPr algn="ctr">
              <a:lnSpc>
                <a:spcPct val="100000"/>
              </a:lnSpc>
              <a:buNone/>
              <a:defRPr sz="1088" b="1" i="0">
                <a:solidFill>
                  <a:srgbClr val="7E1728"/>
                </a:solidFill>
                <a:latin typeface="Calibri"/>
                <a:ea typeface="Calibri"/>
                <a:cs typeface="Calibri"/>
              </a:defRPr>
            </a:pPr>
            <a:r>
              <a:rPr sz="1088" b="1" i="0">
                <a:solidFill>
                  <a:srgbClr val="7E1728"/>
                </a:solidFill>
                <a:latin typeface="Calibri"/>
                <a:ea typeface="Calibri"/>
                <a:cs typeface="Calibri"/>
              </a:rPr>
              <a:t>writes answer</a:t>
            </a:r>
          </a:p>
        </p:txBody>
      </p:sp>
      <p:sp>
        <p:nvSpPr>
          <p:cNvPr id="36" name="Rectangle 35">
            <a:extLst>
              <a:ext uri="{FF2B5EF4-FFF2-40B4-BE49-F238E27FC236}">
                <a16:creationId xmlns:a16="http://schemas.microsoft.com/office/drawing/2014/main" id="{5D36C309-8FCB-4FA9-8F2B-3AB79276DFDA}"/>
              </a:ext>
            </a:extLst>
          </p:cNvPr>
          <p:cNvSpPr>
            <a:spLocks noGrp="1"/>
          </p:cNvSpPr>
          <p:nvPr/>
        </p:nvSpPr>
        <p:spPr>
          <a:xfrm>
            <a:off x="6572250" y="4905375"/>
            <a:ext cx="4572000" cy="400050"/>
          </a:xfrm>
          <a:prstGeom prst="rect">
            <a:avLst/>
          </a:prstGeom>
          <a:noFill/>
          <a:ln w="0">
            <a:noFill/>
          </a:ln>
        </p:spPr>
        <p:txBody>
          <a:bodyPr wrap="square" lIns="0" tIns="0" rIns="0" bIns="0" anchor="ctr">
            <a:normAutofit/>
          </a:bodyPr>
          <a:lstStyle/>
          <a:p>
            <a:pPr algn="ctr">
              <a:lnSpc>
                <a:spcPct val="100000"/>
              </a:lnSpc>
              <a:buNone/>
              <a:defRPr sz="1088" b="0" i="0">
                <a:solidFill>
                  <a:srgbClr val="5E5E5E"/>
                </a:solidFill>
                <a:latin typeface="Calibri"/>
                <a:ea typeface="Calibri"/>
                <a:cs typeface="Calibri"/>
              </a:defRPr>
            </a:pPr>
            <a:r>
              <a:rPr sz="1088" b="0" i="0" dirty="0">
                <a:solidFill>
                  <a:srgbClr val="5E5E5E"/>
                </a:solidFill>
                <a:latin typeface="Calibri"/>
                <a:ea typeface="Calibri"/>
                <a:cs typeface="Calibri"/>
              </a:rPr>
              <a:t>The planner stays on mini because the stronger planner requested more evidence and </a:t>
            </a:r>
            <a:r>
              <a:rPr lang="en-US" sz="1088" b="0" i="0" dirty="0">
                <a:solidFill>
                  <a:srgbClr val="5E5E5E"/>
                </a:solidFill>
                <a:latin typeface="Calibri"/>
                <a:ea typeface="Calibri"/>
                <a:cs typeface="Calibri"/>
              </a:rPr>
              <a:t>causes </a:t>
            </a:r>
            <a:r>
              <a:rPr sz="1088" b="0" i="0" dirty="0">
                <a:solidFill>
                  <a:srgbClr val="5E5E5E"/>
                </a:solidFill>
                <a:latin typeface="Calibri"/>
                <a:ea typeface="Calibri"/>
                <a:cs typeface="Calibri"/>
              </a:rPr>
              <a:t>enlarged later prompts.</a:t>
            </a:r>
          </a:p>
        </p:txBody>
      </p:sp>
      <p:sp>
        <p:nvSpPr>
          <p:cNvPr id="37" name="Rounded Rectangle 36">
            <a:extLst>
              <a:ext uri="{FF2B5EF4-FFF2-40B4-BE49-F238E27FC236}">
                <a16:creationId xmlns:a16="http://schemas.microsoft.com/office/drawing/2014/main" id="{DF245998-F4F7-45C1-AF84-48911F15E161}"/>
              </a:ext>
            </a:extLst>
          </p:cNvPr>
          <p:cNvSpPr>
            <a:spLocks noGrp="1"/>
          </p:cNvSpPr>
          <p:nvPr/>
        </p:nvSpPr>
        <p:spPr>
          <a:xfrm>
            <a:off x="952500" y="5810250"/>
            <a:ext cx="10287000" cy="571500"/>
          </a:xfrm>
          <a:prstGeom prst="roundRect">
            <a:avLst>
              <a:gd name="adj" fmla="val 11667"/>
            </a:avLst>
          </a:prstGeom>
          <a:solidFill>
            <a:srgbClr val="F7E9EC"/>
          </a:solidFill>
          <a:ln w="9525">
            <a:solidFill>
              <a:srgbClr val="E6BBC4"/>
            </a:solidFill>
            <a:prstDash val="solid"/>
          </a:ln>
        </p:spPr>
        <p:txBody>
          <a:bodyPr/>
          <a:lstStyle/>
          <a:p>
            <a:endParaRPr lang="en-US" dirty="0"/>
          </a:p>
        </p:txBody>
      </p:sp>
      <p:sp>
        <p:nvSpPr>
          <p:cNvPr id="38" name="Rectangle 37">
            <a:extLst>
              <a:ext uri="{FF2B5EF4-FFF2-40B4-BE49-F238E27FC236}">
                <a16:creationId xmlns:a16="http://schemas.microsoft.com/office/drawing/2014/main" id="{DB31D785-68C0-4152-8A1D-61C88B64A09C}"/>
              </a:ext>
            </a:extLst>
          </p:cNvPr>
          <p:cNvSpPr>
            <a:spLocks noGrp="1"/>
          </p:cNvSpPr>
          <p:nvPr/>
        </p:nvSpPr>
        <p:spPr>
          <a:xfrm>
            <a:off x="1333500" y="5953125"/>
            <a:ext cx="9525000" cy="285750"/>
          </a:xfrm>
          <a:prstGeom prst="rect">
            <a:avLst/>
          </a:prstGeom>
          <a:noFill/>
          <a:ln w="0">
            <a:noFill/>
          </a:ln>
        </p:spPr>
        <p:txBody>
          <a:bodyPr wrap="square" lIns="0" tIns="0" rIns="0" bIns="0" anchor="ctr">
            <a:normAutofit/>
          </a:bodyPr>
          <a:lstStyle/>
          <a:p>
            <a:pPr algn="ctr">
              <a:lnSpc>
                <a:spcPct val="100000"/>
              </a:lnSpc>
              <a:buNone/>
              <a:defRPr sz="1500" b="1" i="0">
                <a:solidFill>
                  <a:srgbClr val="7E1728"/>
                </a:solidFill>
                <a:latin typeface="Calibri"/>
                <a:ea typeface="Calibri"/>
                <a:cs typeface="Calibri"/>
              </a:defRPr>
            </a:pPr>
            <a:r>
              <a:rPr sz="1500" b="1" i="0" dirty="0">
                <a:solidFill>
                  <a:srgbClr val="7E1728"/>
                </a:solidFill>
                <a:latin typeface="Calibri"/>
                <a:ea typeface="Calibri"/>
                <a:cs typeface="Calibri"/>
              </a:rPr>
              <a:t>Only table questions switch models. Only evidence assessment and final answer writing use gpt-5.4.</a:t>
            </a:r>
          </a:p>
        </p:txBody>
      </p:sp>
    </p:spTree>
    <p:extLst>
      <p:ext uri="{BB962C8B-B14F-4D97-AF65-F5344CB8AC3E}">
        <p14:creationId xmlns:p14="http://schemas.microsoft.com/office/powerpoint/2010/main" val="1518747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vision-title">
            <a:extLst>
              <a:ext uri="{FF2B5EF4-FFF2-40B4-BE49-F238E27FC236}">
                <a16:creationId xmlns:a16="http://schemas.microsoft.com/office/drawing/2014/main" id="{45C6BEFC-DF36-4C50-9339-4E0221441FFC}"/>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How the table-path model policy evolved</a:t>
            </a:r>
          </a:p>
        </p:txBody>
      </p:sp>
      <p:sp>
        <p:nvSpPr>
          <p:cNvPr id="2" name="revision-subtitle">
            <a:extLst>
              <a:ext uri="{FF2B5EF4-FFF2-40B4-BE49-F238E27FC236}">
                <a16:creationId xmlns:a16="http://schemas.microsoft.com/office/drawing/2014/main" id="{04705E25-AE66-4423-B6C2-CB9AD675510D}"/>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The alternatives differed in when they decided and how much of the pipeline moved to gpt-5.4.</a:t>
            </a:r>
          </a:p>
        </p:txBody>
      </p:sp>
      <p:graphicFrame>
        <p:nvGraphicFramePr>
          <p:cNvPr id="10" name="Table 9"/>
          <p:cNvGraphicFramePr/>
          <p:nvPr/>
        </p:nvGraphicFramePr>
        <p:xfrm>
          <a:off x="523875" y="1524000"/>
          <a:ext cx="11144250" cy="3489960"/>
        </p:xfrm>
        <a:graphic>
          <a:graphicData uri="http://schemas.openxmlformats.org/drawingml/2006/table">
            <a:tbl>
              <a:tblPr/>
              <a:tblGrid>
                <a:gridCol w="1952625">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552450">
                <a:tc>
                  <a:txBody>
                    <a:bodyPr/>
                    <a:lstStyle/>
                    <a:p>
                      <a:r>
                        <a:rPr sz="1065" b="1">
                          <a:solidFill>
                            <a:srgbClr val="FFFFFF"/>
                          </a:solidFill>
                          <a:latin typeface="Calibri"/>
                          <a:ea typeface="Calibri"/>
                          <a:cs typeface="Calibri"/>
                        </a:rPr>
                        <a:t>Option</a:t>
                      </a:r>
                    </a:p>
                  </a:txBody>
                  <a:tcPr marL="66675" marR="66675" marT="57150" marB="57150" anchor="ctr">
                    <a:solidFill>
                      <a:srgbClr val="A31F34"/>
                    </a:solidFill>
                  </a:tcPr>
                </a:tc>
                <a:tc>
                  <a:txBody>
                    <a:bodyPr/>
                    <a:lstStyle/>
                    <a:p>
                      <a:r>
                        <a:rPr sz="1065" b="1">
                          <a:solidFill>
                            <a:srgbClr val="FFFFFF"/>
                          </a:solidFill>
                          <a:latin typeface="Calibri"/>
                          <a:ea typeface="Calibri"/>
                          <a:cs typeface="Calibri"/>
                        </a:rPr>
                        <a:t>When / trigger</a:t>
                      </a:r>
                    </a:p>
                  </a:txBody>
                  <a:tcPr marL="66675" marR="66675" marT="57150" marB="57150" anchor="ctr">
                    <a:solidFill>
                      <a:srgbClr val="A31F34"/>
                    </a:solidFill>
                  </a:tcPr>
                </a:tc>
                <a:tc>
                  <a:txBody>
                    <a:bodyPr/>
                    <a:lstStyle/>
                    <a:p>
                      <a:r>
                        <a:rPr sz="1065" b="1">
                          <a:solidFill>
                            <a:srgbClr val="FFFFFF"/>
                          </a:solidFill>
                          <a:latin typeface="Calibri"/>
                          <a:ea typeface="Calibri"/>
                          <a:cs typeface="Calibri"/>
                        </a:rPr>
                        <a:t>Pipeline steps on gpt-5.4</a:t>
                      </a:r>
                    </a:p>
                  </a:txBody>
                  <a:tcPr marL="66675" marR="66675" marT="57150" marB="57150" anchor="ctr">
                    <a:solidFill>
                      <a:srgbClr val="A31F34"/>
                    </a:solidFill>
                  </a:tcPr>
                </a:tc>
                <a:tc>
                  <a:txBody>
                    <a:bodyPr/>
                    <a:lstStyle/>
                    <a:p>
                      <a:r>
                        <a:rPr sz="1065" b="1">
                          <a:solidFill>
                            <a:srgbClr val="FFFFFF"/>
                          </a:solidFill>
                          <a:latin typeface="Calibri"/>
                          <a:ea typeface="Calibri"/>
                          <a:cs typeface="Calibri"/>
                        </a:rPr>
                        <a:t>Evidence and lesson</a:t>
                      </a:r>
                    </a:p>
                  </a:txBody>
                  <a:tcPr marL="66675" marR="66675" marT="57150" marB="57150" anchor="ctr">
                    <a:solidFill>
                      <a:srgbClr val="A31F34"/>
                    </a:solidFill>
                  </a:tcPr>
                </a:tc>
                <a:extLst>
                  <a:ext uri="{0D108BD9-81ED-4DB2-BD59-A6C34878D82A}">
                    <a16:rowId xmlns:a16="http://schemas.microsoft.com/office/drawing/2014/main" val="10000"/>
                  </a:ext>
                </a:extLst>
              </a:tr>
              <a:tr h="552450">
                <a:tc>
                  <a:txBody>
                    <a:bodyPr/>
                    <a:lstStyle/>
                    <a:p>
                      <a:r>
                        <a:rPr sz="1035">
                          <a:solidFill>
                            <a:srgbClr val="111111"/>
                          </a:solidFill>
                          <a:latin typeface="Calibri"/>
                          <a:ea typeface="Calibri"/>
                          <a:cs typeface="Calibri"/>
                        </a:rPr>
                        <a:t>All mini</a:t>
                      </a:r>
                    </a:p>
                  </a:txBody>
                  <a:tcPr marL="66675" marR="66675" marT="57150" marB="57150" anchor="ctr"/>
                </a:tc>
                <a:tc>
                  <a:txBody>
                    <a:bodyPr/>
                    <a:lstStyle/>
                    <a:p>
                      <a:r>
                        <a:rPr sz="1035">
                          <a:solidFill>
                            <a:srgbClr val="111111"/>
                          </a:solidFill>
                          <a:latin typeface="Calibri"/>
                          <a:ea typeface="Calibri"/>
                          <a:cs typeface="Calibri"/>
                        </a:rPr>
                        <a:t>No model switch</a:t>
                      </a:r>
                    </a:p>
                  </a:txBody>
                  <a:tcPr marL="66675" marR="66675" marT="57150" marB="57150" anchor="ctr"/>
                </a:tc>
                <a:tc>
                  <a:txBody>
                    <a:bodyPr/>
                    <a:lstStyle/>
                    <a:p>
                      <a:r>
                        <a:rPr sz="1035">
                          <a:solidFill>
                            <a:srgbClr val="111111"/>
                          </a:solidFill>
                          <a:latin typeface="Calibri"/>
                          <a:ea typeface="Calibri"/>
                          <a:cs typeface="Calibri"/>
                        </a:rPr>
                        <a:t>None</a:t>
                      </a:r>
                    </a:p>
                  </a:txBody>
                  <a:tcPr marL="66675" marR="66675" marT="57150" marB="57150" anchor="ctr"/>
                </a:tc>
                <a:tc>
                  <a:txBody>
                    <a:bodyPr/>
                    <a:lstStyle/>
                    <a:p>
                      <a:r>
                        <a:rPr sz="1035">
                          <a:solidFill>
                            <a:srgbClr val="111111"/>
                          </a:solidFill>
                          <a:latin typeface="Calibri"/>
                          <a:ea typeface="Calibri"/>
                          <a:cs typeface="Calibri"/>
                        </a:rPr>
                        <a:t>0.711 quality</a:t>
                      </a:r>
                    </a:p>
                    <a:p>
                      <a:r>
                        <a:rPr sz="1035">
                          <a:solidFill>
                            <a:srgbClr val="111111"/>
                          </a:solidFill>
                          <a:latin typeface="Calibri"/>
                          <a:ea typeface="Calibri"/>
                          <a:cs typeface="Calibri"/>
                        </a:rPr>
                        <a:t>$0.050 list cost/q</a:t>
                      </a:r>
                    </a:p>
                    <a:p>
                      <a:r>
                        <a:rPr sz="1035">
                          <a:solidFill>
                            <a:srgbClr val="111111"/>
                          </a:solidFill>
                          <a:latin typeface="Calibri"/>
                          <a:ea typeface="Calibri"/>
                          <a:cs typeface="Calibri"/>
                        </a:rPr>
                        <a:t>13.8 seconds/q</a:t>
                      </a:r>
                    </a:p>
                  </a:txBody>
                  <a:tcPr marL="66675" marR="66675" marT="57150" marB="57150" anchor="ctr"/>
                </a:tc>
                <a:extLst>
                  <a:ext uri="{0D108BD9-81ED-4DB2-BD59-A6C34878D82A}">
                    <a16:rowId xmlns:a16="http://schemas.microsoft.com/office/drawing/2014/main" val="10001"/>
                  </a:ext>
                </a:extLst>
              </a:tr>
              <a:tr h="552450">
                <a:tc>
                  <a:txBody>
                    <a:bodyPr/>
                    <a:lstStyle/>
                    <a:p>
                      <a:r>
                        <a:rPr sz="1035">
                          <a:solidFill>
                            <a:srgbClr val="111111"/>
                          </a:solidFill>
                          <a:latin typeface="Calibri"/>
                          <a:ea typeface="Calibri"/>
                          <a:cs typeface="Calibri"/>
                        </a:rPr>
                        <a:t>All gpt-5.4</a:t>
                      </a:r>
                    </a:p>
                  </a:txBody>
                  <a:tcPr marL="66675" marR="66675" marT="57150" marB="57150" anchor="ctr">
                    <a:solidFill>
                      <a:srgbClr val="F3F3F3"/>
                    </a:solidFill>
                  </a:tcPr>
                </a:tc>
                <a:tc>
                  <a:txBody>
                    <a:bodyPr/>
                    <a:lstStyle/>
                    <a:p>
                      <a:r>
                        <a:rPr sz="1035">
                          <a:solidFill>
                            <a:srgbClr val="111111"/>
                          </a:solidFill>
                          <a:latin typeface="Calibri"/>
                          <a:ea typeface="Calibri"/>
                          <a:cs typeface="Calibri"/>
                        </a:rPr>
                        <a:t>No model switch</a:t>
                      </a:r>
                    </a:p>
                  </a:txBody>
                  <a:tcPr marL="66675" marR="66675" marT="57150" marB="57150" anchor="ctr">
                    <a:solidFill>
                      <a:srgbClr val="F3F3F3"/>
                    </a:solidFill>
                  </a:tcPr>
                </a:tc>
                <a:tc>
                  <a:txBody>
                    <a:bodyPr/>
                    <a:lstStyle/>
                    <a:p>
                      <a:r>
                        <a:rPr sz="1035">
                          <a:solidFill>
                            <a:srgbClr val="111111"/>
                          </a:solidFill>
                          <a:latin typeface="Calibri"/>
                          <a:ea typeface="Calibri"/>
                          <a:cs typeface="Calibri"/>
                        </a:rPr>
                        <a:t>Every model step</a:t>
                      </a:r>
                    </a:p>
                  </a:txBody>
                  <a:tcPr marL="66675" marR="66675" marT="57150" marB="57150" anchor="ctr">
                    <a:solidFill>
                      <a:srgbClr val="F3F3F3"/>
                    </a:solidFill>
                  </a:tcPr>
                </a:tc>
                <a:tc>
                  <a:txBody>
                    <a:bodyPr/>
                    <a:lstStyle/>
                    <a:p>
                      <a:r>
                        <a:rPr sz="1035">
                          <a:solidFill>
                            <a:srgbClr val="111111"/>
                          </a:solidFill>
                          <a:latin typeface="Calibri"/>
                          <a:ea typeface="Calibri"/>
                          <a:cs typeface="Calibri"/>
                        </a:rPr>
                        <a:t>0.886 quality</a:t>
                      </a:r>
                    </a:p>
                    <a:p>
                      <a:r>
                        <a:rPr sz="1035">
                          <a:solidFill>
                            <a:srgbClr val="111111"/>
                          </a:solidFill>
                          <a:latin typeface="Calibri"/>
                          <a:ea typeface="Calibri"/>
                          <a:cs typeface="Calibri"/>
                        </a:rPr>
                        <a:t>$0.346 list cost/q</a:t>
                      </a:r>
                    </a:p>
                    <a:p>
                      <a:r>
                        <a:rPr sz="1035">
                          <a:solidFill>
                            <a:srgbClr val="111111"/>
                          </a:solidFill>
                          <a:latin typeface="Calibri"/>
                          <a:ea typeface="Calibri"/>
                          <a:cs typeface="Calibri"/>
                        </a:rPr>
                        <a:t>24.7 seconds/q, 3 runs</a:t>
                      </a:r>
                    </a:p>
                  </a:txBody>
                  <a:tcPr marL="66675" marR="66675" marT="57150" marB="57150" anchor="ctr">
                    <a:solidFill>
                      <a:srgbClr val="F3F3F3"/>
                    </a:solidFill>
                  </a:tcPr>
                </a:tc>
                <a:extLst>
                  <a:ext uri="{0D108BD9-81ED-4DB2-BD59-A6C34878D82A}">
                    <a16:rowId xmlns:a16="http://schemas.microsoft.com/office/drawing/2014/main" val="10002"/>
                  </a:ext>
                </a:extLst>
              </a:tr>
              <a:tr h="552450">
                <a:tc>
                  <a:txBody>
                    <a:bodyPr/>
                    <a:lstStyle/>
                    <a:p>
                      <a:r>
                        <a:rPr sz="1035">
                          <a:solidFill>
                            <a:srgbClr val="111111"/>
                          </a:solidFill>
                          <a:latin typeface="Calibri"/>
                          <a:ea typeface="Calibri"/>
                          <a:cs typeface="Calibri"/>
                        </a:rPr>
                        <a:t>Router A</a:t>
                      </a:r>
                    </a:p>
                    <a:p>
                      <a:r>
                        <a:rPr sz="1035">
                          <a:solidFill>
                            <a:srgbClr val="111111"/>
                          </a:solidFill>
                          <a:latin typeface="Calibri"/>
                          <a:ea typeface="Calibri"/>
                          <a:cs typeface="Calibri"/>
                        </a:rPr>
                        <a:t>(simulated)</a:t>
                      </a:r>
                    </a:p>
                  </a:txBody>
                  <a:tcPr marL="66675" marR="66675" marT="57150" marB="57150" anchor="ctr"/>
                </a:tc>
                <a:tc>
                  <a:txBody>
                    <a:bodyPr/>
                    <a:lstStyle/>
                    <a:p>
                      <a:r>
                        <a:rPr sz="1035">
                          <a:solidFill>
                            <a:srgbClr val="111111"/>
                          </a:solidFill>
                          <a:latin typeface="Calibri"/>
                          <a:ea typeface="Calibri"/>
                          <a:cs typeface="Calibri"/>
                        </a:rPr>
                        <a:t>Before retrieval: Jev labels the wording simple or complex</a:t>
                      </a:r>
                    </a:p>
                  </a:txBody>
                  <a:tcPr marL="66675" marR="66675" marT="57150" marB="57150" anchor="ctr"/>
                </a:tc>
                <a:tc>
                  <a:txBody>
                    <a:bodyPr/>
                    <a:lstStyle/>
                    <a:p>
                      <a:r>
                        <a:rPr sz="1035">
                          <a:solidFill>
                            <a:srgbClr val="111111"/>
                          </a:solidFill>
                          <a:latin typeface="Calibri"/>
                          <a:ea typeface="Calibri"/>
                          <a:cs typeface="Calibri"/>
                        </a:rPr>
                        <a:t>The entire question stays on mini or moves to gpt-5.4</a:t>
                      </a:r>
                    </a:p>
                  </a:txBody>
                  <a:tcPr marL="66675" marR="66675" marT="57150" marB="57150" anchor="ctr"/>
                </a:tc>
                <a:tc>
                  <a:txBody>
                    <a:bodyPr/>
                    <a:lstStyle/>
                    <a:p>
                      <a:r>
                        <a:rPr sz="1035">
                          <a:solidFill>
                            <a:srgbClr val="111111"/>
                          </a:solidFill>
                          <a:latin typeface="Calibri"/>
                          <a:ea typeface="Calibri"/>
                          <a:cs typeface="Calibri"/>
                        </a:rPr>
                        <a:t>0.868 quality</a:t>
                      </a:r>
                    </a:p>
                    <a:p>
                      <a:r>
                        <a:rPr sz="1035">
                          <a:solidFill>
                            <a:srgbClr val="111111"/>
                          </a:solidFill>
                          <a:latin typeface="Calibri"/>
                          <a:ea typeface="Calibri"/>
                          <a:cs typeface="Calibri"/>
                        </a:rPr>
                        <a:t>$0.327 list cost/q</a:t>
                      </a:r>
                    </a:p>
                    <a:p>
                      <a:r>
                        <a:rPr sz="1035">
                          <a:solidFill>
                            <a:srgbClr val="111111"/>
                          </a:solidFill>
                          <a:latin typeface="Calibri"/>
                          <a:ea typeface="Calibri"/>
                          <a:cs typeface="Calibri"/>
                        </a:rPr>
                        <a:t>Saved only about 3 percent</a:t>
                      </a:r>
                    </a:p>
                  </a:txBody>
                  <a:tcPr marL="66675" marR="66675" marT="57150" marB="57150" anchor="ctr"/>
                </a:tc>
                <a:extLst>
                  <a:ext uri="{0D108BD9-81ED-4DB2-BD59-A6C34878D82A}">
                    <a16:rowId xmlns:a16="http://schemas.microsoft.com/office/drawing/2014/main" val="10003"/>
                  </a:ext>
                </a:extLst>
              </a:tr>
              <a:tr h="552450">
                <a:tc>
                  <a:txBody>
                    <a:bodyPr/>
                    <a:lstStyle/>
                    <a:p>
                      <a:r>
                        <a:rPr sz="1035">
                          <a:solidFill>
                            <a:srgbClr val="111111"/>
                          </a:solidFill>
                          <a:latin typeface="Calibri"/>
                          <a:ea typeface="Calibri"/>
                          <a:cs typeface="Calibri"/>
                        </a:rPr>
                        <a:t>First table policy</a:t>
                      </a:r>
                    </a:p>
                    <a:p>
                      <a:r>
                        <a:rPr sz="1035">
                          <a:solidFill>
                            <a:srgbClr val="111111"/>
                          </a:solidFill>
                          <a:latin typeface="Calibri"/>
                          <a:ea typeface="Calibri"/>
                          <a:cs typeface="Calibri"/>
                        </a:rPr>
                        <a:t>(exploratory)</a:t>
                      </a:r>
                    </a:p>
                  </a:txBody>
                  <a:tcPr marL="66675" marR="66675" marT="57150" marB="57150" anchor="ctr">
                    <a:solidFill>
                      <a:srgbClr val="F3F3F3"/>
                    </a:solidFill>
                  </a:tcPr>
                </a:tc>
                <a:tc>
                  <a:txBody>
                    <a:bodyPr/>
                    <a:lstStyle/>
                    <a:p>
                      <a:r>
                        <a:rPr sz="1035">
                          <a:solidFill>
                            <a:srgbClr val="111111"/>
                          </a:solidFill>
                          <a:latin typeface="Calibri"/>
                          <a:ea typeface="Calibri"/>
                          <a:cs typeface="Calibri"/>
                        </a:rPr>
                        <a:t>After TOC review: table signal</a:t>
                      </a:r>
                    </a:p>
                  </a:txBody>
                  <a:tcPr marL="66675" marR="66675" marT="57150" marB="57150" anchor="ctr">
                    <a:solidFill>
                      <a:srgbClr val="F3F3F3"/>
                    </a:solidFill>
                  </a:tcPr>
                </a:tc>
                <a:tc>
                  <a:txBody>
                    <a:bodyPr/>
                    <a:lstStyle/>
                    <a:p>
                      <a:r>
                        <a:rPr sz="1035">
                          <a:solidFill>
                            <a:srgbClr val="111111"/>
                          </a:solidFill>
                          <a:latin typeface="Calibri"/>
                          <a:ea typeface="Calibri"/>
                          <a:cs typeface="Calibri"/>
                        </a:rPr>
                        <a:t>On table questions: assessor, planner, and answer</a:t>
                      </a:r>
                    </a:p>
                  </a:txBody>
                  <a:tcPr marL="66675" marR="66675" marT="57150" marB="57150" anchor="ctr">
                    <a:solidFill>
                      <a:srgbClr val="F3F3F3"/>
                    </a:solidFill>
                  </a:tcPr>
                </a:tc>
                <a:tc>
                  <a:txBody>
                    <a:bodyPr/>
                    <a:lstStyle/>
                    <a:p>
                      <a:r>
                        <a:rPr sz="1035">
                          <a:solidFill>
                            <a:srgbClr val="111111"/>
                          </a:solidFill>
                          <a:latin typeface="Calibri"/>
                          <a:ea typeface="Calibri"/>
                          <a:cs typeface="Calibri"/>
                        </a:rPr>
                        <a:t>0.816 quality</a:t>
                      </a:r>
                    </a:p>
                    <a:p>
                      <a:r>
                        <a:rPr sz="1035">
                          <a:solidFill>
                            <a:srgbClr val="111111"/>
                          </a:solidFill>
                          <a:latin typeface="Calibri"/>
                          <a:ea typeface="Calibri"/>
                          <a:cs typeface="Calibri"/>
                        </a:rPr>
                        <a:t>$0.301 list cost/q</a:t>
                      </a:r>
                    </a:p>
                    <a:p>
                      <a:r>
                        <a:rPr sz="1035">
                          <a:solidFill>
                            <a:srgbClr val="111111"/>
                          </a:solidFill>
                          <a:latin typeface="Calibri"/>
                          <a:ea typeface="Calibri"/>
                          <a:cs typeface="Calibri"/>
                        </a:rPr>
                        <a:t>Strong planner enlarged prompts</a:t>
                      </a:r>
                    </a:p>
                  </a:txBody>
                  <a:tcPr marL="66675" marR="66675" marT="57150" marB="57150" anchor="ctr">
                    <a:solidFill>
                      <a:srgbClr val="F3F3F3"/>
                    </a:solidFill>
                  </a:tcPr>
                </a:tc>
                <a:extLst>
                  <a:ext uri="{0D108BD9-81ED-4DB2-BD59-A6C34878D82A}">
                    <a16:rowId xmlns:a16="http://schemas.microsoft.com/office/drawing/2014/main" val="10004"/>
                  </a:ext>
                </a:extLst>
              </a:tr>
              <a:tr h="552450">
                <a:tc>
                  <a:txBody>
                    <a:bodyPr/>
                    <a:lstStyle/>
                    <a:p>
                      <a:r>
                        <a:rPr sz="1035" b="1">
                          <a:solidFill>
                            <a:srgbClr val="7E1728"/>
                          </a:solidFill>
                          <a:latin typeface="Calibri"/>
                          <a:ea typeface="Calibri"/>
                          <a:cs typeface="Calibri"/>
                        </a:rPr>
                        <a:t>Selected table policy</a:t>
                      </a:r>
                    </a:p>
                    <a:p>
                      <a:r>
                        <a:rPr sz="1035" b="1">
                          <a:solidFill>
                            <a:srgbClr val="7E1728"/>
                          </a:solidFill>
                          <a:latin typeface="Calibri"/>
                          <a:ea typeface="Calibri"/>
                          <a:cs typeface="Calibri"/>
                        </a:rPr>
                        <a:t>(‘Router B’)</a:t>
                      </a:r>
                    </a:p>
                  </a:txBody>
                  <a:tcPr marL="66675" marR="66675" marT="57150" marB="57150" anchor="ctr">
                    <a:solidFill>
                      <a:srgbClr val="F7E9EC"/>
                    </a:solidFill>
                  </a:tcPr>
                </a:tc>
                <a:tc>
                  <a:txBody>
                    <a:bodyPr/>
                    <a:lstStyle/>
                    <a:p>
                      <a:r>
                        <a:rPr sz="1035" b="1">
                          <a:solidFill>
                            <a:srgbClr val="7E1728"/>
                          </a:solidFill>
                          <a:latin typeface="Calibri"/>
                          <a:ea typeface="Calibri"/>
                          <a:cs typeface="Calibri"/>
                        </a:rPr>
                        <a:t>After TOC review: the same table signal</a:t>
                      </a:r>
                    </a:p>
                  </a:txBody>
                  <a:tcPr marL="66675" marR="66675" marT="57150" marB="57150" anchor="ctr">
                    <a:solidFill>
                      <a:srgbClr val="F7E9EC"/>
                    </a:solidFill>
                  </a:tcPr>
                </a:tc>
                <a:tc>
                  <a:txBody>
                    <a:bodyPr/>
                    <a:lstStyle/>
                    <a:p>
                      <a:r>
                        <a:rPr sz="1035" b="1">
                          <a:solidFill>
                            <a:srgbClr val="7E1728"/>
                          </a:solidFill>
                          <a:latin typeface="Calibri"/>
                          <a:ea typeface="Calibri"/>
                          <a:cs typeface="Calibri"/>
                        </a:rPr>
                        <a:t>On table questions: assessor and answer. Planner remains mini.</a:t>
                      </a:r>
                    </a:p>
                  </a:txBody>
                  <a:tcPr marL="66675" marR="66675" marT="57150" marB="57150" anchor="ctr">
                    <a:solidFill>
                      <a:srgbClr val="F7E9EC"/>
                    </a:solidFill>
                  </a:tcPr>
                </a:tc>
                <a:tc>
                  <a:txBody>
                    <a:bodyPr/>
                    <a:lstStyle/>
                    <a:p>
                      <a:r>
                        <a:rPr sz="1035" b="1">
                          <a:solidFill>
                            <a:srgbClr val="7E1728"/>
                          </a:solidFill>
                          <a:latin typeface="Calibri"/>
                          <a:ea typeface="Calibri"/>
                          <a:cs typeface="Calibri"/>
                        </a:rPr>
                        <a:t>0.868 quality</a:t>
                      </a:r>
                    </a:p>
                    <a:p>
                      <a:r>
                        <a:rPr sz="1035" b="1">
                          <a:solidFill>
                            <a:srgbClr val="7E1728"/>
                          </a:solidFill>
                          <a:latin typeface="Calibri"/>
                          <a:ea typeface="Calibri"/>
                          <a:cs typeface="Calibri"/>
                        </a:rPr>
                        <a:t>$0.173 list cost/q</a:t>
                      </a:r>
                    </a:p>
                    <a:p>
                      <a:r>
                        <a:rPr sz="1035" b="1">
                          <a:solidFill>
                            <a:srgbClr val="7E1728"/>
                          </a:solidFill>
                          <a:latin typeface="Calibri"/>
                          <a:ea typeface="Calibri"/>
                          <a:cs typeface="Calibri"/>
                        </a:rPr>
                        <a:t>21.3 seconds/q, 3 runs</a:t>
                      </a:r>
                    </a:p>
                  </a:txBody>
                  <a:tcPr marL="66675" marR="66675" marT="57150" marB="57150" anchor="ctr">
                    <a:solidFill>
                      <a:srgbClr val="F7E9EC"/>
                    </a:solidFill>
                  </a:tcPr>
                </a:tc>
                <a:extLst>
                  <a:ext uri="{0D108BD9-81ED-4DB2-BD59-A6C34878D82A}">
                    <a16:rowId xmlns:a16="http://schemas.microsoft.com/office/drawing/2014/main" val="10005"/>
                  </a:ext>
                </a:extLst>
              </a:tr>
            </a:tbl>
          </a:graphicData>
        </a:graphic>
      </p:graphicFrame>
      <p:sp>
        <p:nvSpPr>
          <p:cNvPr id="4" name="Rounded Rectangle 3">
            <a:extLst>
              <a:ext uri="{FF2B5EF4-FFF2-40B4-BE49-F238E27FC236}">
                <a16:creationId xmlns:a16="http://schemas.microsoft.com/office/drawing/2014/main" id="{4A179960-4455-4C85-B166-1D73215FC50D}"/>
              </a:ext>
            </a:extLst>
          </p:cNvPr>
          <p:cNvSpPr>
            <a:spLocks noGrp="1"/>
          </p:cNvSpPr>
          <p:nvPr/>
        </p:nvSpPr>
        <p:spPr>
          <a:xfrm>
            <a:off x="666750" y="5095875"/>
            <a:ext cx="10858500" cy="828675"/>
          </a:xfrm>
          <a:prstGeom prst="roundRect">
            <a:avLst>
              <a:gd name="adj" fmla="val 8046"/>
            </a:avLst>
          </a:prstGeom>
          <a:solidFill>
            <a:srgbClr val="F7E9EC"/>
          </a:solidFill>
          <a:ln w="9525">
            <a:solidFill>
              <a:srgbClr val="E6BBC4"/>
            </a:solidFill>
            <a:prstDash val="solid"/>
          </a:ln>
        </p:spPr>
        <p:txBody>
          <a:bodyPr/>
          <a:lstStyle/>
          <a:p>
            <a:endParaRPr lang="en-US"/>
          </a:p>
        </p:txBody>
      </p:sp>
      <p:sp>
        <p:nvSpPr>
          <p:cNvPr id="5" name="Rectangle 4">
            <a:extLst>
              <a:ext uri="{FF2B5EF4-FFF2-40B4-BE49-F238E27FC236}">
                <a16:creationId xmlns:a16="http://schemas.microsoft.com/office/drawing/2014/main" id="{D88A5B16-EF7A-413F-9654-CDF50A44B0D9}"/>
              </a:ext>
            </a:extLst>
          </p:cNvPr>
          <p:cNvSpPr>
            <a:spLocks noGrp="1"/>
          </p:cNvSpPr>
          <p:nvPr/>
        </p:nvSpPr>
        <p:spPr>
          <a:xfrm>
            <a:off x="904875" y="5334000"/>
            <a:ext cx="1428750" cy="323850"/>
          </a:xfrm>
          <a:prstGeom prst="rect">
            <a:avLst/>
          </a:prstGeom>
          <a:noFill/>
          <a:ln w="0">
            <a:noFill/>
          </a:ln>
        </p:spPr>
        <p:txBody>
          <a:bodyPr wrap="square" lIns="0" tIns="0" rIns="0" bIns="0" anchor="ctr">
            <a:normAutofit/>
          </a:bodyPr>
          <a:lstStyle/>
          <a:p>
            <a:pPr algn="l">
              <a:lnSpc>
                <a:spcPct val="100000"/>
              </a:lnSpc>
              <a:buNone/>
              <a:defRPr sz="1350" b="1" i="0">
                <a:solidFill>
                  <a:srgbClr val="A31F34"/>
                </a:solidFill>
                <a:latin typeface="Calibri"/>
                <a:ea typeface="Calibri"/>
                <a:cs typeface="Calibri"/>
              </a:defRPr>
            </a:pPr>
            <a:r>
              <a:rPr sz="1350" b="1" i="0">
                <a:solidFill>
                  <a:srgbClr val="A31F34"/>
                </a:solidFill>
                <a:latin typeface="Calibri"/>
                <a:ea typeface="Calibri"/>
                <a:cs typeface="Calibri"/>
              </a:rPr>
              <a:t>WHY IT WON</a:t>
            </a:r>
          </a:p>
        </p:txBody>
      </p:sp>
      <p:sp>
        <p:nvSpPr>
          <p:cNvPr id="6" name="Rectangle 5">
            <a:extLst>
              <a:ext uri="{FF2B5EF4-FFF2-40B4-BE49-F238E27FC236}">
                <a16:creationId xmlns:a16="http://schemas.microsoft.com/office/drawing/2014/main" id="{CC3BB09A-7E04-4F4E-AAFB-5E1D1190B55F}"/>
              </a:ext>
            </a:extLst>
          </p:cNvPr>
          <p:cNvSpPr>
            <a:spLocks noGrp="1"/>
          </p:cNvSpPr>
          <p:nvPr/>
        </p:nvSpPr>
        <p:spPr>
          <a:xfrm>
            <a:off x="2333625" y="5248275"/>
            <a:ext cx="8763000" cy="476250"/>
          </a:xfrm>
          <a:prstGeom prst="rect">
            <a:avLst/>
          </a:prstGeom>
          <a:noFill/>
          <a:ln w="0">
            <a:noFill/>
          </a:ln>
        </p:spPr>
        <p:txBody>
          <a:bodyPr wrap="square" lIns="0" tIns="0" rIns="0" bIns="0" anchor="ctr">
            <a:normAutofit/>
          </a:bodyPr>
          <a:lstStyle/>
          <a:p>
            <a:pPr algn="ctr">
              <a:lnSpc>
                <a:spcPct val="100000"/>
              </a:lnSpc>
              <a:buNone/>
              <a:defRPr sz="1425" b="1" i="0">
                <a:solidFill>
                  <a:srgbClr val="111111"/>
                </a:solidFill>
                <a:latin typeface="Calibri"/>
                <a:ea typeface="Calibri"/>
                <a:cs typeface="Calibri"/>
              </a:defRPr>
            </a:pPr>
            <a:r>
              <a:rPr sz="1425" b="1" i="0">
                <a:solidFill>
                  <a:srgbClr val="111111"/>
                </a:solidFill>
                <a:latin typeface="Calibri"/>
                <a:ea typeface="Calibri"/>
                <a:cs typeface="Calibri"/>
              </a:rPr>
              <a:t>Text questions stay on mini. Table questions move only evidence assessment and final answer writing to gpt-5.4.</a:t>
            </a:r>
          </a:p>
        </p:txBody>
      </p:sp>
      <p:sp>
        <p:nvSpPr>
          <p:cNvPr id="7" name="Rectangle 6">
            <a:extLst>
              <a:ext uri="{FF2B5EF4-FFF2-40B4-BE49-F238E27FC236}">
                <a16:creationId xmlns:a16="http://schemas.microsoft.com/office/drawing/2014/main" id="{1240EAF5-0FA6-482D-AA44-7DEC6F55F1AE}"/>
              </a:ext>
            </a:extLst>
          </p:cNvPr>
          <p:cNvSpPr>
            <a:spLocks noGrp="1"/>
          </p:cNvSpPr>
          <p:nvPr/>
        </p:nvSpPr>
        <p:spPr>
          <a:xfrm>
            <a:off x="952500" y="6076950"/>
            <a:ext cx="10287000" cy="285750"/>
          </a:xfrm>
          <a:prstGeom prst="rect">
            <a:avLst/>
          </a:prstGeom>
          <a:noFill/>
          <a:ln w="0">
            <a:noFill/>
          </a:ln>
        </p:spPr>
        <p:txBody>
          <a:bodyPr wrap="square" lIns="0" tIns="0" rIns="0" bIns="0" anchor="t">
            <a:normAutofit/>
          </a:bodyPr>
          <a:lstStyle/>
          <a:p>
            <a:pPr algn="ctr">
              <a:lnSpc>
                <a:spcPct val="100000"/>
              </a:lnSpc>
              <a:buNone/>
              <a:defRPr sz="1073" b="0" i="0">
                <a:solidFill>
                  <a:srgbClr val="5E5E5E"/>
                </a:solidFill>
                <a:latin typeface="Calibri"/>
                <a:ea typeface="Calibri"/>
                <a:cs typeface="Calibri"/>
              </a:defRPr>
            </a:pPr>
            <a:r>
              <a:rPr sz="1073" b="0" i="0">
                <a:solidFill>
                  <a:srgbClr val="5E5E5E"/>
                </a:solidFill>
                <a:latin typeface="Calibri"/>
                <a:ea typeface="Calibri"/>
                <a:cs typeface="Calibri"/>
              </a:rPr>
              <a:t>Compared with all gpt-5.4: quality difference −0.018, p = 0.81. List cost was 50 percent lower, p = 0.001.</a:t>
            </a:r>
          </a:p>
        </p:txBody>
      </p:sp>
    </p:spTree>
    <p:extLst>
      <p:ext uri="{BB962C8B-B14F-4D97-AF65-F5344CB8AC3E}">
        <p14:creationId xmlns:p14="http://schemas.microsoft.com/office/powerpoint/2010/main" val="684907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vision-title">
            <a:extLst>
              <a:ext uri="{FF2B5EF4-FFF2-40B4-BE49-F238E27FC236}">
                <a16:creationId xmlns:a16="http://schemas.microsoft.com/office/drawing/2014/main" id="{72F021B2-1C5D-46C7-A1E1-06E98C519367}"/>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Validation trade-offs on a common basis</a:t>
            </a:r>
          </a:p>
        </p:txBody>
      </p:sp>
      <p:sp>
        <p:nvSpPr>
          <p:cNvPr id="2" name="revision-subtitle">
            <a:extLst>
              <a:ext uri="{FF2B5EF4-FFF2-40B4-BE49-F238E27FC236}">
                <a16:creationId xmlns:a16="http://schemas.microsoft.com/office/drawing/2014/main" id="{B312736D-8B05-4BE2-8DCA-82F2256EE232}"/>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Every column uses answer quality, list-price cost per question, and seconds per question.</a:t>
            </a:r>
          </a:p>
        </p:txBody>
      </p:sp>
      <p:graphicFrame>
        <p:nvGraphicFramePr>
          <p:cNvPr id="13" name="Table 12"/>
          <p:cNvGraphicFramePr/>
          <p:nvPr/>
        </p:nvGraphicFramePr>
        <p:xfrm>
          <a:off x="619125" y="1619250"/>
          <a:ext cx="10953750" cy="2857500"/>
        </p:xfrm>
        <a:graphic>
          <a:graphicData uri="http://schemas.openxmlformats.org/drawingml/2006/table">
            <a:tbl>
              <a:tblPr/>
              <a:tblGrid>
                <a:gridCol w="1285875">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2238375">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714375">
                <a:tc>
                  <a:txBody>
                    <a:bodyPr/>
                    <a:lstStyle/>
                    <a:p>
                      <a:r>
                        <a:rPr sz="1110" b="1">
                          <a:solidFill>
                            <a:srgbClr val="FFFFFF"/>
                          </a:solidFill>
                          <a:latin typeface="Calibri"/>
                          <a:ea typeface="Calibri"/>
                          <a:cs typeface="Calibri"/>
                        </a:rPr>
                        <a:t>System</a:t>
                      </a:r>
                    </a:p>
                  </a:txBody>
                  <a:tcPr marL="76200" marR="76200" marT="66675" marB="66675" anchor="ctr">
                    <a:solidFill>
                      <a:srgbClr val="A31F34"/>
                    </a:solidFill>
                  </a:tcPr>
                </a:tc>
                <a:tc>
                  <a:txBody>
                    <a:bodyPr/>
                    <a:lstStyle/>
                    <a:p>
                      <a:r>
                        <a:rPr sz="1110" b="1">
                          <a:solidFill>
                            <a:srgbClr val="FFFFFF"/>
                          </a:solidFill>
                          <a:latin typeface="Calibri"/>
                          <a:ea typeface="Calibri"/>
                          <a:cs typeface="Calibri"/>
                        </a:rPr>
                        <a:t>What changed</a:t>
                      </a:r>
                    </a:p>
                  </a:txBody>
                  <a:tcPr marL="76200" marR="76200" marT="66675" marB="66675" anchor="ctr">
                    <a:solidFill>
                      <a:srgbClr val="A31F34"/>
                    </a:solidFill>
                  </a:tcPr>
                </a:tc>
                <a:tc>
                  <a:txBody>
                    <a:bodyPr/>
                    <a:lstStyle/>
                    <a:p>
                      <a:r>
                        <a:rPr sz="1110" b="1">
                          <a:solidFill>
                            <a:srgbClr val="FFFFFF"/>
                          </a:solidFill>
                          <a:latin typeface="Calibri"/>
                          <a:ea typeface="Calibri"/>
                          <a:cs typeface="Calibri"/>
                        </a:rPr>
                        <a:t>Quality</a:t>
                      </a:r>
                    </a:p>
                  </a:txBody>
                  <a:tcPr marL="76200" marR="76200" marT="66675" marB="66675" anchor="ctr">
                    <a:solidFill>
                      <a:srgbClr val="A31F34"/>
                    </a:solidFill>
                  </a:tcPr>
                </a:tc>
                <a:tc>
                  <a:txBody>
                    <a:bodyPr/>
                    <a:lstStyle/>
                    <a:p>
                      <a:r>
                        <a:rPr sz="1110" b="1">
                          <a:solidFill>
                            <a:srgbClr val="FFFFFF"/>
                          </a:solidFill>
                          <a:latin typeface="Calibri"/>
                          <a:ea typeface="Calibri"/>
                          <a:cs typeface="Calibri"/>
                        </a:rPr>
                        <a:t>List cost per question</a:t>
                      </a:r>
                    </a:p>
                  </a:txBody>
                  <a:tcPr marL="76200" marR="76200" marT="66675" marB="66675" anchor="ctr">
                    <a:solidFill>
                      <a:srgbClr val="A31F34"/>
                    </a:solidFill>
                  </a:tcPr>
                </a:tc>
                <a:tc>
                  <a:txBody>
                    <a:bodyPr/>
                    <a:lstStyle/>
                    <a:p>
                      <a:r>
                        <a:rPr sz="1110" b="1">
                          <a:solidFill>
                            <a:srgbClr val="FFFFFF"/>
                          </a:solidFill>
                          <a:latin typeface="Calibri"/>
                          <a:ea typeface="Calibri"/>
                          <a:cs typeface="Calibri"/>
                        </a:rPr>
                        <a:t>Seconds per question</a:t>
                      </a:r>
                    </a:p>
                  </a:txBody>
                  <a:tcPr marL="76200" marR="76200" marT="66675" marB="66675" anchor="ctr">
                    <a:solidFill>
                      <a:srgbClr val="A31F34"/>
                    </a:solidFill>
                  </a:tcPr>
                </a:tc>
                <a:extLst>
                  <a:ext uri="{0D108BD9-81ED-4DB2-BD59-A6C34878D82A}">
                    <a16:rowId xmlns:a16="http://schemas.microsoft.com/office/drawing/2014/main" val="10000"/>
                  </a:ext>
                </a:extLst>
              </a:tr>
              <a:tr h="714375">
                <a:tc>
                  <a:txBody>
                    <a:bodyPr/>
                    <a:lstStyle/>
                    <a:p>
                      <a:r>
                        <a:rPr sz="1140">
                          <a:solidFill>
                            <a:srgbClr val="111111"/>
                          </a:solidFill>
                          <a:latin typeface="Calibri"/>
                          <a:ea typeface="Calibri"/>
                          <a:cs typeface="Calibri"/>
                        </a:rPr>
                        <a:t>5.1</a:t>
                      </a:r>
                    </a:p>
                  </a:txBody>
                  <a:tcPr marL="76200" marR="76200" marT="66675" marB="66675" anchor="ctr"/>
                </a:tc>
                <a:tc>
                  <a:txBody>
                    <a:bodyPr/>
                    <a:lstStyle/>
                    <a:p>
                      <a:r>
                        <a:rPr sz="1140">
                          <a:solidFill>
                            <a:srgbClr val="111111"/>
                          </a:solidFill>
                          <a:latin typeface="Calibri"/>
                          <a:ea typeface="Calibri"/>
                          <a:cs typeface="Calibri"/>
                        </a:rPr>
                        <a:t>Agent loop with deterministic table computation</a:t>
                      </a:r>
                    </a:p>
                  </a:txBody>
                  <a:tcPr marL="76200" marR="76200" marT="66675" marB="66675" anchor="ctr"/>
                </a:tc>
                <a:tc>
                  <a:txBody>
                    <a:bodyPr/>
                    <a:lstStyle/>
                    <a:p>
                      <a:r>
                        <a:rPr sz="1140">
                          <a:solidFill>
                            <a:srgbClr val="111111"/>
                          </a:solidFill>
                          <a:latin typeface="Calibri"/>
                          <a:ea typeface="Calibri"/>
                          <a:cs typeface="Calibri"/>
                        </a:rPr>
                        <a:t>0.880</a:t>
                      </a:r>
                    </a:p>
                  </a:txBody>
                  <a:tcPr marL="76200" marR="76200" marT="66675" marB="66675" anchor="ctr"/>
                </a:tc>
                <a:tc>
                  <a:txBody>
                    <a:bodyPr/>
                    <a:lstStyle/>
                    <a:p>
                      <a:r>
                        <a:rPr sz="1140">
                          <a:solidFill>
                            <a:srgbClr val="111111"/>
                          </a:solidFill>
                          <a:latin typeface="Calibri"/>
                          <a:ea typeface="Calibri"/>
                          <a:cs typeface="Calibri"/>
                        </a:rPr>
                        <a:t>$0.0431*</a:t>
                      </a:r>
                    </a:p>
                  </a:txBody>
                  <a:tcPr marL="76200" marR="76200" marT="66675" marB="66675" anchor="ctr"/>
                </a:tc>
                <a:tc>
                  <a:txBody>
                    <a:bodyPr/>
                    <a:lstStyle/>
                    <a:p>
                      <a:r>
                        <a:rPr sz="1140">
                          <a:solidFill>
                            <a:srgbClr val="111111"/>
                          </a:solidFill>
                          <a:latin typeface="Calibri"/>
                          <a:ea typeface="Calibri"/>
                          <a:cs typeface="Calibri"/>
                        </a:rPr>
                        <a:t>16.1*</a:t>
                      </a:r>
                    </a:p>
                  </a:txBody>
                  <a:tcPr marL="76200" marR="76200" marT="66675" marB="66675" anchor="ctr"/>
                </a:tc>
                <a:extLst>
                  <a:ext uri="{0D108BD9-81ED-4DB2-BD59-A6C34878D82A}">
                    <a16:rowId xmlns:a16="http://schemas.microsoft.com/office/drawing/2014/main" val="10001"/>
                  </a:ext>
                </a:extLst>
              </a:tr>
              <a:tr h="714375">
                <a:tc>
                  <a:txBody>
                    <a:bodyPr/>
                    <a:lstStyle/>
                    <a:p>
                      <a:r>
                        <a:rPr sz="1140">
                          <a:solidFill>
                            <a:srgbClr val="111111"/>
                          </a:solidFill>
                          <a:latin typeface="Calibri"/>
                          <a:ea typeface="Calibri"/>
                          <a:cs typeface="Calibri"/>
                        </a:rPr>
                        <a:t>6.1</a:t>
                      </a:r>
                    </a:p>
                  </a:txBody>
                  <a:tcPr marL="76200" marR="76200" marT="66675" marB="66675" anchor="ctr">
                    <a:solidFill>
                      <a:srgbClr val="F3F3F3"/>
                    </a:solidFill>
                  </a:tcPr>
                </a:tc>
                <a:tc>
                  <a:txBody>
                    <a:bodyPr/>
                    <a:lstStyle/>
                    <a:p>
                      <a:r>
                        <a:rPr sz="1140">
                          <a:solidFill>
                            <a:srgbClr val="111111"/>
                          </a:solidFill>
                          <a:latin typeface="Calibri"/>
                          <a:ea typeface="Calibri"/>
                          <a:cs typeface="Calibri"/>
                        </a:rPr>
                        <a:t>Text questions stop earlier. Table failures become explicit.</a:t>
                      </a:r>
                    </a:p>
                  </a:txBody>
                  <a:tcPr marL="76200" marR="76200" marT="66675" marB="66675" anchor="ctr">
                    <a:solidFill>
                      <a:srgbClr val="F3F3F3"/>
                    </a:solidFill>
                  </a:tcPr>
                </a:tc>
                <a:tc>
                  <a:txBody>
                    <a:bodyPr/>
                    <a:lstStyle/>
                    <a:p>
                      <a:r>
                        <a:rPr sz="1140">
                          <a:solidFill>
                            <a:srgbClr val="111111"/>
                          </a:solidFill>
                          <a:latin typeface="Calibri"/>
                          <a:ea typeface="Calibri"/>
                          <a:cs typeface="Calibri"/>
                        </a:rPr>
                        <a:t>0.860</a:t>
                      </a:r>
                    </a:p>
                  </a:txBody>
                  <a:tcPr marL="76200" marR="76200" marT="66675" marB="66675" anchor="ctr">
                    <a:solidFill>
                      <a:srgbClr val="F3F3F3"/>
                    </a:solidFill>
                  </a:tcPr>
                </a:tc>
                <a:tc>
                  <a:txBody>
                    <a:bodyPr/>
                    <a:lstStyle/>
                    <a:p>
                      <a:r>
                        <a:rPr sz="1140">
                          <a:solidFill>
                            <a:srgbClr val="111111"/>
                          </a:solidFill>
                          <a:latin typeface="Calibri"/>
                          <a:ea typeface="Calibri"/>
                          <a:cs typeface="Calibri"/>
                        </a:rPr>
                        <a:t>$0.0422</a:t>
                      </a:r>
                    </a:p>
                  </a:txBody>
                  <a:tcPr marL="76200" marR="76200" marT="66675" marB="66675" anchor="ctr">
                    <a:solidFill>
                      <a:srgbClr val="F3F3F3"/>
                    </a:solidFill>
                  </a:tcPr>
                </a:tc>
                <a:tc>
                  <a:txBody>
                    <a:bodyPr/>
                    <a:lstStyle/>
                    <a:p>
                      <a:r>
                        <a:rPr sz="1140">
                          <a:solidFill>
                            <a:srgbClr val="111111"/>
                          </a:solidFill>
                          <a:latin typeface="Calibri"/>
                          <a:ea typeface="Calibri"/>
                          <a:cs typeface="Calibri"/>
                        </a:rPr>
                        <a:t>12.8</a:t>
                      </a:r>
                    </a:p>
                  </a:txBody>
                  <a:tcPr marL="76200" marR="76200" marT="66675" marB="66675" anchor="ctr">
                    <a:solidFill>
                      <a:srgbClr val="F3F3F3"/>
                    </a:solidFill>
                  </a:tcPr>
                </a:tc>
                <a:extLst>
                  <a:ext uri="{0D108BD9-81ED-4DB2-BD59-A6C34878D82A}">
                    <a16:rowId xmlns:a16="http://schemas.microsoft.com/office/drawing/2014/main" val="10002"/>
                  </a:ext>
                </a:extLst>
              </a:tr>
              <a:tr h="714375">
                <a:tc>
                  <a:txBody>
                    <a:bodyPr/>
                    <a:lstStyle/>
                    <a:p>
                      <a:r>
                        <a:rPr sz="1140" b="1">
                          <a:solidFill>
                            <a:srgbClr val="7E1728"/>
                          </a:solidFill>
                          <a:latin typeface="Calibri"/>
                          <a:ea typeface="Calibri"/>
                          <a:cs typeface="Calibri"/>
                        </a:rPr>
                        <a:t>7.1</a:t>
                      </a:r>
                    </a:p>
                  </a:txBody>
                  <a:tcPr marL="76200" marR="76200" marT="66675" marB="66675" anchor="ctr">
                    <a:solidFill>
                      <a:srgbClr val="F7E9EC"/>
                    </a:solidFill>
                  </a:tcPr>
                </a:tc>
                <a:tc>
                  <a:txBody>
                    <a:bodyPr/>
                    <a:lstStyle/>
                    <a:p>
                      <a:r>
                        <a:rPr sz="1140" b="1">
                          <a:solidFill>
                            <a:srgbClr val="7E1728"/>
                          </a:solidFill>
                          <a:latin typeface="Calibri"/>
                          <a:ea typeface="Calibri"/>
                          <a:cs typeface="Calibri"/>
                        </a:rPr>
                        <a:t>Safeguards plus gpt-5.4 assessment and answer writing on table questions</a:t>
                      </a:r>
                    </a:p>
                  </a:txBody>
                  <a:tcPr marL="76200" marR="76200" marT="66675" marB="66675" anchor="ctr">
                    <a:solidFill>
                      <a:srgbClr val="F7E9EC"/>
                    </a:solidFill>
                  </a:tcPr>
                </a:tc>
                <a:tc>
                  <a:txBody>
                    <a:bodyPr/>
                    <a:lstStyle/>
                    <a:p>
                      <a:r>
                        <a:rPr sz="1140" b="1">
                          <a:solidFill>
                            <a:srgbClr val="7E1728"/>
                          </a:solidFill>
                          <a:latin typeface="Calibri"/>
                          <a:ea typeface="Calibri"/>
                          <a:cs typeface="Calibri"/>
                        </a:rPr>
                        <a:t>0.933</a:t>
                      </a:r>
                    </a:p>
                  </a:txBody>
                  <a:tcPr marL="76200" marR="76200" marT="66675" marB="66675" anchor="ctr">
                    <a:solidFill>
                      <a:srgbClr val="F7E9EC"/>
                    </a:solidFill>
                  </a:tcPr>
                </a:tc>
                <a:tc>
                  <a:txBody>
                    <a:bodyPr/>
                    <a:lstStyle/>
                    <a:p>
                      <a:r>
                        <a:rPr sz="1140" b="1">
                          <a:solidFill>
                            <a:srgbClr val="7E1728"/>
                          </a:solidFill>
                          <a:latin typeface="Calibri"/>
                          <a:ea typeface="Calibri"/>
                          <a:cs typeface="Calibri"/>
                        </a:rPr>
                        <a:t>$0.1068</a:t>
                      </a:r>
                    </a:p>
                  </a:txBody>
                  <a:tcPr marL="76200" marR="76200" marT="66675" marB="66675" anchor="ctr">
                    <a:solidFill>
                      <a:srgbClr val="F7E9EC"/>
                    </a:solidFill>
                  </a:tcPr>
                </a:tc>
                <a:tc>
                  <a:txBody>
                    <a:bodyPr/>
                    <a:lstStyle/>
                    <a:p>
                      <a:r>
                        <a:rPr sz="1140" b="1">
                          <a:solidFill>
                            <a:srgbClr val="7E1728"/>
                          </a:solidFill>
                          <a:latin typeface="Calibri"/>
                          <a:ea typeface="Calibri"/>
                          <a:cs typeface="Calibri"/>
                        </a:rPr>
                        <a:t>18.7</a:t>
                      </a:r>
                    </a:p>
                  </a:txBody>
                  <a:tcPr marL="76200" marR="76200" marT="66675" marB="66675" anchor="ctr">
                    <a:solidFill>
                      <a:srgbClr val="F7E9EC"/>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43A070FF-603C-4F05-B5A8-60682720E224}"/>
              </a:ext>
            </a:extLst>
          </p:cNvPr>
          <p:cNvSpPr>
            <a:spLocks noGrp="1"/>
          </p:cNvSpPr>
          <p:nvPr/>
        </p:nvSpPr>
        <p:spPr>
          <a:xfrm>
            <a:off x="1143000" y="4810125"/>
            <a:ext cx="4191000" cy="304800"/>
          </a:xfrm>
          <a:prstGeom prst="rect">
            <a:avLst/>
          </a:prstGeom>
          <a:noFill/>
          <a:ln w="0">
            <a:noFill/>
          </a:ln>
        </p:spPr>
        <p:txBody>
          <a:bodyPr wrap="square" lIns="0" tIns="0" rIns="0" bIns="0" anchor="t">
            <a:normAutofit/>
          </a:bodyPr>
          <a:lstStyle/>
          <a:p>
            <a:pPr algn="ctr">
              <a:lnSpc>
                <a:spcPct val="100000"/>
              </a:lnSpc>
              <a:buNone/>
              <a:defRPr sz="1500" b="1" i="0">
                <a:solidFill>
                  <a:srgbClr val="5E5E5E"/>
                </a:solidFill>
                <a:latin typeface="Calibri"/>
                <a:ea typeface="Calibri"/>
                <a:cs typeface="Calibri"/>
              </a:defRPr>
            </a:pPr>
            <a:r>
              <a:rPr sz="1500" b="1" i="0">
                <a:solidFill>
                  <a:srgbClr val="5E5E5E"/>
                </a:solidFill>
                <a:latin typeface="Calibri"/>
                <a:ea typeface="Calibri"/>
                <a:cs typeface="Calibri"/>
              </a:rPr>
              <a:t>5.1 to 6.1</a:t>
            </a:r>
          </a:p>
        </p:txBody>
      </p:sp>
      <p:sp>
        <p:nvSpPr>
          <p:cNvPr id="5" name="Rectangle 4">
            <a:extLst>
              <a:ext uri="{FF2B5EF4-FFF2-40B4-BE49-F238E27FC236}">
                <a16:creationId xmlns:a16="http://schemas.microsoft.com/office/drawing/2014/main" id="{48EA3D35-47A5-4068-A008-C1C4627ADEF8}"/>
              </a:ext>
            </a:extLst>
          </p:cNvPr>
          <p:cNvSpPr>
            <a:spLocks noGrp="1"/>
          </p:cNvSpPr>
          <p:nvPr/>
        </p:nvSpPr>
        <p:spPr>
          <a:xfrm>
            <a:off x="1524000" y="5162550"/>
            <a:ext cx="3429000" cy="742950"/>
          </a:xfrm>
          <a:prstGeom prst="rect">
            <a:avLst/>
          </a:prstGeom>
          <a:noFill/>
          <a:ln w="0">
            <a:noFill/>
          </a:ln>
        </p:spPr>
        <p:txBody>
          <a:bodyPr wrap="square" lIns="0" tIns="0" rIns="0" bIns="0" anchor="t">
            <a:normAutofit/>
          </a:bodyPr>
          <a:lstStyle/>
          <a:p>
            <a:pPr algn="ctr">
              <a:lnSpc>
                <a:spcPct val="105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Quality  −0.020</a:t>
            </a:r>
          </a:p>
          <a:p>
            <a:pPr algn="ctr">
              <a:lnSpc>
                <a:spcPct val="105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List cost per question  −$0.0009</a:t>
            </a:r>
          </a:p>
          <a:p>
            <a:pPr algn="ctr">
              <a:lnSpc>
                <a:spcPct val="105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Seconds per question  −3.3</a:t>
            </a:r>
          </a:p>
        </p:txBody>
      </p:sp>
      <p:sp>
        <p:nvSpPr>
          <p:cNvPr id="6" name="Rectangle 5">
            <a:extLst>
              <a:ext uri="{FF2B5EF4-FFF2-40B4-BE49-F238E27FC236}">
                <a16:creationId xmlns:a16="http://schemas.microsoft.com/office/drawing/2014/main" id="{3D8C6A1E-56E1-4A02-B2C9-64E325FE2A00}"/>
              </a:ext>
            </a:extLst>
          </p:cNvPr>
          <p:cNvSpPr>
            <a:spLocks noGrp="1"/>
          </p:cNvSpPr>
          <p:nvPr/>
        </p:nvSpPr>
        <p:spPr>
          <a:xfrm>
            <a:off x="6076950" y="4762500"/>
            <a:ext cx="19050" cy="1190625"/>
          </a:xfrm>
          <a:prstGeom prst="rect">
            <a:avLst/>
          </a:prstGeom>
          <a:solidFill>
            <a:srgbClr val="D8D8D8"/>
          </a:solidFill>
          <a:ln w="0">
            <a:noFill/>
          </a:ln>
        </p:spPr>
        <p:txBody>
          <a:bodyPr/>
          <a:lstStyle/>
          <a:p>
            <a:endParaRPr lang="en-US"/>
          </a:p>
        </p:txBody>
      </p:sp>
      <p:sp>
        <p:nvSpPr>
          <p:cNvPr id="7" name="Rectangle 6">
            <a:extLst>
              <a:ext uri="{FF2B5EF4-FFF2-40B4-BE49-F238E27FC236}">
                <a16:creationId xmlns:a16="http://schemas.microsoft.com/office/drawing/2014/main" id="{C0AD9013-6893-452B-9F66-DF655268E68A}"/>
              </a:ext>
            </a:extLst>
          </p:cNvPr>
          <p:cNvSpPr>
            <a:spLocks noGrp="1"/>
          </p:cNvSpPr>
          <p:nvPr/>
        </p:nvSpPr>
        <p:spPr>
          <a:xfrm>
            <a:off x="6858000" y="4810125"/>
            <a:ext cx="4191000" cy="304800"/>
          </a:xfrm>
          <a:prstGeom prst="rect">
            <a:avLst/>
          </a:prstGeom>
          <a:noFill/>
          <a:ln w="0">
            <a:noFill/>
          </a:ln>
        </p:spPr>
        <p:txBody>
          <a:bodyPr wrap="square" lIns="0" tIns="0" rIns="0" bIns="0" anchor="t">
            <a:normAutofit/>
          </a:bodyPr>
          <a:lstStyle/>
          <a:p>
            <a:pPr algn="ctr">
              <a:lnSpc>
                <a:spcPct val="100000"/>
              </a:lnSpc>
              <a:buNone/>
              <a:defRPr sz="1500" b="1" i="0">
                <a:solidFill>
                  <a:srgbClr val="7E1728"/>
                </a:solidFill>
                <a:latin typeface="Calibri"/>
                <a:ea typeface="Calibri"/>
                <a:cs typeface="Calibri"/>
              </a:defRPr>
            </a:pPr>
            <a:r>
              <a:rPr sz="1500" b="1" i="0">
                <a:solidFill>
                  <a:srgbClr val="7E1728"/>
                </a:solidFill>
                <a:latin typeface="Calibri"/>
                <a:ea typeface="Calibri"/>
                <a:cs typeface="Calibri"/>
              </a:rPr>
              <a:t>6.1 to 7.1</a:t>
            </a:r>
          </a:p>
        </p:txBody>
      </p:sp>
      <p:sp>
        <p:nvSpPr>
          <p:cNvPr id="8" name="Rectangle 7">
            <a:extLst>
              <a:ext uri="{FF2B5EF4-FFF2-40B4-BE49-F238E27FC236}">
                <a16:creationId xmlns:a16="http://schemas.microsoft.com/office/drawing/2014/main" id="{B54862B5-90B1-49ED-9C2D-F360B14C3E90}"/>
              </a:ext>
            </a:extLst>
          </p:cNvPr>
          <p:cNvSpPr>
            <a:spLocks noGrp="1"/>
          </p:cNvSpPr>
          <p:nvPr/>
        </p:nvSpPr>
        <p:spPr>
          <a:xfrm>
            <a:off x="7239000" y="5162550"/>
            <a:ext cx="3429000" cy="742950"/>
          </a:xfrm>
          <a:prstGeom prst="rect">
            <a:avLst/>
          </a:prstGeom>
          <a:noFill/>
          <a:ln w="0">
            <a:noFill/>
          </a:ln>
        </p:spPr>
        <p:txBody>
          <a:bodyPr wrap="square" lIns="0" tIns="0" rIns="0" bIns="0" anchor="t">
            <a:normAutofit/>
          </a:bodyPr>
          <a:lstStyle/>
          <a:p>
            <a:pPr algn="ctr">
              <a:lnSpc>
                <a:spcPct val="105000"/>
              </a:lnSpc>
              <a:buNone/>
              <a:defRPr sz="1275" b="0" i="0">
                <a:solidFill>
                  <a:srgbClr val="7E1728"/>
                </a:solidFill>
                <a:latin typeface="Calibri"/>
                <a:ea typeface="Calibri"/>
                <a:cs typeface="Calibri"/>
              </a:defRPr>
            </a:pPr>
            <a:r>
              <a:rPr sz="1275" b="0" i="0">
                <a:solidFill>
                  <a:srgbClr val="7E1728"/>
                </a:solidFill>
                <a:latin typeface="Calibri"/>
                <a:ea typeface="Calibri"/>
                <a:cs typeface="Calibri"/>
              </a:rPr>
              <a:t>Quality  +0.073</a:t>
            </a:r>
          </a:p>
          <a:p>
            <a:pPr algn="ctr">
              <a:lnSpc>
                <a:spcPct val="105000"/>
              </a:lnSpc>
              <a:buNone/>
              <a:defRPr sz="1275" b="0" i="0">
                <a:solidFill>
                  <a:srgbClr val="7E1728"/>
                </a:solidFill>
                <a:latin typeface="Calibri"/>
                <a:ea typeface="Calibri"/>
                <a:cs typeface="Calibri"/>
              </a:defRPr>
            </a:pPr>
            <a:r>
              <a:rPr sz="1275" b="0" i="0">
                <a:solidFill>
                  <a:srgbClr val="7E1728"/>
                </a:solidFill>
                <a:latin typeface="Calibri"/>
                <a:ea typeface="Calibri"/>
                <a:cs typeface="Calibri"/>
              </a:rPr>
              <a:t>List cost per question  +$0.0646</a:t>
            </a:r>
          </a:p>
          <a:p>
            <a:pPr algn="ctr">
              <a:lnSpc>
                <a:spcPct val="105000"/>
              </a:lnSpc>
              <a:buNone/>
              <a:defRPr sz="1275" b="0" i="0">
                <a:solidFill>
                  <a:srgbClr val="7E1728"/>
                </a:solidFill>
                <a:latin typeface="Calibri"/>
                <a:ea typeface="Calibri"/>
                <a:cs typeface="Calibri"/>
              </a:defRPr>
            </a:pPr>
            <a:r>
              <a:rPr sz="1275" b="0" i="0">
                <a:solidFill>
                  <a:srgbClr val="7E1728"/>
                </a:solidFill>
                <a:latin typeface="Calibri"/>
                <a:ea typeface="Calibri"/>
                <a:cs typeface="Calibri"/>
              </a:rPr>
              <a:t>Seconds per question  +5.9</a:t>
            </a:r>
          </a:p>
        </p:txBody>
      </p:sp>
      <p:sp>
        <p:nvSpPr>
          <p:cNvPr id="9" name="Rectangle 8">
            <a:extLst>
              <a:ext uri="{FF2B5EF4-FFF2-40B4-BE49-F238E27FC236}">
                <a16:creationId xmlns:a16="http://schemas.microsoft.com/office/drawing/2014/main" id="{B1DDDB99-3705-4855-8628-07D385A7260C}"/>
              </a:ext>
            </a:extLst>
          </p:cNvPr>
          <p:cNvSpPr>
            <a:spLocks noGrp="1"/>
          </p:cNvSpPr>
          <p:nvPr/>
        </p:nvSpPr>
        <p:spPr>
          <a:xfrm>
            <a:off x="1238250" y="6143625"/>
            <a:ext cx="9715500" cy="323850"/>
          </a:xfrm>
          <a:prstGeom prst="rect">
            <a:avLst/>
          </a:prstGeom>
          <a:noFill/>
          <a:ln w="0">
            <a:noFill/>
          </a:ln>
        </p:spPr>
        <p:txBody>
          <a:bodyPr wrap="square" lIns="0" tIns="0" rIns="0" bIns="0" anchor="ctr">
            <a:normAutofit/>
          </a:bodyPr>
          <a:lstStyle/>
          <a:p>
            <a:pPr algn="ctr">
              <a:lnSpc>
                <a:spcPct val="100000"/>
              </a:lnSpc>
              <a:buNone/>
              <a:defRPr sz="1125" b="1" i="0">
                <a:solidFill>
                  <a:srgbClr val="5E5E5E"/>
                </a:solidFill>
                <a:latin typeface="Calibri"/>
                <a:ea typeface="Calibri"/>
                <a:cs typeface="Calibri"/>
              </a:defRPr>
            </a:pPr>
            <a:r>
              <a:rPr sz="1125" b="1" i="0">
                <a:solidFill>
                  <a:srgbClr val="5E5E5E"/>
                </a:solidFill>
                <a:latin typeface="Calibri"/>
                <a:ea typeface="Calibri"/>
                <a:cs typeface="Calibri"/>
              </a:rPr>
              <a:t>6.1 made the workflow faster. 7.1 accepted more cost and time for a higher measured quality result. The quality comparison had p = 0.094.</a:t>
            </a:r>
          </a:p>
        </p:txBody>
      </p:sp>
      <p:sp>
        <p:nvSpPr>
          <p:cNvPr id="10" name="Rectangle 9">
            <a:extLst>
              <a:ext uri="{FF2B5EF4-FFF2-40B4-BE49-F238E27FC236}">
                <a16:creationId xmlns:a16="http://schemas.microsoft.com/office/drawing/2014/main" id="{C69B6ADC-819D-407F-8FF1-8EEB4E932B78}"/>
              </a:ext>
            </a:extLst>
          </p:cNvPr>
          <p:cNvSpPr>
            <a:spLocks noGrp="1"/>
          </p:cNvSpPr>
          <p:nvPr/>
        </p:nvSpPr>
        <p:spPr>
          <a:xfrm>
            <a:off x="1476375" y="4524375"/>
            <a:ext cx="9239250" cy="228600"/>
          </a:xfrm>
          <a:prstGeom prst="rect">
            <a:avLst/>
          </a:prstGeom>
          <a:noFill/>
          <a:ln w="0">
            <a:noFill/>
          </a:ln>
        </p:spPr>
        <p:txBody>
          <a:bodyPr wrap="square" lIns="0" tIns="0" rIns="0" bIns="0" anchor="t">
            <a:normAutofit/>
          </a:bodyPr>
          <a:lstStyle/>
          <a:p>
            <a:pPr algn="ctr">
              <a:lnSpc>
                <a:spcPct val="100000"/>
              </a:lnSpc>
              <a:buNone/>
              <a:defRPr sz="975" b="0" i="0">
                <a:solidFill>
                  <a:srgbClr val="5E5E5E"/>
                </a:solidFill>
                <a:latin typeface="Calibri"/>
                <a:ea typeface="Calibri"/>
                <a:cs typeface="Calibri"/>
              </a:defRPr>
            </a:pPr>
            <a:r>
              <a:rPr sz="975" b="0" i="0">
                <a:solidFill>
                  <a:srgbClr val="5E5E5E"/>
                </a:solidFill>
                <a:latin typeface="Calibri"/>
                <a:ea typeface="Calibri"/>
                <a:cs typeface="Calibri"/>
              </a:rPr>
              <a:t>* The 5.1 cost and time values came from its measured telemetry run. Quality values are three-run validation means.</a:t>
            </a:r>
          </a:p>
        </p:txBody>
      </p:sp>
    </p:spTree>
    <p:extLst>
      <p:ext uri="{BB962C8B-B14F-4D97-AF65-F5344CB8AC3E}">
        <p14:creationId xmlns:p14="http://schemas.microsoft.com/office/powerpoint/2010/main" val="1433583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vision-title">
            <a:extLst>
              <a:ext uri="{FF2B5EF4-FFF2-40B4-BE49-F238E27FC236}">
                <a16:creationId xmlns:a16="http://schemas.microsoft.com/office/drawing/2014/main" id="{5F5B71E4-B5AB-0B9B-4C2F-DEF52AA0E04E}"/>
              </a:ext>
            </a:extLst>
          </p:cNvPr>
          <p:cNvSpPr>
            <a:spLocks noGrp="1"/>
          </p:cNvSpPr>
          <p:nvPr/>
        </p:nvSpPr>
        <p:spPr>
          <a:xfrm>
            <a:off x="2286000" y="521207"/>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dirty="0">
                <a:solidFill>
                  <a:srgbClr val="111111"/>
                </a:solidFill>
                <a:latin typeface="Calibri"/>
                <a:ea typeface="Calibri"/>
                <a:cs typeface="Calibri"/>
              </a:rPr>
              <a:t>The journey in numbers</a:t>
            </a:r>
          </a:p>
        </p:txBody>
      </p:sp>
      <p:sp>
        <p:nvSpPr>
          <p:cNvPr id="4" name="revision-subtitle">
            <a:extLst>
              <a:ext uri="{FF2B5EF4-FFF2-40B4-BE49-F238E27FC236}">
                <a16:creationId xmlns:a16="http://schemas.microsoft.com/office/drawing/2014/main" id="{4CF0430D-7FEF-375C-5FEA-72E174E32C8B}"/>
              </a:ext>
            </a:extLst>
          </p:cNvPr>
          <p:cNvSpPr>
            <a:spLocks noGrp="1"/>
          </p:cNvSpPr>
          <p:nvPr/>
        </p:nvSpPr>
        <p:spPr>
          <a:xfrm>
            <a:off x="952500" y="1069848"/>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dirty="0">
                <a:solidFill>
                  <a:srgbClr val="5E5E5E"/>
                </a:solidFill>
                <a:latin typeface="Calibri"/>
                <a:ea typeface="Calibri"/>
                <a:cs typeface="Calibri"/>
              </a:rPr>
              <a:t>Recall reached its ceiling at 5.1; quality kept moving until 7.1 led on both question sets.</a:t>
            </a:r>
          </a:p>
        </p:txBody>
      </p:sp>
      <p:graphicFrame>
        <p:nvGraphicFramePr>
          <p:cNvPr id="5" name="journey-quality-chart"/>
          <p:cNvGraphicFramePr>
            <a:graphicFrameLocks noGrp="1"/>
          </p:cNvGraphicFramePr>
          <p:nvPr/>
        </p:nvGraphicFramePr>
        <p:xfrm>
          <a:off x="685800" y="1417320"/>
          <a:ext cx="10817352" cy="2697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journey-recall-chart"/>
          <p:cNvGraphicFramePr>
            <a:graphicFrameLocks noGrp="1"/>
          </p:cNvGraphicFramePr>
          <p:nvPr/>
        </p:nvGraphicFramePr>
        <p:xfrm>
          <a:off x="685800" y="4160520"/>
          <a:ext cx="10817352"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7" name="journey-note"/>
          <p:cNvSpPr txBox="1"/>
          <p:nvPr/>
        </p:nvSpPr>
        <p:spPr>
          <a:xfrm>
            <a:off x="685800" y="6382512"/>
            <a:ext cx="10817352" cy="274320"/>
          </a:xfrm>
          <a:prstGeom prst="rect">
            <a:avLst/>
          </a:prstGeom>
          <a:noFill/>
        </p:spPr>
        <p:txBody>
          <a:bodyPr wrap="square" lIns="0" tIns="0" rIns="0" bIns="0" anchor="t">
            <a:spAutoFit/>
          </a:bodyPr>
          <a:lstStyle/>
          <a:p>
            <a:pPr algn="l"/>
            <a:r>
              <a:rPr sz="1100" b="0">
                <a:solidFill>
                  <a:srgbClr val="5E5E5E"/>
                </a:solidFill>
                <a:latin typeface="Calibri"/>
              </a:rPr>
              <a:t>Quality axis starts at 0.70 and recall axis at 0.85. Earlier checkpoints come from their own recorded campaigns; 5.1 to 7.1 use three runs each.</a:t>
            </a:r>
          </a:p>
        </p:txBody>
      </p:sp>
    </p:spTree>
    <p:extLst>
      <p:ext uri="{BB962C8B-B14F-4D97-AF65-F5344CB8AC3E}">
        <p14:creationId xmlns:p14="http://schemas.microsoft.com/office/powerpoint/2010/main" val="1456204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vision-title">
            <a:extLst>
              <a:ext uri="{FF2B5EF4-FFF2-40B4-BE49-F238E27FC236}">
                <a16:creationId xmlns:a16="http://schemas.microsoft.com/office/drawing/2014/main" id="{4A5A8FB4-9229-4C11-B3A4-439523DA8EC9}"/>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Observed failures and next engineering changes</a:t>
            </a:r>
          </a:p>
        </p:txBody>
      </p:sp>
      <p:sp>
        <p:nvSpPr>
          <p:cNvPr id="2" name="revision-subtitle">
            <a:extLst>
              <a:ext uri="{FF2B5EF4-FFF2-40B4-BE49-F238E27FC236}">
                <a16:creationId xmlns:a16="http://schemas.microsoft.com/office/drawing/2014/main" id="{E5482AAC-2AF9-422E-888F-54B56503A551}"/>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Each planned change maps to a failure reproduced in the evaluation logs.</a:t>
            </a:r>
          </a:p>
        </p:txBody>
      </p:sp>
      <p:graphicFrame>
        <p:nvGraphicFramePr>
          <p:cNvPr id="8" name="Table 7"/>
          <p:cNvGraphicFramePr/>
          <p:nvPr>
            <p:extLst>
              <p:ext uri="{D42A27DB-BD31-4B8C-83A1-F6EECF244321}">
                <p14:modId xmlns:p14="http://schemas.microsoft.com/office/powerpoint/2010/main" val="2035816984"/>
              </p:ext>
            </p:extLst>
          </p:nvPr>
        </p:nvGraphicFramePr>
        <p:xfrm>
          <a:off x="619125" y="1524000"/>
          <a:ext cx="10953750" cy="4095752"/>
        </p:xfrm>
        <a:graphic>
          <a:graphicData uri="http://schemas.openxmlformats.org/drawingml/2006/table">
            <a:tbl>
              <a:tblPr/>
              <a:tblGrid>
                <a:gridCol w="4667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1023938">
                <a:tc>
                  <a:txBody>
                    <a:bodyPr/>
                    <a:lstStyle/>
                    <a:p>
                      <a:r>
                        <a:rPr sz="1140" b="1">
                          <a:solidFill>
                            <a:srgbClr val="FFFFFF"/>
                          </a:solidFill>
                          <a:latin typeface="Calibri"/>
                          <a:ea typeface="Calibri"/>
                          <a:cs typeface="Calibri"/>
                        </a:rPr>
                        <a:t>Observed problem</a:t>
                      </a:r>
                    </a:p>
                  </a:txBody>
                  <a:tcPr marL="85725" marR="85725" marT="76200" marB="76200" anchor="ctr">
                    <a:solidFill>
                      <a:srgbClr val="A31F34"/>
                    </a:solidFill>
                  </a:tcPr>
                </a:tc>
                <a:tc>
                  <a:txBody>
                    <a:bodyPr/>
                    <a:lstStyle/>
                    <a:p>
                      <a:r>
                        <a:rPr sz="1140" b="1">
                          <a:solidFill>
                            <a:srgbClr val="FFFFFF"/>
                          </a:solidFill>
                          <a:latin typeface="Calibri"/>
                          <a:ea typeface="Calibri"/>
                          <a:cs typeface="Calibri"/>
                        </a:rPr>
                        <a:t>Evidence</a:t>
                      </a:r>
                    </a:p>
                  </a:txBody>
                  <a:tcPr marL="85725" marR="85725" marT="76200" marB="76200" anchor="ctr">
                    <a:solidFill>
                      <a:srgbClr val="A31F34"/>
                    </a:solidFill>
                  </a:tcPr>
                </a:tc>
                <a:tc>
                  <a:txBody>
                    <a:bodyPr/>
                    <a:lstStyle/>
                    <a:p>
                      <a:r>
                        <a:rPr sz="1140" b="1">
                          <a:solidFill>
                            <a:srgbClr val="FFFFFF"/>
                          </a:solidFill>
                          <a:latin typeface="Calibri"/>
                          <a:ea typeface="Calibri"/>
                          <a:cs typeface="Calibri"/>
                        </a:rPr>
                        <a:t>Next engineering change</a:t>
                      </a:r>
                    </a:p>
                  </a:txBody>
                  <a:tcPr marL="85725" marR="85725" marT="76200" marB="76200" anchor="ctr">
                    <a:solidFill>
                      <a:srgbClr val="A31F34"/>
                    </a:solidFill>
                  </a:tcPr>
                </a:tc>
                <a:extLst>
                  <a:ext uri="{0D108BD9-81ED-4DB2-BD59-A6C34878D82A}">
                    <a16:rowId xmlns:a16="http://schemas.microsoft.com/office/drawing/2014/main" val="10000"/>
                  </a:ext>
                </a:extLst>
              </a:tr>
              <a:tr h="1023938">
                <a:tc>
                  <a:txBody>
                    <a:bodyPr/>
                    <a:lstStyle/>
                    <a:p>
                      <a:r>
                        <a:rPr sz="1088" dirty="0">
                          <a:solidFill>
                            <a:srgbClr val="111111"/>
                          </a:solidFill>
                          <a:latin typeface="Calibri"/>
                          <a:ea typeface="Calibri"/>
                          <a:cs typeface="Calibri"/>
                        </a:rPr>
                        <a:t>A missing source was placed in a table request. When the table budget ended, the graph stopped before another retrieval attempt.</a:t>
                      </a:r>
                    </a:p>
                  </a:txBody>
                  <a:tcPr marL="85725" marR="85725" marT="76200" marB="76200" anchor="ctr"/>
                </a:tc>
                <a:tc>
                  <a:txBody>
                    <a:bodyPr/>
                    <a:lstStyle/>
                    <a:p>
                      <a:r>
                        <a:rPr sz="1125" b="1">
                          <a:solidFill>
                            <a:srgbClr val="7E1728"/>
                          </a:solidFill>
                          <a:latin typeface="Calibri"/>
                          <a:ea typeface="Calibri"/>
                          <a:cs typeface="Calibri"/>
                        </a:rPr>
                        <a:t>1 of 75 validation question-runs</a:t>
                      </a:r>
                    </a:p>
                  </a:txBody>
                  <a:tcPr marL="85725" marR="85725" marT="76200" marB="76200" anchor="ctr"/>
                </a:tc>
                <a:tc>
                  <a:txBody>
                    <a:bodyPr/>
                    <a:lstStyle/>
                    <a:p>
                      <a:r>
                        <a:rPr sz="1088">
                          <a:solidFill>
                            <a:srgbClr val="111111"/>
                          </a:solidFill>
                          <a:latin typeface="Calibri"/>
                          <a:ea typeface="Calibri"/>
                          <a:cs typeface="Calibri"/>
                        </a:rPr>
                        <a:t>Convert source requests without table IDs into retrieval requests. Check pending retrieval before termination and add a regression test.</a:t>
                      </a:r>
                    </a:p>
                  </a:txBody>
                  <a:tcPr marL="85725" marR="85725" marT="76200" marB="76200" anchor="ctr"/>
                </a:tc>
                <a:extLst>
                  <a:ext uri="{0D108BD9-81ED-4DB2-BD59-A6C34878D82A}">
                    <a16:rowId xmlns:a16="http://schemas.microsoft.com/office/drawing/2014/main" val="10001"/>
                  </a:ext>
                </a:extLst>
              </a:tr>
              <a:tr h="1023938">
                <a:tc>
                  <a:txBody>
                    <a:bodyPr/>
                    <a:lstStyle/>
                    <a:p>
                      <a:r>
                        <a:rPr lang="en-US" sz="1088" dirty="0">
                          <a:solidFill>
                            <a:srgbClr val="111111"/>
                          </a:solidFill>
                          <a:latin typeface="Calibri"/>
                          <a:ea typeface="Calibri"/>
                          <a:cs typeface="Calibri"/>
                        </a:rPr>
                        <a:t>Set hard limits for table route:</a:t>
                      </a:r>
                    </a:p>
                    <a:p>
                      <a:br>
                        <a:rPr lang="en-US" sz="1088" dirty="0">
                          <a:solidFill>
                            <a:srgbClr val="111111"/>
                          </a:solidFill>
                          <a:latin typeface="Calibri"/>
                          <a:ea typeface="Calibri"/>
                          <a:cs typeface="Calibri"/>
                        </a:rPr>
                      </a:br>
                      <a:r>
                        <a:rPr sz="1088" dirty="0">
                          <a:solidFill>
                            <a:srgbClr val="111111"/>
                          </a:solidFill>
                          <a:latin typeface="Calibri"/>
                          <a:ea typeface="Calibri"/>
                          <a:cs typeface="Calibri"/>
                        </a:rPr>
                        <a:t>Repeated table requests can keep adding rows. Every later model call must reread the expanded evidence.</a:t>
                      </a:r>
                    </a:p>
                  </a:txBody>
                  <a:tcPr marL="85725" marR="85725" marT="76200" marB="76200" anchor="ctr">
                    <a:solidFill>
                      <a:srgbClr val="F3F3F3"/>
                    </a:solidFill>
                  </a:tcPr>
                </a:tc>
                <a:tc>
                  <a:txBody>
                    <a:bodyPr/>
                    <a:lstStyle/>
                    <a:p>
                      <a:r>
                        <a:rPr sz="1125" b="1">
                          <a:solidFill>
                            <a:srgbClr val="7E1728"/>
                          </a:solidFill>
                          <a:latin typeface="Calibri"/>
                          <a:ea typeface="Calibri"/>
                          <a:cs typeface="Calibri"/>
                        </a:rPr>
                        <a:t>Observed in table-route telemetry and extreme cost tails</a:t>
                      </a:r>
                    </a:p>
                  </a:txBody>
                  <a:tcPr marL="85725" marR="85725" marT="76200" marB="76200" anchor="ctr">
                    <a:solidFill>
                      <a:srgbClr val="F3F3F3"/>
                    </a:solidFill>
                  </a:tcPr>
                </a:tc>
                <a:tc>
                  <a:txBody>
                    <a:bodyPr/>
                    <a:lstStyle/>
                    <a:p>
                      <a:r>
                        <a:rPr sz="1088">
                          <a:solidFill>
                            <a:srgbClr val="111111"/>
                          </a:solidFill>
                          <a:latin typeface="Calibri"/>
                          <a:ea typeface="Calibri"/>
                          <a:cs typeface="Calibri"/>
                        </a:rPr>
                        <a:t>Set hard limits on table rounds, retained rows, and prompt size. Return an explicit incomplete status when a limit is reached.</a:t>
                      </a:r>
                    </a:p>
                  </a:txBody>
                  <a:tcPr marL="85725" marR="85725" marT="76200" marB="76200" anchor="ctr">
                    <a:solidFill>
                      <a:srgbClr val="F3F3F3"/>
                    </a:solidFill>
                  </a:tcPr>
                </a:tc>
                <a:extLst>
                  <a:ext uri="{0D108BD9-81ED-4DB2-BD59-A6C34878D82A}">
                    <a16:rowId xmlns:a16="http://schemas.microsoft.com/office/drawing/2014/main" val="10002"/>
                  </a:ext>
                </a:extLst>
              </a:tr>
              <a:tr h="1023938">
                <a:tc>
                  <a:txBody>
                    <a:bodyPr/>
                    <a:lstStyle/>
                    <a:p>
                      <a:r>
                        <a:rPr lang="en-US" sz="1088" dirty="0">
                          <a:solidFill>
                            <a:srgbClr val="111111"/>
                          </a:solidFill>
                          <a:latin typeface="Calibri"/>
                          <a:ea typeface="Calibri"/>
                          <a:cs typeface="Calibri"/>
                        </a:rPr>
                        <a:t>More work on evidence check:</a:t>
                      </a:r>
                      <a:br>
                        <a:rPr lang="en-US" sz="1088" dirty="0">
                          <a:solidFill>
                            <a:srgbClr val="111111"/>
                          </a:solidFill>
                          <a:latin typeface="Calibri"/>
                          <a:ea typeface="Calibri"/>
                          <a:cs typeface="Calibri"/>
                        </a:rPr>
                      </a:br>
                      <a:r>
                        <a:rPr sz="1088" dirty="0">
                          <a:solidFill>
                            <a:srgbClr val="111111"/>
                          </a:solidFill>
                          <a:latin typeface="Calibri"/>
                          <a:ea typeface="Calibri"/>
                          <a:cs typeface="Calibri"/>
                        </a:rPr>
                        <a:t>The grounding check focuses on names and quotations. It can miss unsupported relationships or warn on supported answers.</a:t>
                      </a:r>
                    </a:p>
                  </a:txBody>
                  <a:tcPr marL="85725" marR="85725" marT="76200" marB="76200" anchor="ctr"/>
                </a:tc>
                <a:tc>
                  <a:txBody>
                    <a:bodyPr/>
                    <a:lstStyle/>
                    <a:p>
                      <a:r>
                        <a:rPr sz="1125" b="1" dirty="0">
                          <a:solidFill>
                            <a:srgbClr val="7E1728"/>
                          </a:solidFill>
                          <a:latin typeface="Calibri"/>
                          <a:ea typeface="Calibri"/>
                          <a:cs typeface="Calibri"/>
                        </a:rPr>
                        <a:t>47 of 155 answers warned</a:t>
                      </a:r>
                    </a:p>
                    <a:p>
                      <a:r>
                        <a:rPr sz="1125" b="1" dirty="0">
                          <a:solidFill>
                            <a:srgbClr val="7E1728"/>
                          </a:solidFill>
                          <a:latin typeface="Calibri"/>
                          <a:ea typeface="Calibri"/>
                          <a:cs typeface="Calibri"/>
                        </a:rPr>
                        <a:t>6 were fully correct</a:t>
                      </a:r>
                    </a:p>
                  </a:txBody>
                  <a:tcPr marL="85725" marR="85725" marT="76200" marB="76200" anchor="ctr"/>
                </a:tc>
                <a:tc>
                  <a:txBody>
                    <a:bodyPr/>
                    <a:lstStyle/>
                    <a:p>
                      <a:r>
                        <a:rPr sz="1088" dirty="0">
                          <a:solidFill>
                            <a:srgbClr val="111111"/>
                          </a:solidFill>
                          <a:latin typeface="Calibri"/>
                          <a:ea typeface="Calibri"/>
                          <a:cs typeface="Calibri"/>
                        </a:rPr>
                        <a:t>Verify evidence-linked claims and tune thresholds on a larger labeled set. Track both missed errors and false warnings.</a:t>
                      </a:r>
                    </a:p>
                  </a:txBody>
                  <a:tcPr marL="85725" marR="85725" marT="76200" marB="7620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40043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vision-title">
            <a:extLst>
              <a:ext uri="{FF2B5EF4-FFF2-40B4-BE49-F238E27FC236}">
                <a16:creationId xmlns:a16="http://schemas.microsoft.com/office/drawing/2014/main" id="{5DD15D5C-79E5-4D27-9368-403B0C93AB3D}"/>
              </a:ext>
            </a:extLst>
          </p:cNvPr>
          <p:cNvSpPr>
            <a:spLocks noGrp="1"/>
          </p:cNvSpPr>
          <p:nvPr/>
        </p:nvSpPr>
        <p:spPr>
          <a:xfrm>
            <a:off x="2286000" y="2743200"/>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Backup slides</a:t>
            </a:r>
          </a:p>
        </p:txBody>
      </p:sp>
      <p:sp>
        <p:nvSpPr>
          <p:cNvPr id="3" name="revision-subtitle">
            <a:extLst>
              <a:ext uri="{FF2B5EF4-FFF2-40B4-BE49-F238E27FC236}">
                <a16:creationId xmlns:a16="http://schemas.microsoft.com/office/drawing/2014/main" id="{2FE17EFF-D4EB-480C-BAE8-3962BD8DDED3}"/>
              </a:ext>
            </a:extLst>
          </p:cNvPr>
          <p:cNvSpPr>
            <a:spLocks noGrp="1"/>
          </p:cNvSpPr>
          <p:nvPr/>
        </p:nvSpPr>
        <p:spPr>
          <a:xfrm>
            <a:off x="952500" y="333756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For questions: the earlier results slide, the journey table, the model tests, the routing experiments, and the routing flow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0254CD-0903-966C-40EF-C5EBA490158C}"/>
              </a:ext>
            </a:extLst>
          </p:cNvPr>
          <p:cNvSpPr>
            <a:spLocks noGrp="1"/>
          </p:cNvSpPr>
          <p:nvPr/>
        </p:nvSpPr>
        <p:spPr>
          <a:xfrm>
            <a:off x="707571" y="1497600"/>
            <a:ext cx="9143999" cy="3539430"/>
          </a:xfrm>
          <a:prstGeom prst="rect">
            <a:avLst/>
          </a:prstGeom>
          <a:noFill/>
        </p:spPr>
        <p:txBody>
          <a:bodyPr wrap="square">
            <a:spAutoFit/>
          </a:bodyPr>
          <a:lstStyle>
            <a:lvl1pPr algn="ctr">
              <a:buNone/>
              <a:defRPr sz="2800" b="1">
                <a:solidFill>
                  <a:srgbClr val="A31F34"/>
                </a:solidFill>
                <a:latin typeface="Calibri"/>
                <a:ea typeface="Calibri"/>
                <a:cs typeface="Calibri"/>
              </a:defRPr>
            </a:lvl1pPr>
          </a:lstStyle>
          <a:p>
            <a:endParaRPr/>
          </a:p>
        </p:txBody>
      </p:sp>
      <p:sp>
        <p:nvSpPr>
          <p:cNvPr id="5" name="TextBox 4">
            <a:extLst>
              <a:ext uri="{FF2B5EF4-FFF2-40B4-BE49-F238E27FC236}">
                <a16:creationId xmlns:a16="http://schemas.microsoft.com/office/drawing/2014/main" id="{7FE4D497-87C5-39D6-FAF0-4FE272E0EB7E}"/>
              </a:ext>
            </a:extLst>
          </p:cNvPr>
          <p:cNvSpPr>
            <a:spLocks noGrp="1"/>
          </p:cNvSpPr>
          <p:nvPr/>
        </p:nvSpPr>
        <p:spPr>
          <a:xfrm>
            <a:off x="3048000" y="521207"/>
            <a:ext cx="6096000" cy="523220"/>
          </a:xfrm>
          <a:prstGeom prst="rect">
            <a:avLst/>
          </a:prstGeom>
          <a:noFill/>
        </p:spPr>
        <p:txBody>
          <a:bodyPr wrap="square" lIns="38100" tIns="0" rIns="38100" bIns="0" anchor="ctr">
            <a:normAutofit/>
          </a:bodyPr>
          <a:lstStyle/>
          <a:p>
            <a:pPr algn="ctr">
              <a:buNone/>
              <a:defRPr sz="2550" b="1">
                <a:solidFill>
                  <a:srgbClr val="111111"/>
                </a:solidFill>
                <a:latin typeface="Calibri"/>
                <a:ea typeface="Calibri"/>
                <a:cs typeface="Calibri"/>
              </a:defRPr>
            </a:pPr>
            <a:r>
              <a:rPr sz="2550" b="1">
                <a:solidFill>
                  <a:srgbClr val="111111"/>
                </a:solidFill>
                <a:latin typeface="Calibri"/>
                <a:ea typeface="Calibri"/>
                <a:cs typeface="Calibri"/>
              </a:rPr>
              <a:t>Questions for the design review</a:t>
            </a:r>
          </a:p>
        </p:txBody>
      </p:sp>
      <p:sp>
        <p:nvSpPr>
          <p:cNvPr id="6" name="question-1-number">
            <a:extLst>
              <a:ext uri="{FF2B5EF4-FFF2-40B4-BE49-F238E27FC236}">
                <a16:creationId xmlns:a16="http://schemas.microsoft.com/office/drawing/2014/main" id="{B223A46C-CF96-48DA-9527-5CED591719ED}"/>
              </a:ext>
            </a:extLst>
          </p:cNvPr>
          <p:cNvSpPr>
            <a:spLocks noGrp="1"/>
          </p:cNvSpPr>
          <p:nvPr/>
        </p:nvSpPr>
        <p:spPr>
          <a:xfrm>
            <a:off x="952500" y="1638300"/>
            <a:ext cx="904875" cy="590550"/>
          </a:xfrm>
          <a:prstGeom prst="rect">
            <a:avLst/>
          </a:prstGeom>
          <a:noFill/>
          <a:ln w="0">
            <a:noFill/>
          </a:ln>
        </p:spPr>
        <p:txBody>
          <a:bodyPr wrap="square" lIns="0" tIns="0" rIns="0" bIns="0" anchor="ctr">
            <a:normAutofit/>
          </a:bodyPr>
          <a:lstStyle/>
          <a:p>
            <a:pPr algn="ctr">
              <a:lnSpc>
                <a:spcPct val="100000"/>
              </a:lnSpc>
              <a:buNone/>
              <a:defRPr sz="3150" b="1" i="0">
                <a:solidFill>
                  <a:srgbClr val="A31F34"/>
                </a:solidFill>
                <a:latin typeface="Calibri"/>
                <a:ea typeface="Calibri"/>
                <a:cs typeface="Calibri"/>
              </a:defRPr>
            </a:pPr>
            <a:r>
              <a:rPr sz="3150" b="1" i="0">
                <a:solidFill>
                  <a:srgbClr val="A31F34"/>
                </a:solidFill>
                <a:latin typeface="Calibri"/>
                <a:ea typeface="Calibri"/>
                <a:cs typeface="Calibri"/>
              </a:rPr>
              <a:t>01</a:t>
            </a:r>
          </a:p>
        </p:txBody>
      </p:sp>
      <p:sp>
        <p:nvSpPr>
          <p:cNvPr id="7" name="question-1">
            <a:extLst>
              <a:ext uri="{FF2B5EF4-FFF2-40B4-BE49-F238E27FC236}">
                <a16:creationId xmlns:a16="http://schemas.microsoft.com/office/drawing/2014/main" id="{B64B61C2-CF2F-48B3-92D0-F4C52CC657FD}"/>
              </a:ext>
            </a:extLst>
          </p:cNvPr>
          <p:cNvSpPr>
            <a:spLocks noGrp="1"/>
          </p:cNvSpPr>
          <p:nvPr/>
        </p:nvSpPr>
        <p:spPr>
          <a:xfrm>
            <a:off x="2143125" y="1562100"/>
            <a:ext cx="8572500" cy="904875"/>
          </a:xfrm>
          <a:prstGeom prst="rect">
            <a:avLst/>
          </a:prstGeom>
          <a:noFill/>
          <a:ln w="0">
            <a:noFill/>
          </a:ln>
        </p:spPr>
        <p:txBody>
          <a:bodyPr wrap="square" lIns="0" tIns="0" rIns="0" bIns="0" anchor="ctr">
            <a:normAutofit fontScale="98173" lnSpcReduction="10000"/>
          </a:bodyPr>
          <a:lstStyle/>
          <a:p>
            <a:pPr algn="l">
              <a:lnSpc>
                <a:spcPct val="96000"/>
              </a:lnSpc>
              <a:buNone/>
              <a:defRPr sz="2100" b="1" i="0">
                <a:solidFill>
                  <a:srgbClr val="111111"/>
                </a:solidFill>
                <a:latin typeface="Calibri"/>
                <a:ea typeface="Calibri"/>
                <a:cs typeface="Calibri"/>
              </a:defRPr>
            </a:pPr>
            <a:r>
              <a:rPr sz="2100" b="1" i="0">
                <a:solidFill>
                  <a:srgbClr val="111111"/>
                </a:solidFill>
                <a:latin typeface="Calibri"/>
                <a:ea typeface="Calibri"/>
                <a:cs typeface="Calibri"/>
              </a:rPr>
              <a:t>Is the model switch clear?</a:t>
            </a:r>
          </a:p>
          <a:p>
            <a:pPr algn="l">
              <a:lnSpc>
                <a:spcPct val="96000"/>
              </a:lnSpc>
              <a:buNone/>
              <a:defRPr sz="2100" b="1" i="0">
                <a:solidFill>
                  <a:srgbClr val="111111"/>
                </a:solidFill>
                <a:latin typeface="Calibri"/>
                <a:ea typeface="Calibri"/>
                <a:cs typeface="Calibri"/>
              </a:defRPr>
            </a:pPr>
            <a:r>
              <a:rPr sz="2100" b="1" i="0">
                <a:solidFill>
                  <a:srgbClr val="111111"/>
                </a:solidFill>
                <a:latin typeface="Calibri"/>
                <a:ea typeface="Calibri"/>
                <a:cs typeface="Calibri"/>
              </a:rPr>
              <a:t>Text questions stay on mini. Table questions switch only the assessor and final answer to gpt-5.4.</a:t>
            </a:r>
          </a:p>
        </p:txBody>
      </p:sp>
      <p:sp>
        <p:nvSpPr>
          <p:cNvPr id="8" name="question-divider">
            <a:extLst>
              <a:ext uri="{FF2B5EF4-FFF2-40B4-BE49-F238E27FC236}">
                <a16:creationId xmlns:a16="http://schemas.microsoft.com/office/drawing/2014/main" id="{FEEC79F5-EA6C-410E-A61B-0842F79F0AE5}"/>
              </a:ext>
            </a:extLst>
          </p:cNvPr>
          <p:cNvSpPr>
            <a:spLocks noGrp="1"/>
          </p:cNvSpPr>
          <p:nvPr/>
        </p:nvSpPr>
        <p:spPr>
          <a:xfrm>
            <a:off x="952500" y="2905125"/>
            <a:ext cx="10287000" cy="19050"/>
          </a:xfrm>
          <a:prstGeom prst="rect">
            <a:avLst/>
          </a:prstGeom>
          <a:solidFill>
            <a:srgbClr val="D8D8D8"/>
          </a:solidFill>
          <a:ln w="0">
            <a:solidFill>
              <a:srgbClr val="D8D8D8"/>
            </a:solidFill>
          </a:ln>
        </p:spPr>
        <p:txBody>
          <a:bodyPr/>
          <a:lstStyle/>
          <a:p>
            <a:endParaRPr/>
          </a:p>
        </p:txBody>
      </p:sp>
      <p:sp>
        <p:nvSpPr>
          <p:cNvPr id="9" name="question-2-number">
            <a:extLst>
              <a:ext uri="{FF2B5EF4-FFF2-40B4-BE49-F238E27FC236}">
                <a16:creationId xmlns:a16="http://schemas.microsoft.com/office/drawing/2014/main" id="{D00FAF86-F93C-407F-868E-96BE7FC5C59A}"/>
              </a:ext>
            </a:extLst>
          </p:cNvPr>
          <p:cNvSpPr>
            <a:spLocks noGrp="1"/>
          </p:cNvSpPr>
          <p:nvPr/>
        </p:nvSpPr>
        <p:spPr>
          <a:xfrm>
            <a:off x="952500" y="3333750"/>
            <a:ext cx="904875" cy="590550"/>
          </a:xfrm>
          <a:prstGeom prst="rect">
            <a:avLst/>
          </a:prstGeom>
          <a:noFill/>
          <a:ln w="0">
            <a:noFill/>
          </a:ln>
        </p:spPr>
        <p:txBody>
          <a:bodyPr wrap="square" lIns="0" tIns="0" rIns="0" bIns="0" anchor="ctr">
            <a:normAutofit/>
          </a:bodyPr>
          <a:lstStyle/>
          <a:p>
            <a:pPr algn="ctr">
              <a:lnSpc>
                <a:spcPct val="100000"/>
              </a:lnSpc>
              <a:buNone/>
              <a:defRPr sz="3150" b="1" i="0">
                <a:solidFill>
                  <a:srgbClr val="A31F34"/>
                </a:solidFill>
                <a:latin typeface="Calibri"/>
                <a:ea typeface="Calibri"/>
                <a:cs typeface="Calibri"/>
              </a:defRPr>
            </a:pPr>
            <a:r>
              <a:rPr sz="3150" b="1" i="0">
                <a:solidFill>
                  <a:srgbClr val="A31F34"/>
                </a:solidFill>
                <a:latin typeface="Calibri"/>
                <a:ea typeface="Calibri"/>
                <a:cs typeface="Calibri"/>
              </a:rPr>
              <a:t>02</a:t>
            </a:r>
          </a:p>
        </p:txBody>
      </p:sp>
      <p:sp>
        <p:nvSpPr>
          <p:cNvPr id="10" name="question-2">
            <a:extLst>
              <a:ext uri="{FF2B5EF4-FFF2-40B4-BE49-F238E27FC236}">
                <a16:creationId xmlns:a16="http://schemas.microsoft.com/office/drawing/2014/main" id="{3D8CE36B-9F0F-4FFB-BFAD-11396E949E27}"/>
              </a:ext>
            </a:extLst>
          </p:cNvPr>
          <p:cNvSpPr>
            <a:spLocks noGrp="1"/>
          </p:cNvSpPr>
          <p:nvPr/>
        </p:nvSpPr>
        <p:spPr>
          <a:xfrm>
            <a:off x="2143125" y="3219450"/>
            <a:ext cx="8572500" cy="1047750"/>
          </a:xfrm>
          <a:prstGeom prst="rect">
            <a:avLst/>
          </a:prstGeom>
          <a:noFill/>
          <a:ln w="0">
            <a:noFill/>
          </a:ln>
        </p:spPr>
        <p:txBody>
          <a:bodyPr wrap="square" lIns="0" tIns="0" rIns="0" bIns="0" anchor="ctr">
            <a:normAutofit/>
          </a:bodyPr>
          <a:lstStyle/>
          <a:p>
            <a:pPr algn="l">
              <a:lnSpc>
                <a:spcPct val="96000"/>
              </a:lnSpc>
              <a:buNone/>
              <a:defRPr sz="2100" b="1" i="0">
                <a:solidFill>
                  <a:srgbClr val="111111"/>
                </a:solidFill>
                <a:latin typeface="Calibri"/>
                <a:ea typeface="Calibri"/>
                <a:cs typeface="Calibri"/>
              </a:defRPr>
            </a:pPr>
            <a:r>
              <a:rPr sz="2100" b="1" i="0">
                <a:solidFill>
                  <a:srgbClr val="111111"/>
                </a:solidFill>
                <a:latin typeface="Calibri"/>
                <a:ea typeface="Calibri"/>
                <a:cs typeface="Calibri"/>
              </a:rPr>
              <a:t>Does the architecture diagram make retrieval, assessment, table computation, and answer generation easy to follow?</a:t>
            </a:r>
          </a:p>
        </p:txBody>
      </p:sp>
      <p:sp>
        <p:nvSpPr>
          <p:cNvPr id="11" name="submission-reminder">
            <a:extLst>
              <a:ext uri="{FF2B5EF4-FFF2-40B4-BE49-F238E27FC236}">
                <a16:creationId xmlns:a16="http://schemas.microsoft.com/office/drawing/2014/main" id="{C613ACAB-2D58-4CF8-8084-30882ABE8FBD}"/>
              </a:ext>
            </a:extLst>
          </p:cNvPr>
          <p:cNvSpPr>
            <a:spLocks noGrp="1"/>
          </p:cNvSpPr>
          <p:nvPr/>
        </p:nvSpPr>
        <p:spPr>
          <a:xfrm>
            <a:off x="1571625" y="4953000"/>
            <a:ext cx="9048750" cy="628650"/>
          </a:xfrm>
          <a:prstGeom prst="rect">
            <a:avLst/>
          </a:prstGeom>
          <a:noFill/>
          <a:ln w="0">
            <a:noFill/>
          </a:ln>
        </p:spPr>
        <p:txBody>
          <a:bodyPr wrap="square" lIns="0" tIns="0" rIns="0" bIns="0" anchor="ctr">
            <a:normAutofit/>
          </a:bodyPr>
          <a:lstStyle/>
          <a:p>
            <a:pPr algn="ctr">
              <a:lnSpc>
                <a:spcPct val="100000"/>
              </a:lnSpc>
              <a:buNone/>
              <a:defRPr sz="1275" b="0" i="0">
                <a:solidFill>
                  <a:srgbClr val="5E5E5E"/>
                </a:solidFill>
                <a:latin typeface="Calibri"/>
                <a:ea typeface="Calibri"/>
                <a:cs typeface="Calibri"/>
              </a:defRPr>
            </a:pPr>
            <a:r>
              <a:rPr sz="1275" b="0" i="0">
                <a:solidFill>
                  <a:srgbClr val="5E5E5E"/>
                </a:solidFill>
                <a:latin typeface="Calibri"/>
                <a:ea typeface="Calibri"/>
                <a:cs typeface="Calibri"/>
              </a:rPr>
              <a:t>For the final recorded submission: incorporate the review feedback, add a short system demonstration, verify the repository setup from a clean environment, and replace this slide with a concise conclusion.</a:t>
            </a:r>
          </a:p>
        </p:txBody>
      </p:sp>
    </p:spTree>
    <p:extLst>
      <p:ext uri="{BB962C8B-B14F-4D97-AF65-F5344CB8AC3E}">
        <p14:creationId xmlns:p14="http://schemas.microsoft.com/office/powerpoint/2010/main" val="3937486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43AE01-536A-FC36-1E11-D5974D173418}"/>
              </a:ext>
            </a:extLst>
          </p:cNvPr>
          <p:cNvPicPr>
            <a:picLocks noChangeAspect="1"/>
          </p:cNvPicPr>
          <p:nvPr/>
        </p:nvPicPr>
        <p:blipFill>
          <a:blip r:embed="rId2"/>
          <a:stretch>
            <a:fillRect/>
          </a:stretch>
        </p:blipFill>
        <p:spPr>
          <a:xfrm>
            <a:off x="278930" y="2428464"/>
            <a:ext cx="11634140" cy="2001072"/>
          </a:xfrm>
          <a:prstGeom prst="rect">
            <a:avLst/>
          </a:prstGeom>
        </p:spPr>
      </p:pic>
      <p:sp>
        <p:nvSpPr>
          <p:cNvPr id="6" name="revision-title">
            <a:extLst>
              <a:ext uri="{FF2B5EF4-FFF2-40B4-BE49-F238E27FC236}">
                <a16:creationId xmlns:a16="http://schemas.microsoft.com/office/drawing/2014/main" id="{5DD15D5C-79E5-4D27-9368-403B0C93AB3D}"/>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The two execution paths, as a flow</a:t>
            </a:r>
          </a:p>
        </p:txBody>
      </p:sp>
    </p:spTree>
    <p:extLst>
      <p:ext uri="{BB962C8B-B14F-4D97-AF65-F5344CB8AC3E}">
        <p14:creationId xmlns:p14="http://schemas.microsoft.com/office/powerpoint/2010/main" val="2490600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E09B85-CBAA-6E41-F9C1-5D0C62D32631}"/>
              </a:ext>
            </a:extLst>
          </p:cNvPr>
          <p:cNvSpPr>
            <a:spLocks noGrp="1"/>
          </p:cNvSpPr>
          <p:nvPr/>
        </p:nvSpPr>
        <p:spPr>
          <a:xfrm>
            <a:off x="707571" y="1497600"/>
            <a:ext cx="9143999" cy="2677656"/>
          </a:xfrm>
          <a:prstGeom prst="rect">
            <a:avLst/>
          </a:prstGeom>
          <a:noFill/>
        </p:spPr>
        <p:txBody>
          <a:bodyPr wrap="square">
            <a:spAutoFit/>
          </a:bodyPr>
          <a:lstStyle>
            <a:lvl1pPr algn="ctr">
              <a:buNone/>
              <a:defRPr sz="2800" b="1">
                <a:solidFill>
                  <a:srgbClr val="A31F34"/>
                </a:solidFill>
                <a:latin typeface="Calibri"/>
                <a:ea typeface="Calibri"/>
                <a:cs typeface="Calibri"/>
              </a:defRPr>
            </a:lvl1pPr>
          </a:lstStyle>
          <a:p>
            <a:endParaRPr/>
          </a:p>
        </p:txBody>
      </p:sp>
      <p:sp>
        <p:nvSpPr>
          <p:cNvPr id="5" name="TextBox 4">
            <a:extLst>
              <a:ext uri="{FF2B5EF4-FFF2-40B4-BE49-F238E27FC236}">
                <a16:creationId xmlns:a16="http://schemas.microsoft.com/office/drawing/2014/main" id="{E2D08B99-26E8-96E3-B453-DEED97ED3C1F}"/>
              </a:ext>
            </a:extLst>
          </p:cNvPr>
          <p:cNvSpPr>
            <a:spLocks noGrp="1"/>
          </p:cNvSpPr>
          <p:nvPr/>
        </p:nvSpPr>
        <p:spPr>
          <a:xfrm>
            <a:off x="3048000" y="521207"/>
            <a:ext cx="6096000" cy="523220"/>
          </a:xfrm>
          <a:prstGeom prst="rect">
            <a:avLst/>
          </a:prstGeom>
          <a:noFill/>
        </p:spPr>
        <p:txBody>
          <a:bodyPr wrap="square" lIns="38100" tIns="0" rIns="38100" bIns="0" anchor="ctr">
            <a:normAutofit/>
          </a:bodyPr>
          <a:lstStyle/>
          <a:p>
            <a:pPr algn="ctr">
              <a:buNone/>
              <a:defRPr sz="2550" b="1">
                <a:solidFill>
                  <a:srgbClr val="111111"/>
                </a:solidFill>
                <a:latin typeface="Calibri"/>
                <a:ea typeface="Calibri"/>
                <a:cs typeface="Calibri"/>
              </a:defRPr>
            </a:pPr>
            <a:r>
              <a:rPr sz="2550" b="1">
                <a:solidFill>
                  <a:srgbClr val="111111"/>
                </a:solidFill>
                <a:latin typeface="Calibri"/>
                <a:ea typeface="Calibri"/>
                <a:cs typeface="Calibri"/>
              </a:rPr>
              <a:t>How I know it works</a:t>
            </a:r>
          </a:p>
        </p:txBody>
      </p:sp>
      <p:sp>
        <p:nvSpPr>
          <p:cNvPr id="6" name="quality-chart-heading">
            <a:extLst>
              <a:ext uri="{FF2B5EF4-FFF2-40B4-BE49-F238E27FC236}">
                <a16:creationId xmlns:a16="http://schemas.microsoft.com/office/drawing/2014/main" id="{07EE83D4-7FE3-4D92-AF5E-3C1F18E98536}"/>
              </a:ext>
            </a:extLst>
          </p:cNvPr>
          <p:cNvSpPr>
            <a:spLocks noGrp="1"/>
          </p:cNvSpPr>
          <p:nvPr/>
        </p:nvSpPr>
        <p:spPr>
          <a:xfrm>
            <a:off x="685800" y="1381125"/>
            <a:ext cx="5524500" cy="342900"/>
          </a:xfrm>
          <a:prstGeom prst="rect">
            <a:avLst/>
          </a:prstGeom>
          <a:noFill/>
          <a:ln w="0">
            <a:noFill/>
          </a:ln>
        </p:spPr>
        <p:txBody>
          <a:bodyPr wrap="square" lIns="0" tIns="0" rIns="0" bIns="0" anchor="t">
            <a:normAutofit/>
          </a:bodyPr>
          <a:lstStyle/>
          <a:p>
            <a:pPr algn="l">
              <a:lnSpc>
                <a:spcPct val="100000"/>
              </a:lnSpc>
              <a:buNone/>
              <a:defRPr sz="1725" b="1" i="0">
                <a:solidFill>
                  <a:srgbClr val="111111"/>
                </a:solidFill>
                <a:latin typeface="Calibri"/>
                <a:ea typeface="Calibri"/>
                <a:cs typeface="Calibri"/>
              </a:defRPr>
            </a:pPr>
            <a:r>
              <a:rPr sz="1725" b="1" i="0">
                <a:solidFill>
                  <a:srgbClr val="111111"/>
                </a:solidFill>
                <a:latin typeface="Calibri"/>
                <a:ea typeface="Calibri"/>
                <a:cs typeface="Calibri"/>
              </a:rPr>
              <a:t>Held-out answer quality</a:t>
            </a:r>
          </a:p>
        </p:txBody>
      </p:sp>
      <p:sp>
        <p:nvSpPr>
          <p:cNvPr id="7" name="quality-chart-subtitle">
            <a:extLst>
              <a:ext uri="{FF2B5EF4-FFF2-40B4-BE49-F238E27FC236}">
                <a16:creationId xmlns:a16="http://schemas.microsoft.com/office/drawing/2014/main" id="{E2645A00-A935-4120-A606-87262FEB84B4}"/>
              </a:ext>
            </a:extLst>
          </p:cNvPr>
          <p:cNvSpPr>
            <a:spLocks noGrp="1"/>
          </p:cNvSpPr>
          <p:nvPr/>
        </p:nvSpPr>
        <p:spPr>
          <a:xfrm>
            <a:off x="685800" y="1743075"/>
            <a:ext cx="5524500" cy="247650"/>
          </a:xfrm>
          <a:prstGeom prst="rect">
            <a:avLst/>
          </a:prstGeom>
          <a:noFill/>
          <a:ln w="0">
            <a:noFill/>
          </a:ln>
        </p:spPr>
        <p:txBody>
          <a:bodyPr wrap="square" lIns="0" tIns="0" rIns="0" bIns="0" anchor="t">
            <a:normAutofit/>
          </a:bodyPr>
          <a:lstStyle/>
          <a:p>
            <a:pPr algn="l">
              <a:lnSpc>
                <a:spcPct val="100000"/>
              </a:lnSpc>
              <a:buNone/>
              <a:defRPr sz="1125" b="0" i="0">
                <a:solidFill>
                  <a:srgbClr val="5E5E5E"/>
                </a:solidFill>
                <a:latin typeface="Calibri"/>
                <a:ea typeface="Calibri"/>
                <a:cs typeface="Calibri"/>
              </a:defRPr>
            </a:pPr>
            <a:r>
              <a:rPr sz="1125" b="0" i="0">
                <a:solidFill>
                  <a:srgbClr val="5E5E5E"/>
                </a:solidFill>
                <a:latin typeface="Calibri"/>
                <a:ea typeface="Calibri"/>
                <a:cs typeface="Calibri"/>
              </a:rPr>
              <a:t>25 questions × 3 runs per survivor</a:t>
            </a:r>
          </a:p>
        </p:txBody>
      </p:sp>
      <p:sp>
        <p:nvSpPr>
          <p:cNvPr id="9" name="recall-panel">
            <a:extLst>
              <a:ext uri="{FF2B5EF4-FFF2-40B4-BE49-F238E27FC236}">
                <a16:creationId xmlns:a16="http://schemas.microsoft.com/office/drawing/2014/main" id="{CFD9131D-9FAB-480D-93BB-3A9437930930}"/>
              </a:ext>
            </a:extLst>
          </p:cNvPr>
          <p:cNvSpPr>
            <a:spLocks noGrp="1"/>
          </p:cNvSpPr>
          <p:nvPr/>
        </p:nvSpPr>
        <p:spPr>
          <a:xfrm>
            <a:off x="7239000" y="1619250"/>
            <a:ext cx="4143375" cy="1428750"/>
          </a:xfrm>
          <a:prstGeom prst="roundRect">
            <a:avLst>
              <a:gd name="adj" fmla="val 5333"/>
            </a:avLst>
          </a:prstGeom>
          <a:solidFill>
            <a:srgbClr val="F3F3F3"/>
          </a:solidFill>
          <a:ln w="9525">
            <a:solidFill>
              <a:srgbClr val="D8D8D8"/>
            </a:solidFill>
            <a:prstDash val="solid"/>
          </a:ln>
        </p:spPr>
        <p:txBody>
          <a:bodyPr/>
          <a:lstStyle/>
          <a:p>
            <a:endParaRPr/>
          </a:p>
        </p:txBody>
      </p:sp>
      <p:sp>
        <p:nvSpPr>
          <p:cNvPr id="10" name="recall-kpi">
            <a:extLst>
              <a:ext uri="{FF2B5EF4-FFF2-40B4-BE49-F238E27FC236}">
                <a16:creationId xmlns:a16="http://schemas.microsoft.com/office/drawing/2014/main" id="{AB58CF09-49EA-4BD6-9777-9E0DBBD7F6D5}"/>
              </a:ext>
            </a:extLst>
          </p:cNvPr>
          <p:cNvSpPr>
            <a:spLocks noGrp="1"/>
          </p:cNvSpPr>
          <p:nvPr/>
        </p:nvSpPr>
        <p:spPr>
          <a:xfrm>
            <a:off x="7524750" y="1838325"/>
            <a:ext cx="1714500" cy="647700"/>
          </a:xfrm>
          <a:prstGeom prst="rect">
            <a:avLst/>
          </a:prstGeom>
          <a:noFill/>
          <a:ln w="0">
            <a:noFill/>
          </a:ln>
        </p:spPr>
        <p:txBody>
          <a:bodyPr wrap="square" lIns="0" tIns="0" rIns="0" bIns="0" anchor="ctr">
            <a:normAutofit/>
          </a:bodyPr>
          <a:lstStyle/>
          <a:p>
            <a:pPr algn="l">
              <a:lnSpc>
                <a:spcPct val="100000"/>
              </a:lnSpc>
              <a:buNone/>
              <a:defRPr sz="3300" b="1" i="0">
                <a:solidFill>
                  <a:srgbClr val="A31F34"/>
                </a:solidFill>
                <a:latin typeface="Calibri"/>
                <a:ea typeface="Calibri"/>
                <a:cs typeface="Calibri"/>
              </a:defRPr>
            </a:pPr>
            <a:r>
              <a:rPr sz="3300" b="1" i="0">
                <a:solidFill>
                  <a:srgbClr val="A31F34"/>
                </a:solidFill>
                <a:latin typeface="Calibri"/>
                <a:ea typeface="Calibri"/>
                <a:cs typeface="Calibri"/>
              </a:rPr>
              <a:t>99.3%</a:t>
            </a:r>
          </a:p>
        </p:txBody>
      </p:sp>
      <p:sp>
        <p:nvSpPr>
          <p:cNvPr id="11" name="recall-caption">
            <a:extLst>
              <a:ext uri="{FF2B5EF4-FFF2-40B4-BE49-F238E27FC236}">
                <a16:creationId xmlns:a16="http://schemas.microsoft.com/office/drawing/2014/main" id="{5F29BA76-BE93-425B-B387-97840538B30E}"/>
              </a:ext>
            </a:extLst>
          </p:cNvPr>
          <p:cNvSpPr>
            <a:spLocks noGrp="1"/>
          </p:cNvSpPr>
          <p:nvPr/>
        </p:nvSpPr>
        <p:spPr>
          <a:xfrm>
            <a:off x="9191625" y="1895475"/>
            <a:ext cx="1952625" cy="742950"/>
          </a:xfrm>
          <a:prstGeom prst="rect">
            <a:avLst/>
          </a:prstGeom>
          <a:noFill/>
          <a:ln w="0">
            <a:noFill/>
          </a:ln>
        </p:spPr>
        <p:txBody>
          <a:bodyPr wrap="square" lIns="0" tIns="0" rIns="0" bIns="0" anchor="ctr">
            <a:normAutofit/>
          </a:bodyPr>
          <a:lstStyle/>
          <a:p>
            <a:pPr algn="l">
              <a:lnSpc>
                <a:spcPct val="95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article recall</a:t>
            </a:r>
          </a:p>
          <a:p>
            <a:pPr algn="l">
              <a:lnSpc>
                <a:spcPct val="95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74 of 75 question-runs found every source</a:t>
            </a:r>
          </a:p>
        </p:txBody>
      </p:sp>
      <p:sp>
        <p:nvSpPr>
          <p:cNvPr id="12" name="security-panel">
            <a:extLst>
              <a:ext uri="{FF2B5EF4-FFF2-40B4-BE49-F238E27FC236}">
                <a16:creationId xmlns:a16="http://schemas.microsoft.com/office/drawing/2014/main" id="{90700064-0950-41CD-900A-D1E9BD76233C}"/>
              </a:ext>
            </a:extLst>
          </p:cNvPr>
          <p:cNvSpPr>
            <a:spLocks noGrp="1"/>
          </p:cNvSpPr>
          <p:nvPr/>
        </p:nvSpPr>
        <p:spPr>
          <a:xfrm>
            <a:off x="7239000" y="3276600"/>
            <a:ext cx="4143375" cy="1628775"/>
          </a:xfrm>
          <a:prstGeom prst="roundRect">
            <a:avLst>
              <a:gd name="adj" fmla="val 4678"/>
            </a:avLst>
          </a:prstGeom>
          <a:solidFill>
            <a:srgbClr val="F7E9EC"/>
          </a:solidFill>
          <a:ln w="9525">
            <a:solidFill>
              <a:srgbClr val="E6BBC4"/>
            </a:solidFill>
            <a:prstDash val="solid"/>
          </a:ln>
        </p:spPr>
        <p:txBody>
          <a:bodyPr/>
          <a:lstStyle/>
          <a:p>
            <a:endParaRPr/>
          </a:p>
        </p:txBody>
      </p:sp>
      <p:sp>
        <p:nvSpPr>
          <p:cNvPr id="13" name="security-kpi">
            <a:extLst>
              <a:ext uri="{FF2B5EF4-FFF2-40B4-BE49-F238E27FC236}">
                <a16:creationId xmlns:a16="http://schemas.microsoft.com/office/drawing/2014/main" id="{887B55C8-60C2-4F3B-836D-8E80D8805058}"/>
              </a:ext>
            </a:extLst>
          </p:cNvPr>
          <p:cNvSpPr>
            <a:spLocks noGrp="1"/>
          </p:cNvSpPr>
          <p:nvPr/>
        </p:nvSpPr>
        <p:spPr>
          <a:xfrm>
            <a:off x="7524750" y="3486150"/>
            <a:ext cx="3524250" cy="523875"/>
          </a:xfrm>
          <a:prstGeom prst="rect">
            <a:avLst/>
          </a:prstGeom>
          <a:noFill/>
          <a:ln w="0">
            <a:noFill/>
          </a:ln>
        </p:spPr>
        <p:txBody>
          <a:bodyPr wrap="square" lIns="0" tIns="0" rIns="0" bIns="0" anchor="ctr">
            <a:normAutofit/>
          </a:bodyPr>
          <a:lstStyle/>
          <a:p>
            <a:pPr algn="ctr">
              <a:lnSpc>
                <a:spcPct val="100000"/>
              </a:lnSpc>
              <a:buNone/>
              <a:defRPr sz="2325" b="1" i="0">
                <a:solidFill>
                  <a:srgbClr val="7E1728"/>
                </a:solidFill>
                <a:latin typeface="Calibri"/>
                <a:ea typeface="Calibri"/>
                <a:cs typeface="Calibri"/>
              </a:defRPr>
            </a:pPr>
            <a:r>
              <a:rPr sz="2325" b="1" i="0">
                <a:solidFill>
                  <a:srgbClr val="7E1728"/>
                </a:solidFill>
                <a:latin typeface="Calibri"/>
                <a:ea typeface="Calibri"/>
                <a:cs typeface="Calibri"/>
              </a:rPr>
              <a:t>5 / 59  →  0 / 59</a:t>
            </a:r>
          </a:p>
        </p:txBody>
      </p:sp>
      <p:sp>
        <p:nvSpPr>
          <p:cNvPr id="14" name="security-caption">
            <a:extLst>
              <a:ext uri="{FF2B5EF4-FFF2-40B4-BE49-F238E27FC236}">
                <a16:creationId xmlns:a16="http://schemas.microsoft.com/office/drawing/2014/main" id="{47CA6E07-F1B8-4244-BF94-FEDBAEEEB617}"/>
              </a:ext>
            </a:extLst>
          </p:cNvPr>
          <p:cNvSpPr>
            <a:spLocks noGrp="1"/>
          </p:cNvSpPr>
          <p:nvPr/>
        </p:nvSpPr>
        <p:spPr>
          <a:xfrm>
            <a:off x="7620000" y="4095750"/>
            <a:ext cx="3333750" cy="457200"/>
          </a:xfrm>
          <a:prstGeom prst="rect">
            <a:avLst/>
          </a:prstGeom>
          <a:noFill/>
          <a:ln w="0">
            <a:noFill/>
          </a:ln>
        </p:spPr>
        <p:txBody>
          <a:bodyPr wrap="square" lIns="0" tIns="0" rIns="0" bIns="0" anchor="ctr">
            <a:normAutofit/>
          </a:bodyPr>
          <a:lstStyle/>
          <a:p>
            <a:pPr algn="ctr">
              <a:lnSpc>
                <a:spcPct val="100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fabricated facts adopted before vs. after safeguards</a:t>
            </a:r>
          </a:p>
        </p:txBody>
      </p:sp>
      <p:sp>
        <p:nvSpPr>
          <p:cNvPr id="15" name="security-detail">
            <a:extLst>
              <a:ext uri="{FF2B5EF4-FFF2-40B4-BE49-F238E27FC236}">
                <a16:creationId xmlns:a16="http://schemas.microsoft.com/office/drawing/2014/main" id="{023A54A6-74F0-44DD-9941-AFA326897528}"/>
              </a:ext>
            </a:extLst>
          </p:cNvPr>
          <p:cNvSpPr>
            <a:spLocks noGrp="1"/>
          </p:cNvSpPr>
          <p:nvPr/>
        </p:nvSpPr>
        <p:spPr>
          <a:xfrm>
            <a:off x="7448550" y="4610100"/>
            <a:ext cx="3714750" cy="342900"/>
          </a:xfrm>
          <a:prstGeom prst="rect">
            <a:avLst/>
          </a:prstGeom>
          <a:noFill/>
          <a:ln w="0">
            <a:noFill/>
          </a:ln>
        </p:spPr>
        <p:txBody>
          <a:bodyPr wrap="square" lIns="0" tIns="0" rIns="0" bIns="0" anchor="t">
            <a:normAutofit/>
          </a:bodyPr>
          <a:lstStyle/>
          <a:p>
            <a:pPr algn="ctr">
              <a:lnSpc>
                <a:spcPct val="100000"/>
              </a:lnSpc>
              <a:buNone/>
              <a:defRPr sz="1088" b="0" i="0">
                <a:solidFill>
                  <a:srgbClr val="5E5E5E"/>
                </a:solidFill>
                <a:latin typeface="Calibri"/>
                <a:ea typeface="Calibri"/>
                <a:cs typeface="Calibri"/>
              </a:defRPr>
            </a:pPr>
            <a:r>
              <a:rPr sz="1088" b="0" i="0">
                <a:solidFill>
                  <a:srgbClr val="5E5E5E"/>
                </a:solidFill>
                <a:latin typeface="Calibri"/>
                <a:ea typeface="Calibri"/>
                <a:cs typeface="Calibri"/>
              </a:rPr>
              <a:t>Fake-nominee attacks: 5/20 → 0/20; Fisher exact p = 0.047</a:t>
            </a:r>
          </a:p>
        </p:txBody>
      </p:sp>
      <p:sp>
        <p:nvSpPr>
          <p:cNvPr id="16" name="evaluation-caveat">
            <a:extLst>
              <a:ext uri="{FF2B5EF4-FFF2-40B4-BE49-F238E27FC236}">
                <a16:creationId xmlns:a16="http://schemas.microsoft.com/office/drawing/2014/main" id="{3AC3067D-E042-4604-A25E-B966DF1A4F7A}"/>
              </a:ext>
            </a:extLst>
          </p:cNvPr>
          <p:cNvSpPr>
            <a:spLocks noGrp="1"/>
          </p:cNvSpPr>
          <p:nvPr/>
        </p:nvSpPr>
        <p:spPr>
          <a:xfrm>
            <a:off x="904875" y="5219700"/>
            <a:ext cx="10382250" cy="457200"/>
          </a:xfrm>
          <a:prstGeom prst="rect">
            <a:avLst/>
          </a:prstGeom>
          <a:noFill/>
          <a:ln w="0">
            <a:noFill/>
          </a:ln>
        </p:spPr>
        <p:txBody>
          <a:bodyPr wrap="square" lIns="0" tIns="0" rIns="0" bIns="0" anchor="ctr">
            <a:normAutofit/>
          </a:bodyPr>
          <a:lstStyle/>
          <a:p>
            <a:pPr algn="ctr">
              <a:lnSpc>
                <a:spcPct val="100000"/>
              </a:lnSpc>
              <a:buNone/>
              <a:defRPr sz="1200" b="0" i="0">
                <a:solidFill>
                  <a:srgbClr val="5E5E5E"/>
                </a:solidFill>
                <a:latin typeface="Calibri"/>
                <a:ea typeface="Calibri"/>
                <a:cs typeface="Calibri"/>
              </a:defRPr>
            </a:pPr>
            <a:r>
              <a:rPr sz="1200" b="0" i="0">
                <a:solidFill>
                  <a:srgbClr val="5E5E5E"/>
                </a:solidFill>
                <a:latin typeface="Calibri"/>
                <a:ea typeface="Calibri"/>
                <a:cs typeface="Calibri"/>
              </a:rPr>
              <a:t>Observed validation gain vs. 6.1: +0.073 (p = 0.094). This supports the final design but is not statistically conclusive evidence of broad improvement.</a:t>
            </a:r>
          </a:p>
        </p:txBody>
      </p:sp>
      <p:graphicFrame>
        <p:nvGraphicFramePr>
          <p:cNvPr id="30" name="Chart"/>
          <p:cNvGraphicFramePr/>
          <p:nvPr/>
        </p:nvGraphicFramePr>
        <p:xfrm>
          <a:off x="685800" y="2047875"/>
          <a:ext cx="5810250" cy="2857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87153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vision-title">
            <a:extLst>
              <a:ext uri="{FF2B5EF4-FFF2-40B4-BE49-F238E27FC236}">
                <a16:creationId xmlns:a16="http://schemas.microsoft.com/office/drawing/2014/main" id="{5DD15D5C-79E5-4D27-9368-403B0C93AB3D}"/>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One question, end to end</a:t>
            </a:r>
          </a:p>
        </p:txBody>
      </p:sp>
      <p:sp>
        <p:nvSpPr>
          <p:cNvPr id="3" name="revision-subtitle">
            <a:extLst>
              <a:ext uri="{FF2B5EF4-FFF2-40B4-BE49-F238E27FC236}">
                <a16:creationId xmlns:a16="http://schemas.microsoft.com/office/drawing/2014/main" id="{2FE17EFF-D4EB-480C-BAE8-3962BD8DDED3}"/>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GT10: “Which sports first entered the Winter Olympic program in 1950 or later? Give the first year for each.”</a:t>
            </a:r>
          </a:p>
        </p:txBody>
      </p:sp>
      <p:graphicFrame>
        <p:nvGraphicFramePr>
          <p:cNvPr id="4" name="walkthrough-table"/>
          <p:cNvGraphicFramePr>
            <a:graphicFrameLocks noGrp="1"/>
          </p:cNvGraphicFramePr>
          <p:nvPr/>
        </p:nvGraphicFramePr>
        <p:xfrm>
          <a:off x="786384" y="1481328"/>
          <a:ext cx="10625328" cy="3749040"/>
        </p:xfrm>
        <a:graphic>
          <a:graphicData uri="http://schemas.openxmlformats.org/drawingml/2006/table">
            <a:tbl>
              <a:tblPr firstRow="1">
                <a:tableStyleId>{5C22544A-7EE6-4342-B048-85BDC9FD1C3A}</a:tableStyleId>
              </a:tblPr>
              <a:tblGrid>
                <a:gridCol w="23317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6510528">
                  <a:extLst>
                    <a:ext uri="{9D8B030D-6E8A-4147-A177-3AD203B41FA5}">
                      <a16:colId xmlns:a16="http://schemas.microsoft.com/office/drawing/2014/main" val="20002"/>
                    </a:ext>
                  </a:extLst>
                </a:gridCol>
              </a:tblGrid>
              <a:tr h="384048">
                <a:tc>
                  <a:txBody>
                    <a:bodyPr/>
                    <a:lstStyle/>
                    <a:p>
                      <a:r>
                        <a:rPr sz="1200" b="1">
                          <a:solidFill>
                            <a:srgbClr val="FFFFFF"/>
                          </a:solidFill>
                          <a:latin typeface="Calibri"/>
                        </a:rPr>
                        <a:t>Step</a:t>
                      </a:r>
                    </a:p>
                  </a:txBody>
                  <a:tcPr marR="73152" marT="27432" marB="27432" anchor="ctr">
                    <a:solidFill>
                      <a:srgbClr val="A31F34"/>
                    </a:solidFill>
                  </a:tcPr>
                </a:tc>
                <a:tc>
                  <a:txBody>
                    <a:bodyPr/>
                    <a:lstStyle/>
                    <a:p>
                      <a:r>
                        <a:rPr sz="1200" b="1">
                          <a:solidFill>
                            <a:srgbClr val="FFFFFF"/>
                          </a:solidFill>
                          <a:latin typeface="Calibri"/>
                        </a:rPr>
                        <a:t>Model · time</a:t>
                      </a:r>
                    </a:p>
                  </a:txBody>
                  <a:tcPr marR="73152" marT="27432" marB="27432" anchor="ctr">
                    <a:solidFill>
                      <a:srgbClr val="A31F34"/>
                    </a:solidFill>
                  </a:tcPr>
                </a:tc>
                <a:tc>
                  <a:txBody>
                    <a:bodyPr/>
                    <a:lstStyle/>
                    <a:p>
                      <a:r>
                        <a:rPr sz="1200" b="1">
                          <a:solidFill>
                            <a:srgbClr val="FFFFFF"/>
                          </a:solidFill>
                          <a:latin typeface="Calibri"/>
                        </a:rPr>
                        <a:t>What happened on GT10</a:t>
                      </a:r>
                    </a:p>
                  </a:txBody>
                  <a:tcPr marR="73152" marT="27432" marB="27432" anchor="ctr">
                    <a:solidFill>
                      <a:srgbClr val="A31F34"/>
                    </a:solidFill>
                  </a:tcPr>
                </a:tc>
                <a:extLst>
                  <a:ext uri="{0D108BD9-81ED-4DB2-BD59-A6C34878D82A}">
                    <a16:rowId xmlns:a16="http://schemas.microsoft.com/office/drawing/2014/main" val="10000"/>
                  </a:ext>
                </a:extLst>
              </a:tr>
              <a:tr h="420624">
                <a:tc>
                  <a:txBody>
                    <a:bodyPr/>
                    <a:lstStyle/>
                    <a:p>
                      <a:r>
                        <a:rPr sz="1200" b="1">
                          <a:solidFill>
                            <a:srgbClr val="111111"/>
                          </a:solidFill>
                          <a:latin typeface="Calibri"/>
                        </a:rPr>
                        <a:t>Find articles by name</a:t>
                      </a:r>
                    </a:p>
                  </a:txBody>
                  <a:tcPr marR="73152" marT="27432" marB="27432" anchor="ctr">
                    <a:solidFill>
                      <a:srgbClr val="FFFFFF"/>
                    </a:solidFill>
                  </a:tcPr>
                </a:tc>
                <a:tc>
                  <a:txBody>
                    <a:bodyPr/>
                    <a:lstStyle/>
                    <a:p>
                      <a:r>
                        <a:rPr sz="1200" b="0">
                          <a:solidFill>
                            <a:srgbClr val="5E5E5E"/>
                          </a:solidFill>
                          <a:latin typeface="Calibri"/>
                        </a:rPr>
                        <a:t>mini · 1.0 s</a:t>
                      </a:r>
                    </a:p>
                  </a:txBody>
                  <a:tcPr marR="73152" marT="27432" marB="27432" anchor="ctr">
                    <a:solidFill>
                      <a:srgbClr val="FFFFFF"/>
                    </a:solidFill>
                  </a:tcPr>
                </a:tc>
                <a:tc>
                  <a:txBody>
                    <a:bodyPr/>
                    <a:lstStyle/>
                    <a:p>
                      <a:r>
                        <a:rPr sz="1200" b="0">
                          <a:solidFill>
                            <a:srgbClr val="111111"/>
                          </a:solidFill>
                          <a:latin typeface="Calibri"/>
                        </a:rPr>
                        <a:t>Searched “Winter Olympic Games” plus the full question: 5 candidate articles</a:t>
                      </a:r>
                    </a:p>
                  </a:txBody>
                  <a:tcPr marR="73152" marT="27432" marB="27432" anchor="ctr">
                    <a:solidFill>
                      <a:srgbClr val="FFFFFF"/>
                    </a:solidFill>
                  </a:tcPr>
                </a:tc>
                <a:extLst>
                  <a:ext uri="{0D108BD9-81ED-4DB2-BD59-A6C34878D82A}">
                    <a16:rowId xmlns:a16="http://schemas.microsoft.com/office/drawing/2014/main" val="10001"/>
                  </a:ext>
                </a:extLst>
              </a:tr>
              <a:tr h="420624">
                <a:tc>
                  <a:txBody>
                    <a:bodyPr/>
                    <a:lstStyle/>
                    <a:p>
                      <a:r>
                        <a:rPr sz="1200" b="1">
                          <a:solidFill>
                            <a:srgbClr val="111111"/>
                          </a:solidFill>
                          <a:latin typeface="Calibri"/>
                        </a:rPr>
                        <a:t>Table-of-contents review</a:t>
                      </a:r>
                    </a:p>
                  </a:txBody>
                  <a:tcPr marR="73152" marT="27432" marB="27432" anchor="ctr">
                    <a:solidFill>
                      <a:srgbClr val="F3F3F3"/>
                    </a:solidFill>
                  </a:tcPr>
                </a:tc>
                <a:tc>
                  <a:txBody>
                    <a:bodyPr/>
                    <a:lstStyle/>
                    <a:p>
                      <a:r>
                        <a:rPr sz="1200" b="0">
                          <a:solidFill>
                            <a:srgbClr val="5E5E5E"/>
                          </a:solidFill>
                          <a:latin typeface="Calibri"/>
                        </a:rPr>
                        <a:t>mini · 3.4 s</a:t>
                      </a:r>
                    </a:p>
                  </a:txBody>
                  <a:tcPr marR="73152" marT="27432" marB="27432" anchor="ctr">
                    <a:solidFill>
                      <a:srgbClr val="F3F3F3"/>
                    </a:solidFill>
                  </a:tcPr>
                </a:tc>
                <a:tc>
                  <a:txBody>
                    <a:bodyPr/>
                    <a:lstStyle/>
                    <a:p>
                      <a:r>
                        <a:rPr sz="1200" b="0">
                          <a:solidFill>
                            <a:srgbClr val="111111"/>
                          </a:solidFill>
                          <a:latin typeface="Calibri"/>
                        </a:rPr>
                        <a:t>Kept 1 of 5 articles, picked 2 sections, flagged the Sport/Years table</a:t>
                      </a:r>
                    </a:p>
                  </a:txBody>
                  <a:tcPr marR="73152" marT="27432" marB="27432" anchor="ctr">
                    <a:solidFill>
                      <a:srgbClr val="F3F3F3"/>
                    </a:solidFill>
                  </a:tcPr>
                </a:tc>
                <a:extLst>
                  <a:ext uri="{0D108BD9-81ED-4DB2-BD59-A6C34878D82A}">
                    <a16:rowId xmlns:a16="http://schemas.microsoft.com/office/drawing/2014/main" val="10002"/>
                  </a:ext>
                </a:extLst>
              </a:tr>
              <a:tr h="420624">
                <a:tc>
                  <a:txBody>
                    <a:bodyPr/>
                    <a:lstStyle/>
                    <a:p>
                      <a:r>
                        <a:rPr sz="1200" b="1">
                          <a:solidFill>
                            <a:srgbClr val="111111"/>
                          </a:solidFill>
                          <a:latin typeface="Calibri"/>
                        </a:rPr>
                        <a:t>Route</a:t>
                      </a:r>
                    </a:p>
                  </a:txBody>
                  <a:tcPr marR="73152" marT="27432" marB="27432" anchor="ctr">
                    <a:solidFill>
                      <a:srgbClr val="FFFFFF"/>
                    </a:solidFill>
                  </a:tcPr>
                </a:tc>
                <a:tc>
                  <a:txBody>
                    <a:bodyPr/>
                    <a:lstStyle/>
                    <a:p>
                      <a:r>
                        <a:rPr sz="1200" b="0">
                          <a:solidFill>
                            <a:srgbClr val="5E5E5E"/>
                          </a:solidFill>
                          <a:latin typeface="Calibri"/>
                        </a:rPr>
                        <a:t>code</a:t>
                      </a:r>
                    </a:p>
                  </a:txBody>
                  <a:tcPr marR="73152" marT="27432" marB="27432" anchor="ctr">
                    <a:solidFill>
                      <a:srgbClr val="FFFFFF"/>
                    </a:solidFill>
                  </a:tcPr>
                </a:tc>
                <a:tc>
                  <a:txBody>
                    <a:bodyPr/>
                    <a:lstStyle/>
                    <a:p>
                      <a:r>
                        <a:rPr sz="1200" b="0">
                          <a:solidFill>
                            <a:srgbClr val="111111"/>
                          </a:solidFill>
                          <a:latin typeface="Calibri"/>
                        </a:rPr>
                        <a:t>A table was flagged, so the assessor and the answer switch to gpt-5.4</a:t>
                      </a:r>
                    </a:p>
                  </a:txBody>
                  <a:tcPr marR="73152" marT="27432" marB="27432" anchor="ctr">
                    <a:solidFill>
                      <a:srgbClr val="FFFFFF"/>
                    </a:solidFill>
                  </a:tcPr>
                </a:tc>
                <a:extLst>
                  <a:ext uri="{0D108BD9-81ED-4DB2-BD59-A6C34878D82A}">
                    <a16:rowId xmlns:a16="http://schemas.microsoft.com/office/drawing/2014/main" val="10003"/>
                  </a:ext>
                </a:extLst>
              </a:tr>
              <a:tr h="420624">
                <a:tc>
                  <a:txBody>
                    <a:bodyPr/>
                    <a:lstStyle/>
                    <a:p>
                      <a:r>
                        <a:rPr sz="1200" b="1">
                          <a:solidFill>
                            <a:srgbClr val="111111"/>
                          </a:solidFill>
                          <a:latin typeface="Calibri"/>
                        </a:rPr>
                        <a:t>Assessor, round 1</a:t>
                      </a:r>
                    </a:p>
                  </a:txBody>
                  <a:tcPr marR="73152" marT="27432" marB="27432" anchor="ctr">
                    <a:solidFill>
                      <a:srgbClr val="F3F3F3"/>
                    </a:solidFill>
                  </a:tcPr>
                </a:tc>
                <a:tc>
                  <a:txBody>
                    <a:bodyPr/>
                    <a:lstStyle/>
                    <a:p>
                      <a:r>
                        <a:rPr sz="1200" b="1">
                          <a:solidFill>
                            <a:srgbClr val="A31F34"/>
                          </a:solidFill>
                          <a:latin typeface="Calibri"/>
                        </a:rPr>
                        <a:t>gpt-5.4 · 4.8 s</a:t>
                      </a:r>
                    </a:p>
                  </a:txBody>
                  <a:tcPr marR="73152" marT="27432" marB="27432" anchor="ctr">
                    <a:solidFill>
                      <a:srgbClr val="F3F3F3"/>
                    </a:solidFill>
                  </a:tcPr>
                </a:tc>
                <a:tc>
                  <a:txBody>
                    <a:bodyPr/>
                    <a:lstStyle/>
                    <a:p>
                      <a:r>
                        <a:rPr sz="1200" b="0">
                          <a:solidFill>
                            <a:srgbClr val="111111"/>
                          </a:solidFill>
                          <a:latin typeface="Calibri"/>
                        </a:rPr>
                        <a:t>Only 9 of the table's 16 rows were visible: asked for a filter over all rows</a:t>
                      </a:r>
                    </a:p>
                  </a:txBody>
                  <a:tcPr marR="73152" marT="27432" marB="27432" anchor="ctr">
                    <a:solidFill>
                      <a:srgbClr val="F3F3F3"/>
                    </a:solidFill>
                  </a:tcPr>
                </a:tc>
                <a:extLst>
                  <a:ext uri="{0D108BD9-81ED-4DB2-BD59-A6C34878D82A}">
                    <a16:rowId xmlns:a16="http://schemas.microsoft.com/office/drawing/2014/main" val="10004"/>
                  </a:ext>
                </a:extLst>
              </a:tr>
              <a:tr h="420624">
                <a:tc>
                  <a:txBody>
                    <a:bodyPr/>
                    <a:lstStyle/>
                    <a:p>
                      <a:r>
                        <a:rPr sz="1200" b="1">
                          <a:solidFill>
                            <a:srgbClr val="111111"/>
                          </a:solidFill>
                          <a:latin typeface="Calibri"/>
                        </a:rPr>
                        <a:t>Planner + Python</a:t>
                      </a:r>
                    </a:p>
                  </a:txBody>
                  <a:tcPr marR="73152" marT="27432" marB="27432" anchor="ctr">
                    <a:solidFill>
                      <a:srgbClr val="FFFFFF"/>
                    </a:solidFill>
                  </a:tcPr>
                </a:tc>
                <a:tc>
                  <a:txBody>
                    <a:bodyPr/>
                    <a:lstStyle/>
                    <a:p>
                      <a:r>
                        <a:rPr sz="1200" b="0">
                          <a:solidFill>
                            <a:srgbClr val="5E5E5E"/>
                          </a:solidFill>
                          <a:latin typeface="Calibri"/>
                        </a:rPr>
                        <a:t>mini + code · 0.9 s</a:t>
                      </a:r>
                    </a:p>
                  </a:txBody>
                  <a:tcPr marR="73152" marT="27432" marB="27432" anchor="ctr">
                    <a:solidFill>
                      <a:srgbClr val="FFFFFF"/>
                    </a:solidFill>
                  </a:tcPr>
                </a:tc>
                <a:tc>
                  <a:txBody>
                    <a:bodyPr/>
                    <a:lstStyle/>
                    <a:p>
                      <a:r>
                        <a:rPr sz="1200" b="0">
                          <a:solidFill>
                            <a:srgbClr val="111111"/>
                          </a:solidFill>
                          <a:latin typeface="Calibri"/>
                        </a:rPr>
                        <a:t>Plan: keep rows whose earliest year is 1950 or later → 6 rows, 12 cited cells</a:t>
                      </a:r>
                    </a:p>
                  </a:txBody>
                  <a:tcPr marR="73152" marT="27432" marB="27432" anchor="ctr">
                    <a:solidFill>
                      <a:srgbClr val="FFFFFF"/>
                    </a:solidFill>
                  </a:tcPr>
                </a:tc>
                <a:extLst>
                  <a:ext uri="{0D108BD9-81ED-4DB2-BD59-A6C34878D82A}">
                    <a16:rowId xmlns:a16="http://schemas.microsoft.com/office/drawing/2014/main" val="10005"/>
                  </a:ext>
                </a:extLst>
              </a:tr>
              <a:tr h="420624">
                <a:tc>
                  <a:txBody>
                    <a:bodyPr/>
                    <a:lstStyle/>
                    <a:p>
                      <a:r>
                        <a:rPr sz="1200" b="1">
                          <a:solidFill>
                            <a:srgbClr val="111111"/>
                          </a:solidFill>
                          <a:latin typeface="Calibri"/>
                        </a:rPr>
                        <a:t>Assessor, round 2</a:t>
                      </a:r>
                    </a:p>
                  </a:txBody>
                  <a:tcPr marR="73152" marT="27432" marB="27432" anchor="ctr">
                    <a:solidFill>
                      <a:srgbClr val="F3F3F3"/>
                    </a:solidFill>
                  </a:tcPr>
                </a:tc>
                <a:tc>
                  <a:txBody>
                    <a:bodyPr/>
                    <a:lstStyle/>
                    <a:p>
                      <a:r>
                        <a:rPr sz="1200" b="1">
                          <a:solidFill>
                            <a:srgbClr val="A31F34"/>
                          </a:solidFill>
                          <a:latin typeface="Calibri"/>
                        </a:rPr>
                        <a:t>gpt-5.4 · 2.7 s</a:t>
                      </a:r>
                    </a:p>
                  </a:txBody>
                  <a:tcPr marR="73152" marT="27432" marB="27432" anchor="ctr">
                    <a:solidFill>
                      <a:srgbClr val="F3F3F3"/>
                    </a:solidFill>
                  </a:tcPr>
                </a:tc>
                <a:tc>
                  <a:txBody>
                    <a:bodyPr/>
                    <a:lstStyle/>
                    <a:p>
                      <a:r>
                        <a:rPr sz="1200" b="0">
                          <a:solidFill>
                            <a:srgbClr val="111111"/>
                          </a:solidFill>
                          <a:latin typeface="Calibri"/>
                        </a:rPr>
                        <a:t>Evidence complete: ready to answer</a:t>
                      </a:r>
                    </a:p>
                  </a:txBody>
                  <a:tcPr marR="73152" marT="27432" marB="27432" anchor="ctr">
                    <a:solidFill>
                      <a:srgbClr val="F3F3F3"/>
                    </a:solidFill>
                  </a:tcPr>
                </a:tc>
                <a:extLst>
                  <a:ext uri="{0D108BD9-81ED-4DB2-BD59-A6C34878D82A}">
                    <a16:rowId xmlns:a16="http://schemas.microsoft.com/office/drawing/2014/main" val="10006"/>
                  </a:ext>
                </a:extLst>
              </a:tr>
              <a:tr h="420624">
                <a:tc>
                  <a:txBody>
                    <a:bodyPr/>
                    <a:lstStyle/>
                    <a:p>
                      <a:r>
                        <a:rPr sz="1200" b="1">
                          <a:solidFill>
                            <a:srgbClr val="111111"/>
                          </a:solidFill>
                          <a:latin typeface="Calibri"/>
                        </a:rPr>
                        <a:t>Answer</a:t>
                      </a:r>
                    </a:p>
                  </a:txBody>
                  <a:tcPr marR="73152" marT="27432" marB="27432" anchor="ctr">
                    <a:solidFill>
                      <a:srgbClr val="FFFFFF"/>
                    </a:solidFill>
                  </a:tcPr>
                </a:tc>
                <a:tc>
                  <a:txBody>
                    <a:bodyPr/>
                    <a:lstStyle/>
                    <a:p>
                      <a:r>
                        <a:rPr sz="1200" b="1">
                          <a:solidFill>
                            <a:srgbClr val="A31F34"/>
                          </a:solidFill>
                          <a:latin typeface="Calibri"/>
                        </a:rPr>
                        <a:t>gpt-5.4 · 2.0 s</a:t>
                      </a:r>
                    </a:p>
                  </a:txBody>
                  <a:tcPr marR="73152" marT="27432" marB="27432" anchor="ctr">
                    <a:solidFill>
                      <a:srgbClr val="FFFFFF"/>
                    </a:solidFill>
                  </a:tcPr>
                </a:tc>
                <a:tc>
                  <a:txBody>
                    <a:bodyPr/>
                    <a:lstStyle/>
                    <a:p>
                      <a:r>
                        <a:rPr sz="1200" b="0">
                          <a:solidFill>
                            <a:srgbClr val="111111"/>
                          </a:solidFill>
                          <a:latin typeface="Calibri"/>
                        </a:rPr>
                        <a:t>Biathlon 1960, luge 1964, freestyle skiing 1992, short track 1992, snowboarding 1998, ski mountaineering 2026</a:t>
                      </a:r>
                    </a:p>
                  </a:txBody>
                  <a:tcPr marR="73152" marT="27432" marB="27432" anchor="ctr">
                    <a:solidFill>
                      <a:srgbClr val="FFFFFF"/>
                    </a:solidFill>
                  </a:tcPr>
                </a:tc>
                <a:extLst>
                  <a:ext uri="{0D108BD9-81ED-4DB2-BD59-A6C34878D82A}">
                    <a16:rowId xmlns:a16="http://schemas.microsoft.com/office/drawing/2014/main" val="10007"/>
                  </a:ext>
                </a:extLst>
              </a:tr>
              <a:tr h="420624">
                <a:tc>
                  <a:txBody>
                    <a:bodyPr/>
                    <a:lstStyle/>
                    <a:p>
                      <a:r>
                        <a:rPr sz="1200" b="1">
                          <a:solidFill>
                            <a:srgbClr val="111111"/>
                          </a:solidFill>
                          <a:latin typeface="Calibri"/>
                        </a:rPr>
                        <a:t>Grounding check</a:t>
                      </a:r>
                    </a:p>
                  </a:txBody>
                  <a:tcPr marR="73152" marT="27432" marB="27432" anchor="ctr">
                    <a:solidFill>
                      <a:srgbClr val="F3F3F3"/>
                    </a:solidFill>
                  </a:tcPr>
                </a:tc>
                <a:tc>
                  <a:txBody>
                    <a:bodyPr/>
                    <a:lstStyle/>
                    <a:p>
                      <a:r>
                        <a:rPr sz="1200" b="0">
                          <a:solidFill>
                            <a:srgbClr val="5E5E5E"/>
                          </a:solidFill>
                          <a:latin typeface="Calibri"/>
                        </a:rPr>
                        <a:t>code</a:t>
                      </a:r>
                    </a:p>
                  </a:txBody>
                  <a:tcPr marR="73152" marT="27432" marB="27432" anchor="ctr">
                    <a:solidFill>
                      <a:srgbClr val="F3F3F3"/>
                    </a:solidFill>
                  </a:tcPr>
                </a:tc>
                <a:tc>
                  <a:txBody>
                    <a:bodyPr/>
                    <a:lstStyle/>
                    <a:p>
                      <a:r>
                        <a:rPr sz="1200" b="0">
                          <a:solidFill>
                            <a:srgbClr val="111111"/>
                          </a:solidFill>
                          <a:latin typeface="Calibri"/>
                        </a:rPr>
                        <a:t>Every name is in the evidence, so no warning. Judge: pass in 3 of 3 runs</a:t>
                      </a:r>
                    </a:p>
                  </a:txBody>
                  <a:tcPr marR="73152" marT="27432" marB="27432" anchor="ctr">
                    <a:solidFill>
                      <a:srgbClr val="F3F3F3"/>
                    </a:solidFill>
                  </a:tcPr>
                </a:tc>
                <a:extLst>
                  <a:ext uri="{0D108BD9-81ED-4DB2-BD59-A6C34878D82A}">
                    <a16:rowId xmlns:a16="http://schemas.microsoft.com/office/drawing/2014/main" val="10008"/>
                  </a:ext>
                </a:extLst>
              </a:tr>
            </a:tbl>
          </a:graphicData>
        </a:graphic>
      </p:graphicFrame>
      <p:sp>
        <p:nvSpPr>
          <p:cNvPr id="5" name="walkthrough-trap"/>
          <p:cNvSpPr/>
          <p:nvPr/>
        </p:nvSpPr>
        <p:spPr>
          <a:xfrm>
            <a:off x="786384" y="5541264"/>
            <a:ext cx="10625328" cy="566928"/>
          </a:xfrm>
          <a:prstGeom prst="roundRect">
            <a:avLst>
              <a:gd name="adj" fmla="val 12000"/>
            </a:avLst>
          </a:prstGeom>
          <a:solidFill>
            <a:srgbClr val="F7E9EC"/>
          </a:solidFill>
          <a:ln w="9525">
            <a:solidFill>
              <a:srgbClr val="E6BBC4"/>
            </a:solidFill>
          </a:ln>
        </p:spPr>
        <p:txBody>
          <a:bodyPr wrap="square" lIns="164592" rIns="164592" rtlCol="0" anchor="ctr"/>
          <a:lstStyle/>
          <a:p>
            <a:pPr algn="l"/>
            <a:r>
              <a:rPr sz="1300" b="1" dirty="0">
                <a:solidFill>
                  <a:srgbClr val="A31F34"/>
                </a:solidFill>
                <a:latin typeface="Calibri"/>
              </a:rPr>
              <a:t>The trap: </a:t>
            </a:r>
            <a:r>
              <a:rPr sz="1300" b="0" dirty="0">
                <a:solidFill>
                  <a:srgbClr val="111111"/>
                </a:solidFill>
                <a:latin typeface="Calibri"/>
              </a:rPr>
              <a:t>bobsleigh, curling, and skeleton left the program and came back, so their “since” year is after 1950 but their first year is not. Python filters on the earliest year, so they are correctly left out.</a:t>
            </a:r>
          </a:p>
        </p:txBody>
      </p:sp>
      <p:sp>
        <p:nvSpPr>
          <p:cNvPr id="6" name="walkthrough-source"/>
          <p:cNvSpPr txBox="1"/>
          <p:nvPr/>
        </p:nvSpPr>
        <p:spPr>
          <a:xfrm>
            <a:off x="786384" y="6236208"/>
            <a:ext cx="10625328" cy="274320"/>
          </a:xfrm>
          <a:prstGeom prst="rect">
            <a:avLst/>
          </a:prstGeom>
          <a:noFill/>
        </p:spPr>
        <p:txBody>
          <a:bodyPr wrap="square" lIns="0" tIns="0" rIns="0" bIns="0" anchor="t">
            <a:spAutoFit/>
          </a:bodyPr>
          <a:lstStyle/>
          <a:p>
            <a:pPr algn="l"/>
            <a:r>
              <a:rPr sz="1100" b="0">
                <a:solidFill>
                  <a:srgbClr val="5E5E5E"/>
                </a:solidFill>
                <a:latin typeface="Calibri"/>
              </a:rPr>
              <a:t>6 model calls · 24,235 input tokens · $0.063 at list price · 16.2 seconds · final retriever, GT run reverent_diffie (2026-10-04)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vision-title">
            <a:extLst>
              <a:ext uri="{FF2B5EF4-FFF2-40B4-BE49-F238E27FC236}">
                <a16:creationId xmlns:a16="http://schemas.microsoft.com/office/drawing/2014/main" id="{9CDE299F-8E96-47B4-B039-4E9C52E9B244}"/>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dirty="0">
                <a:solidFill>
                  <a:srgbClr val="111111"/>
                </a:solidFill>
                <a:latin typeface="Calibri"/>
                <a:ea typeface="Calibri"/>
                <a:cs typeface="Calibri"/>
              </a:rPr>
              <a:t>The journey in numbers</a:t>
            </a:r>
          </a:p>
        </p:txBody>
      </p:sp>
      <p:sp>
        <p:nvSpPr>
          <p:cNvPr id="2" name="revision-subtitle">
            <a:extLst>
              <a:ext uri="{FF2B5EF4-FFF2-40B4-BE49-F238E27FC236}">
                <a16:creationId xmlns:a16="http://schemas.microsoft.com/office/drawing/2014/main" id="{E0EE4349-C567-469D-9924-970A51811840}"/>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Held-out survivor results show a sequence of bottlenecks—not a monotonic march upward.</a:t>
            </a:r>
          </a:p>
        </p:txBody>
      </p:sp>
      <p:sp>
        <p:nvSpPr>
          <p:cNvPr id="3" name="Rectangle 2">
            <a:extLst>
              <a:ext uri="{FF2B5EF4-FFF2-40B4-BE49-F238E27FC236}">
                <a16:creationId xmlns:a16="http://schemas.microsoft.com/office/drawing/2014/main" id="{C068F26C-1038-4CE4-AB91-1E2003C6F21D}"/>
              </a:ext>
            </a:extLst>
          </p:cNvPr>
          <p:cNvSpPr>
            <a:spLocks noGrp="1"/>
          </p:cNvSpPr>
          <p:nvPr/>
        </p:nvSpPr>
        <p:spPr>
          <a:xfrm>
            <a:off x="904875" y="1562100"/>
            <a:ext cx="1714500" cy="266700"/>
          </a:xfrm>
          <a:prstGeom prst="rect">
            <a:avLst/>
          </a:prstGeom>
          <a:noFill/>
          <a:ln w="0">
            <a:noFill/>
          </a:ln>
        </p:spPr>
        <p:txBody>
          <a:bodyPr wrap="square" lIns="0" tIns="0" rIns="0" bIns="0" anchor="t">
            <a:normAutofit/>
          </a:bodyPr>
          <a:lstStyle/>
          <a:p>
            <a:pPr algn="ctr">
              <a:lnSpc>
                <a:spcPct val="100000"/>
              </a:lnSpc>
              <a:buNone/>
              <a:defRPr sz="1088" b="1" i="0">
                <a:solidFill>
                  <a:srgbClr val="A31F34"/>
                </a:solidFill>
                <a:latin typeface="Calibri"/>
                <a:ea typeface="Calibri"/>
                <a:cs typeface="Calibri"/>
              </a:defRPr>
            </a:pPr>
            <a:r>
              <a:rPr sz="1088" b="1" i="0">
                <a:solidFill>
                  <a:srgbClr val="A31F34"/>
                </a:solidFill>
                <a:latin typeface="Calibri"/>
                <a:ea typeface="Calibri"/>
                <a:cs typeface="Calibri"/>
              </a:rPr>
              <a:t>ANSWER QUALITY</a:t>
            </a:r>
          </a:p>
        </p:txBody>
      </p:sp>
      <p:sp>
        <p:nvSpPr>
          <p:cNvPr id="4" name="Rectangle 3">
            <a:extLst>
              <a:ext uri="{FF2B5EF4-FFF2-40B4-BE49-F238E27FC236}">
                <a16:creationId xmlns:a16="http://schemas.microsoft.com/office/drawing/2014/main" id="{608B0474-8C1C-48C5-8EAF-A615D1D5D98D}"/>
              </a:ext>
            </a:extLst>
          </p:cNvPr>
          <p:cNvSpPr>
            <a:spLocks noGrp="1"/>
          </p:cNvSpPr>
          <p:nvPr/>
        </p:nvSpPr>
        <p:spPr>
          <a:xfrm>
            <a:off x="904875" y="2009775"/>
            <a:ext cx="1714500" cy="266700"/>
          </a:xfrm>
          <a:prstGeom prst="rect">
            <a:avLst/>
          </a:prstGeom>
          <a:noFill/>
          <a:ln w="0">
            <a:noFill/>
          </a:ln>
        </p:spPr>
        <p:txBody>
          <a:bodyPr wrap="square" lIns="0" tIns="0" rIns="0" bIns="0" anchor="t">
            <a:normAutofit/>
          </a:bodyPr>
          <a:lstStyle/>
          <a:p>
            <a:pPr algn="ctr">
              <a:lnSpc>
                <a:spcPct val="100000"/>
              </a:lnSpc>
              <a:buNone/>
              <a:defRPr sz="1088" b="1" i="0">
                <a:solidFill>
                  <a:srgbClr val="087E8B"/>
                </a:solidFill>
                <a:latin typeface="Calibri"/>
                <a:ea typeface="Calibri"/>
                <a:cs typeface="Calibri"/>
              </a:defRPr>
            </a:pPr>
            <a:r>
              <a:rPr sz="1088" b="1" i="0">
                <a:solidFill>
                  <a:srgbClr val="087E8B"/>
                </a:solidFill>
                <a:latin typeface="Calibri"/>
                <a:ea typeface="Calibri"/>
                <a:cs typeface="Calibri"/>
              </a:rPr>
              <a:t>ARTICLE RECALL</a:t>
            </a:r>
          </a:p>
        </p:txBody>
      </p:sp>
      <p:sp>
        <p:nvSpPr>
          <p:cNvPr id="5" name="Rounded Rectangle 4">
            <a:extLst>
              <a:ext uri="{FF2B5EF4-FFF2-40B4-BE49-F238E27FC236}">
                <a16:creationId xmlns:a16="http://schemas.microsoft.com/office/drawing/2014/main" id="{D22C9608-B38F-4B03-B471-45B2C8815867}"/>
              </a:ext>
            </a:extLst>
          </p:cNvPr>
          <p:cNvSpPr>
            <a:spLocks noGrp="1"/>
          </p:cNvSpPr>
          <p:nvPr/>
        </p:nvSpPr>
        <p:spPr>
          <a:xfrm>
            <a:off x="2762250" y="1447800"/>
            <a:ext cx="1581150" cy="1066800"/>
          </a:xfrm>
          <a:prstGeom prst="roundRect">
            <a:avLst>
              <a:gd name="adj" fmla="val 6250"/>
            </a:avLst>
          </a:prstGeom>
          <a:solidFill>
            <a:srgbClr val="FFFFFF"/>
          </a:solidFill>
          <a:ln w="9525">
            <a:solidFill>
              <a:srgbClr val="D8D8D8"/>
            </a:solidFill>
            <a:prstDash val="solid"/>
          </a:ln>
        </p:spPr>
        <p:txBody>
          <a:bodyPr/>
          <a:lstStyle/>
          <a:p>
            <a:endParaRPr lang="en-US"/>
          </a:p>
        </p:txBody>
      </p:sp>
      <p:sp>
        <p:nvSpPr>
          <p:cNvPr id="6" name="Rectangle 5">
            <a:extLst>
              <a:ext uri="{FF2B5EF4-FFF2-40B4-BE49-F238E27FC236}">
                <a16:creationId xmlns:a16="http://schemas.microsoft.com/office/drawing/2014/main" id="{79C9747A-1FF5-4E7C-961E-D3A5ACE41620}"/>
              </a:ext>
            </a:extLst>
          </p:cNvPr>
          <p:cNvSpPr>
            <a:spLocks noGrp="1"/>
          </p:cNvSpPr>
          <p:nvPr/>
        </p:nvSpPr>
        <p:spPr>
          <a:xfrm>
            <a:off x="2876550" y="1552575"/>
            <a:ext cx="476250" cy="266700"/>
          </a:xfrm>
          <a:prstGeom prst="rect">
            <a:avLst/>
          </a:prstGeom>
          <a:noFill/>
          <a:ln w="0">
            <a:noFill/>
          </a:ln>
        </p:spPr>
        <p:txBody>
          <a:bodyPr wrap="square" lIns="0" tIns="0" rIns="0" bIns="0" anchor="t">
            <a:normAutofit/>
          </a:bodyPr>
          <a:lstStyle/>
          <a:p>
            <a:pPr algn="l">
              <a:lnSpc>
                <a:spcPct val="100000"/>
              </a:lnSpc>
              <a:buNone/>
              <a:defRPr sz="1350" b="1" i="0">
                <a:solidFill>
                  <a:srgbClr val="111111"/>
                </a:solidFill>
                <a:latin typeface="Calibri"/>
                <a:ea typeface="Calibri"/>
                <a:cs typeface="Calibri"/>
              </a:defRPr>
            </a:pPr>
            <a:r>
              <a:rPr sz="1350" b="1" i="0">
                <a:solidFill>
                  <a:srgbClr val="111111"/>
                </a:solidFill>
                <a:latin typeface="Calibri"/>
                <a:ea typeface="Calibri"/>
                <a:cs typeface="Calibri"/>
              </a:rPr>
              <a:t>3.1</a:t>
            </a:r>
          </a:p>
        </p:txBody>
      </p:sp>
      <p:sp>
        <p:nvSpPr>
          <p:cNvPr id="7" name="Rectangle 6">
            <a:extLst>
              <a:ext uri="{FF2B5EF4-FFF2-40B4-BE49-F238E27FC236}">
                <a16:creationId xmlns:a16="http://schemas.microsoft.com/office/drawing/2014/main" id="{BB5EFA52-E835-4B9E-AFE8-C1C2F77E0E4C}"/>
              </a:ext>
            </a:extLst>
          </p:cNvPr>
          <p:cNvSpPr>
            <a:spLocks noGrp="1"/>
          </p:cNvSpPr>
          <p:nvPr/>
        </p:nvSpPr>
        <p:spPr>
          <a:xfrm>
            <a:off x="2876550" y="1847850"/>
            <a:ext cx="1352550" cy="323850"/>
          </a:xfrm>
          <a:prstGeom prst="rect">
            <a:avLst/>
          </a:prstGeom>
          <a:noFill/>
          <a:ln w="0">
            <a:noFill/>
          </a:ln>
        </p:spPr>
        <p:txBody>
          <a:bodyPr wrap="square" lIns="0" tIns="0" rIns="0" bIns="0" anchor="ctr">
            <a:normAutofit/>
          </a:bodyPr>
          <a:lstStyle/>
          <a:p>
            <a:pPr algn="ctr">
              <a:lnSpc>
                <a:spcPct val="100000"/>
              </a:lnSpc>
              <a:buNone/>
              <a:defRPr sz="1088" b="1" i="0">
                <a:solidFill>
                  <a:srgbClr val="5E5E5E"/>
                </a:solidFill>
                <a:latin typeface="Calibri"/>
                <a:ea typeface="Calibri"/>
                <a:cs typeface="Calibri"/>
              </a:defRPr>
            </a:pPr>
            <a:r>
              <a:rPr sz="1088" b="1" i="0">
                <a:solidFill>
                  <a:srgbClr val="5E5E5E"/>
                </a:solidFill>
                <a:latin typeface="Calibri"/>
                <a:ea typeface="Calibri"/>
                <a:cs typeface="Calibri"/>
              </a:rPr>
              <a:t>Vector baseline</a:t>
            </a:r>
          </a:p>
        </p:txBody>
      </p:sp>
      <p:sp>
        <p:nvSpPr>
          <p:cNvPr id="8" name="Rectangle 7">
            <a:extLst>
              <a:ext uri="{FF2B5EF4-FFF2-40B4-BE49-F238E27FC236}">
                <a16:creationId xmlns:a16="http://schemas.microsoft.com/office/drawing/2014/main" id="{393AAC9B-49DD-41B8-8784-A682BB575F01}"/>
              </a:ext>
            </a:extLst>
          </p:cNvPr>
          <p:cNvSpPr>
            <a:spLocks noGrp="1"/>
          </p:cNvSpPr>
          <p:nvPr/>
        </p:nvSpPr>
        <p:spPr>
          <a:xfrm>
            <a:off x="2876550" y="2219325"/>
            <a:ext cx="619125" cy="228600"/>
          </a:xfrm>
          <a:prstGeom prst="rect">
            <a:avLst/>
          </a:prstGeom>
          <a:noFill/>
          <a:ln w="0">
            <a:noFill/>
          </a:ln>
        </p:spPr>
        <p:txBody>
          <a:bodyPr wrap="square" lIns="0" tIns="0" rIns="0" bIns="0" anchor="t">
            <a:normAutofit/>
          </a:bodyPr>
          <a:lstStyle/>
          <a:p>
            <a:pPr algn="ctr">
              <a:lnSpc>
                <a:spcPct val="100000"/>
              </a:lnSpc>
              <a:buNone/>
              <a:defRPr sz="1313" b="1" i="0">
                <a:solidFill>
                  <a:srgbClr val="A31F34"/>
                </a:solidFill>
                <a:latin typeface="Calibri"/>
                <a:ea typeface="Calibri"/>
                <a:cs typeface="Calibri"/>
              </a:defRPr>
            </a:pPr>
            <a:r>
              <a:rPr sz="1313" b="1" i="0">
                <a:solidFill>
                  <a:srgbClr val="A31F34"/>
                </a:solidFill>
                <a:latin typeface="Calibri"/>
                <a:ea typeface="Calibri"/>
                <a:cs typeface="Calibri"/>
              </a:rPr>
              <a:t>0.907</a:t>
            </a:r>
          </a:p>
        </p:txBody>
      </p:sp>
      <p:sp>
        <p:nvSpPr>
          <p:cNvPr id="9" name="Rectangle 8">
            <a:extLst>
              <a:ext uri="{FF2B5EF4-FFF2-40B4-BE49-F238E27FC236}">
                <a16:creationId xmlns:a16="http://schemas.microsoft.com/office/drawing/2014/main" id="{3ED1F7DA-D31C-40B3-A676-818C2CA7BAB7}"/>
              </a:ext>
            </a:extLst>
          </p:cNvPr>
          <p:cNvSpPr>
            <a:spLocks noGrp="1"/>
          </p:cNvSpPr>
          <p:nvPr/>
        </p:nvSpPr>
        <p:spPr>
          <a:xfrm>
            <a:off x="3600450" y="2219325"/>
            <a:ext cx="619125" cy="228600"/>
          </a:xfrm>
          <a:prstGeom prst="rect">
            <a:avLst/>
          </a:prstGeom>
          <a:noFill/>
          <a:ln w="0">
            <a:noFill/>
          </a:ln>
        </p:spPr>
        <p:txBody>
          <a:bodyPr wrap="square" lIns="0" tIns="0" rIns="0" bIns="0" anchor="t">
            <a:normAutofit/>
          </a:bodyPr>
          <a:lstStyle/>
          <a:p>
            <a:pPr algn="ctr">
              <a:lnSpc>
                <a:spcPct val="100000"/>
              </a:lnSpc>
              <a:buNone/>
              <a:defRPr sz="1313" b="1" i="0">
                <a:solidFill>
                  <a:srgbClr val="087E8B"/>
                </a:solidFill>
                <a:latin typeface="Calibri"/>
                <a:ea typeface="Calibri"/>
                <a:cs typeface="Calibri"/>
              </a:defRPr>
            </a:pPr>
            <a:r>
              <a:rPr sz="1313" b="1" i="0">
                <a:solidFill>
                  <a:srgbClr val="087E8B"/>
                </a:solidFill>
                <a:latin typeface="Calibri"/>
                <a:ea typeface="Calibri"/>
                <a:cs typeface="Calibri"/>
              </a:rPr>
              <a:t>0.973</a:t>
            </a:r>
          </a:p>
        </p:txBody>
      </p:sp>
      <p:sp>
        <p:nvSpPr>
          <p:cNvPr id="10" name="Rounded Rectangle 9">
            <a:extLst>
              <a:ext uri="{FF2B5EF4-FFF2-40B4-BE49-F238E27FC236}">
                <a16:creationId xmlns:a16="http://schemas.microsoft.com/office/drawing/2014/main" id="{6D59F597-A9E3-402C-A3A6-8EE990508492}"/>
              </a:ext>
            </a:extLst>
          </p:cNvPr>
          <p:cNvSpPr>
            <a:spLocks noGrp="1"/>
          </p:cNvSpPr>
          <p:nvPr/>
        </p:nvSpPr>
        <p:spPr>
          <a:xfrm>
            <a:off x="4533900" y="1447800"/>
            <a:ext cx="1581150" cy="1066800"/>
          </a:xfrm>
          <a:prstGeom prst="roundRect">
            <a:avLst>
              <a:gd name="adj" fmla="val 6250"/>
            </a:avLst>
          </a:prstGeom>
          <a:solidFill>
            <a:srgbClr val="FFFFFF"/>
          </a:solidFill>
          <a:ln w="9525">
            <a:solidFill>
              <a:srgbClr val="D8D8D8"/>
            </a:solidFill>
            <a:prstDash val="solid"/>
          </a:ln>
        </p:spPr>
        <p:txBody>
          <a:bodyPr/>
          <a:lstStyle/>
          <a:p>
            <a:endParaRPr lang="en-US"/>
          </a:p>
        </p:txBody>
      </p:sp>
      <p:sp>
        <p:nvSpPr>
          <p:cNvPr id="11" name="Rectangle 10">
            <a:extLst>
              <a:ext uri="{FF2B5EF4-FFF2-40B4-BE49-F238E27FC236}">
                <a16:creationId xmlns:a16="http://schemas.microsoft.com/office/drawing/2014/main" id="{8E819451-8D03-4143-85CE-BF78718D0A26}"/>
              </a:ext>
            </a:extLst>
          </p:cNvPr>
          <p:cNvSpPr>
            <a:spLocks noGrp="1"/>
          </p:cNvSpPr>
          <p:nvPr/>
        </p:nvSpPr>
        <p:spPr>
          <a:xfrm>
            <a:off x="4648200" y="1552575"/>
            <a:ext cx="476250" cy="266700"/>
          </a:xfrm>
          <a:prstGeom prst="rect">
            <a:avLst/>
          </a:prstGeom>
          <a:noFill/>
          <a:ln w="0">
            <a:noFill/>
          </a:ln>
        </p:spPr>
        <p:txBody>
          <a:bodyPr wrap="square" lIns="0" tIns="0" rIns="0" bIns="0" anchor="t">
            <a:normAutofit/>
          </a:bodyPr>
          <a:lstStyle/>
          <a:p>
            <a:pPr algn="l">
              <a:lnSpc>
                <a:spcPct val="100000"/>
              </a:lnSpc>
              <a:buNone/>
              <a:defRPr sz="1350" b="1" i="0">
                <a:solidFill>
                  <a:srgbClr val="111111"/>
                </a:solidFill>
                <a:latin typeface="Calibri"/>
                <a:ea typeface="Calibri"/>
                <a:cs typeface="Calibri"/>
              </a:defRPr>
            </a:pPr>
            <a:r>
              <a:rPr sz="1350" b="1" i="0">
                <a:solidFill>
                  <a:srgbClr val="111111"/>
                </a:solidFill>
                <a:latin typeface="Calibri"/>
                <a:ea typeface="Calibri"/>
                <a:cs typeface="Calibri"/>
              </a:rPr>
              <a:t>4.1</a:t>
            </a:r>
          </a:p>
        </p:txBody>
      </p:sp>
      <p:sp>
        <p:nvSpPr>
          <p:cNvPr id="12" name="Rectangle 11">
            <a:extLst>
              <a:ext uri="{FF2B5EF4-FFF2-40B4-BE49-F238E27FC236}">
                <a16:creationId xmlns:a16="http://schemas.microsoft.com/office/drawing/2014/main" id="{29463D51-BD31-4CAA-9989-738861E3D1BB}"/>
              </a:ext>
            </a:extLst>
          </p:cNvPr>
          <p:cNvSpPr>
            <a:spLocks noGrp="1"/>
          </p:cNvSpPr>
          <p:nvPr/>
        </p:nvSpPr>
        <p:spPr>
          <a:xfrm>
            <a:off x="4648200" y="1847850"/>
            <a:ext cx="1352550" cy="323850"/>
          </a:xfrm>
          <a:prstGeom prst="rect">
            <a:avLst/>
          </a:prstGeom>
          <a:noFill/>
          <a:ln w="0">
            <a:noFill/>
          </a:ln>
        </p:spPr>
        <p:txBody>
          <a:bodyPr wrap="square" lIns="0" tIns="0" rIns="0" bIns="0" anchor="ctr">
            <a:normAutofit/>
          </a:bodyPr>
          <a:lstStyle/>
          <a:p>
            <a:pPr algn="ctr">
              <a:lnSpc>
                <a:spcPct val="100000"/>
              </a:lnSpc>
              <a:buNone/>
              <a:defRPr sz="1088" b="1" i="0">
                <a:solidFill>
                  <a:srgbClr val="5E5E5E"/>
                </a:solidFill>
                <a:latin typeface="Calibri"/>
                <a:ea typeface="Calibri"/>
                <a:cs typeface="Calibri"/>
              </a:defRPr>
            </a:pPr>
            <a:r>
              <a:rPr sz="1088" b="1" i="0">
                <a:solidFill>
                  <a:srgbClr val="5E5E5E"/>
                </a:solidFill>
                <a:latin typeface="Calibri"/>
                <a:ea typeface="Calibri"/>
                <a:cs typeface="Calibri"/>
              </a:rPr>
              <a:t>Graph fallback</a:t>
            </a:r>
          </a:p>
        </p:txBody>
      </p:sp>
      <p:sp>
        <p:nvSpPr>
          <p:cNvPr id="13" name="Rectangle 12">
            <a:extLst>
              <a:ext uri="{FF2B5EF4-FFF2-40B4-BE49-F238E27FC236}">
                <a16:creationId xmlns:a16="http://schemas.microsoft.com/office/drawing/2014/main" id="{607B5141-90F3-4E47-9A8B-0FADEB0C9DF9}"/>
              </a:ext>
            </a:extLst>
          </p:cNvPr>
          <p:cNvSpPr>
            <a:spLocks noGrp="1"/>
          </p:cNvSpPr>
          <p:nvPr/>
        </p:nvSpPr>
        <p:spPr>
          <a:xfrm>
            <a:off x="4648200" y="2219325"/>
            <a:ext cx="619125" cy="228600"/>
          </a:xfrm>
          <a:prstGeom prst="rect">
            <a:avLst/>
          </a:prstGeom>
          <a:noFill/>
          <a:ln w="0">
            <a:noFill/>
          </a:ln>
        </p:spPr>
        <p:txBody>
          <a:bodyPr wrap="square" lIns="0" tIns="0" rIns="0" bIns="0" anchor="t">
            <a:normAutofit/>
          </a:bodyPr>
          <a:lstStyle/>
          <a:p>
            <a:pPr algn="ctr">
              <a:lnSpc>
                <a:spcPct val="100000"/>
              </a:lnSpc>
              <a:buNone/>
              <a:defRPr sz="1313" b="1" i="0">
                <a:solidFill>
                  <a:srgbClr val="A31F34"/>
                </a:solidFill>
                <a:latin typeface="Calibri"/>
                <a:ea typeface="Calibri"/>
                <a:cs typeface="Calibri"/>
              </a:defRPr>
            </a:pPr>
            <a:r>
              <a:rPr sz="1313" b="1" i="0">
                <a:solidFill>
                  <a:srgbClr val="A31F34"/>
                </a:solidFill>
                <a:latin typeface="Calibri"/>
                <a:ea typeface="Calibri"/>
                <a:cs typeface="Calibri"/>
              </a:rPr>
              <a:t>0.885</a:t>
            </a:r>
          </a:p>
        </p:txBody>
      </p:sp>
      <p:sp>
        <p:nvSpPr>
          <p:cNvPr id="14" name="Rectangle 13">
            <a:extLst>
              <a:ext uri="{FF2B5EF4-FFF2-40B4-BE49-F238E27FC236}">
                <a16:creationId xmlns:a16="http://schemas.microsoft.com/office/drawing/2014/main" id="{A475A5E5-1AA9-46E5-93A3-FE8DF4E5808B}"/>
              </a:ext>
            </a:extLst>
          </p:cNvPr>
          <p:cNvSpPr>
            <a:spLocks noGrp="1"/>
          </p:cNvSpPr>
          <p:nvPr/>
        </p:nvSpPr>
        <p:spPr>
          <a:xfrm>
            <a:off x="5372100" y="2219325"/>
            <a:ext cx="619125" cy="228600"/>
          </a:xfrm>
          <a:prstGeom prst="rect">
            <a:avLst/>
          </a:prstGeom>
          <a:noFill/>
          <a:ln w="0">
            <a:noFill/>
          </a:ln>
        </p:spPr>
        <p:txBody>
          <a:bodyPr wrap="square" lIns="0" tIns="0" rIns="0" bIns="0" anchor="t">
            <a:normAutofit/>
          </a:bodyPr>
          <a:lstStyle/>
          <a:p>
            <a:pPr algn="ctr">
              <a:lnSpc>
                <a:spcPct val="100000"/>
              </a:lnSpc>
              <a:buNone/>
              <a:defRPr sz="1313" b="1" i="0">
                <a:solidFill>
                  <a:srgbClr val="087E8B"/>
                </a:solidFill>
                <a:latin typeface="Calibri"/>
                <a:ea typeface="Calibri"/>
                <a:cs typeface="Calibri"/>
              </a:defRPr>
            </a:pPr>
            <a:r>
              <a:rPr sz="1313" b="1" i="0">
                <a:solidFill>
                  <a:srgbClr val="087E8B"/>
                </a:solidFill>
                <a:latin typeface="Calibri"/>
                <a:ea typeface="Calibri"/>
                <a:cs typeface="Calibri"/>
              </a:rPr>
              <a:t>0.973</a:t>
            </a:r>
          </a:p>
        </p:txBody>
      </p:sp>
      <p:sp>
        <p:nvSpPr>
          <p:cNvPr id="15" name="Rounded Rectangle 14">
            <a:extLst>
              <a:ext uri="{FF2B5EF4-FFF2-40B4-BE49-F238E27FC236}">
                <a16:creationId xmlns:a16="http://schemas.microsoft.com/office/drawing/2014/main" id="{7294E4AF-AFBF-4E48-A790-C6B0127722D4}"/>
              </a:ext>
            </a:extLst>
          </p:cNvPr>
          <p:cNvSpPr>
            <a:spLocks noGrp="1"/>
          </p:cNvSpPr>
          <p:nvPr/>
        </p:nvSpPr>
        <p:spPr>
          <a:xfrm>
            <a:off x="6305550" y="1447800"/>
            <a:ext cx="1581150" cy="1066800"/>
          </a:xfrm>
          <a:prstGeom prst="roundRect">
            <a:avLst>
              <a:gd name="adj" fmla="val 6250"/>
            </a:avLst>
          </a:prstGeom>
          <a:solidFill>
            <a:srgbClr val="FFFFFF"/>
          </a:solidFill>
          <a:ln w="9525">
            <a:solidFill>
              <a:srgbClr val="D8D8D8"/>
            </a:solidFill>
            <a:prstDash val="solid"/>
          </a:ln>
        </p:spPr>
        <p:txBody>
          <a:bodyPr/>
          <a:lstStyle/>
          <a:p>
            <a:endParaRPr lang="en-US"/>
          </a:p>
        </p:txBody>
      </p:sp>
      <p:sp>
        <p:nvSpPr>
          <p:cNvPr id="16" name="Rectangle 15">
            <a:extLst>
              <a:ext uri="{FF2B5EF4-FFF2-40B4-BE49-F238E27FC236}">
                <a16:creationId xmlns:a16="http://schemas.microsoft.com/office/drawing/2014/main" id="{809138D0-C8E2-44AF-A225-C27E6A23BF72}"/>
              </a:ext>
            </a:extLst>
          </p:cNvPr>
          <p:cNvSpPr>
            <a:spLocks noGrp="1"/>
          </p:cNvSpPr>
          <p:nvPr/>
        </p:nvSpPr>
        <p:spPr>
          <a:xfrm>
            <a:off x="6419850" y="1552575"/>
            <a:ext cx="476250" cy="266700"/>
          </a:xfrm>
          <a:prstGeom prst="rect">
            <a:avLst/>
          </a:prstGeom>
          <a:noFill/>
          <a:ln w="0">
            <a:noFill/>
          </a:ln>
        </p:spPr>
        <p:txBody>
          <a:bodyPr wrap="square" lIns="0" tIns="0" rIns="0" bIns="0" anchor="t">
            <a:normAutofit/>
          </a:bodyPr>
          <a:lstStyle/>
          <a:p>
            <a:pPr algn="l">
              <a:lnSpc>
                <a:spcPct val="100000"/>
              </a:lnSpc>
              <a:buNone/>
              <a:defRPr sz="1350" b="1" i="0">
                <a:solidFill>
                  <a:srgbClr val="111111"/>
                </a:solidFill>
                <a:latin typeface="Calibri"/>
                <a:ea typeface="Calibri"/>
                <a:cs typeface="Calibri"/>
              </a:defRPr>
            </a:pPr>
            <a:r>
              <a:rPr sz="1350" b="1" i="0">
                <a:solidFill>
                  <a:srgbClr val="111111"/>
                </a:solidFill>
                <a:latin typeface="Calibri"/>
                <a:ea typeface="Calibri"/>
                <a:cs typeface="Calibri"/>
              </a:rPr>
              <a:t>5.1</a:t>
            </a:r>
          </a:p>
        </p:txBody>
      </p:sp>
      <p:sp>
        <p:nvSpPr>
          <p:cNvPr id="17" name="Rectangle 16">
            <a:extLst>
              <a:ext uri="{FF2B5EF4-FFF2-40B4-BE49-F238E27FC236}">
                <a16:creationId xmlns:a16="http://schemas.microsoft.com/office/drawing/2014/main" id="{40C7150D-3099-427D-ACA0-C2890BA95733}"/>
              </a:ext>
            </a:extLst>
          </p:cNvPr>
          <p:cNvSpPr>
            <a:spLocks noGrp="1"/>
          </p:cNvSpPr>
          <p:nvPr/>
        </p:nvSpPr>
        <p:spPr>
          <a:xfrm>
            <a:off x="6419850" y="1847850"/>
            <a:ext cx="1352550" cy="323850"/>
          </a:xfrm>
          <a:prstGeom prst="rect">
            <a:avLst/>
          </a:prstGeom>
          <a:noFill/>
          <a:ln w="0">
            <a:noFill/>
          </a:ln>
        </p:spPr>
        <p:txBody>
          <a:bodyPr wrap="square" lIns="0" tIns="0" rIns="0" bIns="0" anchor="ctr">
            <a:normAutofit/>
          </a:bodyPr>
          <a:lstStyle/>
          <a:p>
            <a:pPr algn="ctr">
              <a:lnSpc>
                <a:spcPct val="100000"/>
              </a:lnSpc>
              <a:buNone/>
              <a:defRPr sz="1088" b="1" i="0">
                <a:solidFill>
                  <a:srgbClr val="5E5E5E"/>
                </a:solidFill>
                <a:latin typeface="Calibri"/>
                <a:ea typeface="Calibri"/>
                <a:cs typeface="Calibri"/>
              </a:defRPr>
            </a:pPr>
            <a:r>
              <a:rPr sz="1088" b="1" i="0">
                <a:solidFill>
                  <a:srgbClr val="5E5E5E"/>
                </a:solidFill>
                <a:latin typeface="Calibri"/>
                <a:ea typeface="Calibri"/>
                <a:cs typeface="Calibri"/>
              </a:rPr>
              <a:t>Agent + tables</a:t>
            </a:r>
          </a:p>
        </p:txBody>
      </p:sp>
      <p:sp>
        <p:nvSpPr>
          <p:cNvPr id="18" name="Rectangle 17">
            <a:extLst>
              <a:ext uri="{FF2B5EF4-FFF2-40B4-BE49-F238E27FC236}">
                <a16:creationId xmlns:a16="http://schemas.microsoft.com/office/drawing/2014/main" id="{7C437B2F-2461-4B13-AD6A-30D3EE312D21}"/>
              </a:ext>
            </a:extLst>
          </p:cNvPr>
          <p:cNvSpPr>
            <a:spLocks noGrp="1"/>
          </p:cNvSpPr>
          <p:nvPr/>
        </p:nvSpPr>
        <p:spPr>
          <a:xfrm>
            <a:off x="6419850" y="2219325"/>
            <a:ext cx="619125" cy="228600"/>
          </a:xfrm>
          <a:prstGeom prst="rect">
            <a:avLst/>
          </a:prstGeom>
          <a:noFill/>
          <a:ln w="0">
            <a:noFill/>
          </a:ln>
        </p:spPr>
        <p:txBody>
          <a:bodyPr wrap="square" lIns="0" tIns="0" rIns="0" bIns="0" anchor="t">
            <a:normAutofit/>
          </a:bodyPr>
          <a:lstStyle/>
          <a:p>
            <a:pPr algn="ctr">
              <a:lnSpc>
                <a:spcPct val="100000"/>
              </a:lnSpc>
              <a:buNone/>
              <a:defRPr sz="1313" b="1" i="0">
                <a:solidFill>
                  <a:srgbClr val="A31F34"/>
                </a:solidFill>
                <a:latin typeface="Calibri"/>
                <a:ea typeface="Calibri"/>
                <a:cs typeface="Calibri"/>
              </a:defRPr>
            </a:pPr>
            <a:r>
              <a:rPr sz="1313" b="1" i="0">
                <a:solidFill>
                  <a:srgbClr val="A31F34"/>
                </a:solidFill>
                <a:latin typeface="Calibri"/>
                <a:ea typeface="Calibri"/>
                <a:cs typeface="Calibri"/>
              </a:rPr>
              <a:t>0.880</a:t>
            </a:r>
          </a:p>
        </p:txBody>
      </p:sp>
      <p:sp>
        <p:nvSpPr>
          <p:cNvPr id="19" name="Rectangle 18">
            <a:extLst>
              <a:ext uri="{FF2B5EF4-FFF2-40B4-BE49-F238E27FC236}">
                <a16:creationId xmlns:a16="http://schemas.microsoft.com/office/drawing/2014/main" id="{68E1332C-3D3D-4987-84A1-E8EFE7A81A61}"/>
              </a:ext>
            </a:extLst>
          </p:cNvPr>
          <p:cNvSpPr>
            <a:spLocks noGrp="1"/>
          </p:cNvSpPr>
          <p:nvPr/>
        </p:nvSpPr>
        <p:spPr>
          <a:xfrm>
            <a:off x="7143750" y="2219325"/>
            <a:ext cx="619125" cy="228600"/>
          </a:xfrm>
          <a:prstGeom prst="rect">
            <a:avLst/>
          </a:prstGeom>
          <a:noFill/>
          <a:ln w="0">
            <a:noFill/>
          </a:ln>
        </p:spPr>
        <p:txBody>
          <a:bodyPr wrap="square" lIns="0" tIns="0" rIns="0" bIns="0" anchor="t">
            <a:normAutofit/>
          </a:bodyPr>
          <a:lstStyle/>
          <a:p>
            <a:pPr algn="ctr">
              <a:lnSpc>
                <a:spcPct val="100000"/>
              </a:lnSpc>
              <a:buNone/>
              <a:defRPr sz="1313" b="1" i="0">
                <a:solidFill>
                  <a:srgbClr val="087E8B"/>
                </a:solidFill>
                <a:latin typeface="Calibri"/>
                <a:ea typeface="Calibri"/>
                <a:cs typeface="Calibri"/>
              </a:defRPr>
            </a:pPr>
            <a:r>
              <a:rPr sz="1313" b="1" i="0">
                <a:solidFill>
                  <a:srgbClr val="087E8B"/>
                </a:solidFill>
                <a:latin typeface="Calibri"/>
                <a:ea typeface="Calibri"/>
                <a:cs typeface="Calibri"/>
              </a:rPr>
              <a:t>1.000</a:t>
            </a:r>
          </a:p>
        </p:txBody>
      </p:sp>
      <p:sp>
        <p:nvSpPr>
          <p:cNvPr id="20" name="Rounded Rectangle 19">
            <a:extLst>
              <a:ext uri="{FF2B5EF4-FFF2-40B4-BE49-F238E27FC236}">
                <a16:creationId xmlns:a16="http://schemas.microsoft.com/office/drawing/2014/main" id="{80606E5D-0498-4E7D-8F74-397772772591}"/>
              </a:ext>
            </a:extLst>
          </p:cNvPr>
          <p:cNvSpPr>
            <a:spLocks noGrp="1"/>
          </p:cNvSpPr>
          <p:nvPr/>
        </p:nvSpPr>
        <p:spPr>
          <a:xfrm>
            <a:off x="8077200" y="1447800"/>
            <a:ext cx="1581150" cy="1066800"/>
          </a:xfrm>
          <a:prstGeom prst="roundRect">
            <a:avLst>
              <a:gd name="adj" fmla="val 6250"/>
            </a:avLst>
          </a:prstGeom>
          <a:solidFill>
            <a:srgbClr val="FFFFFF"/>
          </a:solidFill>
          <a:ln w="9525">
            <a:solidFill>
              <a:srgbClr val="D8D8D8"/>
            </a:solidFill>
            <a:prstDash val="solid"/>
          </a:ln>
        </p:spPr>
        <p:txBody>
          <a:bodyPr/>
          <a:lstStyle/>
          <a:p>
            <a:endParaRPr lang="en-US"/>
          </a:p>
        </p:txBody>
      </p:sp>
      <p:sp>
        <p:nvSpPr>
          <p:cNvPr id="21" name="Rectangle 20">
            <a:extLst>
              <a:ext uri="{FF2B5EF4-FFF2-40B4-BE49-F238E27FC236}">
                <a16:creationId xmlns:a16="http://schemas.microsoft.com/office/drawing/2014/main" id="{62CF2C36-ADD7-4519-9A95-4582B42AFA46}"/>
              </a:ext>
            </a:extLst>
          </p:cNvPr>
          <p:cNvSpPr>
            <a:spLocks noGrp="1"/>
          </p:cNvSpPr>
          <p:nvPr/>
        </p:nvSpPr>
        <p:spPr>
          <a:xfrm>
            <a:off x="8191500" y="1552575"/>
            <a:ext cx="476250" cy="266700"/>
          </a:xfrm>
          <a:prstGeom prst="rect">
            <a:avLst/>
          </a:prstGeom>
          <a:noFill/>
          <a:ln w="0">
            <a:noFill/>
          </a:ln>
        </p:spPr>
        <p:txBody>
          <a:bodyPr wrap="square" lIns="0" tIns="0" rIns="0" bIns="0" anchor="t">
            <a:normAutofit/>
          </a:bodyPr>
          <a:lstStyle/>
          <a:p>
            <a:pPr algn="l">
              <a:lnSpc>
                <a:spcPct val="100000"/>
              </a:lnSpc>
              <a:buNone/>
              <a:defRPr sz="1350" b="1" i="0">
                <a:solidFill>
                  <a:srgbClr val="111111"/>
                </a:solidFill>
                <a:latin typeface="Calibri"/>
                <a:ea typeface="Calibri"/>
                <a:cs typeface="Calibri"/>
              </a:defRPr>
            </a:pPr>
            <a:r>
              <a:rPr sz="1350" b="1" i="0">
                <a:solidFill>
                  <a:srgbClr val="111111"/>
                </a:solidFill>
                <a:latin typeface="Calibri"/>
                <a:ea typeface="Calibri"/>
                <a:cs typeface="Calibri"/>
              </a:rPr>
              <a:t>6.1</a:t>
            </a:r>
          </a:p>
        </p:txBody>
      </p:sp>
      <p:sp>
        <p:nvSpPr>
          <p:cNvPr id="22" name="Rectangle 21">
            <a:extLst>
              <a:ext uri="{FF2B5EF4-FFF2-40B4-BE49-F238E27FC236}">
                <a16:creationId xmlns:a16="http://schemas.microsoft.com/office/drawing/2014/main" id="{989BF7AA-762D-406D-A80A-5D688DE0385C}"/>
              </a:ext>
            </a:extLst>
          </p:cNvPr>
          <p:cNvSpPr>
            <a:spLocks noGrp="1"/>
          </p:cNvSpPr>
          <p:nvPr/>
        </p:nvSpPr>
        <p:spPr>
          <a:xfrm>
            <a:off x="8191500" y="1847850"/>
            <a:ext cx="1352550" cy="323850"/>
          </a:xfrm>
          <a:prstGeom prst="rect">
            <a:avLst/>
          </a:prstGeom>
          <a:noFill/>
          <a:ln w="0">
            <a:noFill/>
          </a:ln>
        </p:spPr>
        <p:txBody>
          <a:bodyPr wrap="square" lIns="0" tIns="0" rIns="0" bIns="0" anchor="ctr">
            <a:normAutofit/>
          </a:bodyPr>
          <a:lstStyle/>
          <a:p>
            <a:pPr algn="ctr">
              <a:lnSpc>
                <a:spcPct val="100000"/>
              </a:lnSpc>
              <a:buNone/>
              <a:defRPr sz="1088" b="1" i="0">
                <a:solidFill>
                  <a:srgbClr val="5E5E5E"/>
                </a:solidFill>
                <a:latin typeface="Calibri"/>
                <a:ea typeface="Calibri"/>
                <a:cs typeface="Calibri"/>
              </a:defRPr>
            </a:pPr>
            <a:r>
              <a:rPr sz="1088" b="1" i="0">
                <a:solidFill>
                  <a:srgbClr val="5E5E5E"/>
                </a:solidFill>
                <a:latin typeface="Calibri"/>
                <a:ea typeface="Calibri"/>
                <a:cs typeface="Calibri"/>
              </a:rPr>
              <a:t>Reliability</a:t>
            </a:r>
          </a:p>
        </p:txBody>
      </p:sp>
      <p:sp>
        <p:nvSpPr>
          <p:cNvPr id="23" name="Rectangle 22">
            <a:extLst>
              <a:ext uri="{FF2B5EF4-FFF2-40B4-BE49-F238E27FC236}">
                <a16:creationId xmlns:a16="http://schemas.microsoft.com/office/drawing/2014/main" id="{B82CCD5E-DBBD-40E0-9CC0-CC71CC998AA7}"/>
              </a:ext>
            </a:extLst>
          </p:cNvPr>
          <p:cNvSpPr>
            <a:spLocks noGrp="1"/>
          </p:cNvSpPr>
          <p:nvPr/>
        </p:nvSpPr>
        <p:spPr>
          <a:xfrm>
            <a:off x="8191500" y="2219325"/>
            <a:ext cx="619125" cy="228600"/>
          </a:xfrm>
          <a:prstGeom prst="rect">
            <a:avLst/>
          </a:prstGeom>
          <a:noFill/>
          <a:ln w="0">
            <a:noFill/>
          </a:ln>
        </p:spPr>
        <p:txBody>
          <a:bodyPr wrap="square" lIns="0" tIns="0" rIns="0" bIns="0" anchor="t">
            <a:normAutofit/>
          </a:bodyPr>
          <a:lstStyle/>
          <a:p>
            <a:pPr algn="ctr">
              <a:lnSpc>
                <a:spcPct val="100000"/>
              </a:lnSpc>
              <a:buNone/>
              <a:defRPr sz="1313" b="1" i="0">
                <a:solidFill>
                  <a:srgbClr val="A31F34"/>
                </a:solidFill>
                <a:latin typeface="Calibri"/>
                <a:ea typeface="Calibri"/>
                <a:cs typeface="Calibri"/>
              </a:defRPr>
            </a:pPr>
            <a:r>
              <a:rPr sz="1313" b="1" i="0">
                <a:solidFill>
                  <a:srgbClr val="A31F34"/>
                </a:solidFill>
                <a:latin typeface="Calibri"/>
                <a:ea typeface="Calibri"/>
                <a:cs typeface="Calibri"/>
              </a:rPr>
              <a:t>0.860</a:t>
            </a:r>
          </a:p>
        </p:txBody>
      </p:sp>
      <p:sp>
        <p:nvSpPr>
          <p:cNvPr id="24" name="Rectangle 23">
            <a:extLst>
              <a:ext uri="{FF2B5EF4-FFF2-40B4-BE49-F238E27FC236}">
                <a16:creationId xmlns:a16="http://schemas.microsoft.com/office/drawing/2014/main" id="{0CDC2946-1573-4F53-B414-236B142DABDF}"/>
              </a:ext>
            </a:extLst>
          </p:cNvPr>
          <p:cNvSpPr>
            <a:spLocks noGrp="1"/>
          </p:cNvSpPr>
          <p:nvPr/>
        </p:nvSpPr>
        <p:spPr>
          <a:xfrm>
            <a:off x="8915400" y="2219325"/>
            <a:ext cx="619125" cy="228600"/>
          </a:xfrm>
          <a:prstGeom prst="rect">
            <a:avLst/>
          </a:prstGeom>
          <a:noFill/>
          <a:ln w="0">
            <a:noFill/>
          </a:ln>
        </p:spPr>
        <p:txBody>
          <a:bodyPr wrap="square" lIns="0" tIns="0" rIns="0" bIns="0" anchor="t">
            <a:normAutofit/>
          </a:bodyPr>
          <a:lstStyle/>
          <a:p>
            <a:pPr algn="ctr">
              <a:lnSpc>
                <a:spcPct val="100000"/>
              </a:lnSpc>
              <a:buNone/>
              <a:defRPr sz="1313" b="1" i="0">
                <a:solidFill>
                  <a:srgbClr val="087E8B"/>
                </a:solidFill>
                <a:latin typeface="Calibri"/>
                <a:ea typeface="Calibri"/>
                <a:cs typeface="Calibri"/>
              </a:defRPr>
            </a:pPr>
            <a:r>
              <a:rPr sz="1313" b="1" i="0">
                <a:solidFill>
                  <a:srgbClr val="087E8B"/>
                </a:solidFill>
                <a:latin typeface="Calibri"/>
                <a:ea typeface="Calibri"/>
                <a:cs typeface="Calibri"/>
              </a:rPr>
              <a:t>1.000</a:t>
            </a:r>
          </a:p>
        </p:txBody>
      </p:sp>
      <p:sp>
        <p:nvSpPr>
          <p:cNvPr id="25" name="Rounded Rectangle 24">
            <a:extLst>
              <a:ext uri="{FF2B5EF4-FFF2-40B4-BE49-F238E27FC236}">
                <a16:creationId xmlns:a16="http://schemas.microsoft.com/office/drawing/2014/main" id="{4E40746F-C92A-4CCB-9F11-1853E72E204B}"/>
              </a:ext>
            </a:extLst>
          </p:cNvPr>
          <p:cNvSpPr>
            <a:spLocks noGrp="1"/>
          </p:cNvSpPr>
          <p:nvPr/>
        </p:nvSpPr>
        <p:spPr>
          <a:xfrm>
            <a:off x="9848850" y="1447800"/>
            <a:ext cx="1581150" cy="1066800"/>
          </a:xfrm>
          <a:prstGeom prst="roundRect">
            <a:avLst>
              <a:gd name="adj" fmla="val 6250"/>
            </a:avLst>
          </a:prstGeom>
          <a:solidFill>
            <a:srgbClr val="F7E9EC"/>
          </a:solidFill>
          <a:ln w="14288">
            <a:solidFill>
              <a:srgbClr val="E6BBC4"/>
            </a:solidFill>
            <a:prstDash val="solid"/>
          </a:ln>
        </p:spPr>
        <p:txBody>
          <a:bodyPr/>
          <a:lstStyle/>
          <a:p>
            <a:endParaRPr lang="en-US"/>
          </a:p>
        </p:txBody>
      </p:sp>
      <p:sp>
        <p:nvSpPr>
          <p:cNvPr id="26" name="Rectangle 25">
            <a:extLst>
              <a:ext uri="{FF2B5EF4-FFF2-40B4-BE49-F238E27FC236}">
                <a16:creationId xmlns:a16="http://schemas.microsoft.com/office/drawing/2014/main" id="{B6433ED6-8BAD-48B6-AD6F-9C3E6233F790}"/>
              </a:ext>
            </a:extLst>
          </p:cNvPr>
          <p:cNvSpPr>
            <a:spLocks noGrp="1"/>
          </p:cNvSpPr>
          <p:nvPr/>
        </p:nvSpPr>
        <p:spPr>
          <a:xfrm>
            <a:off x="9963150" y="1552575"/>
            <a:ext cx="476250" cy="266700"/>
          </a:xfrm>
          <a:prstGeom prst="rect">
            <a:avLst/>
          </a:prstGeom>
          <a:noFill/>
          <a:ln w="0">
            <a:noFill/>
          </a:ln>
        </p:spPr>
        <p:txBody>
          <a:bodyPr wrap="square" lIns="0" tIns="0" rIns="0" bIns="0" anchor="t">
            <a:normAutofit/>
          </a:bodyPr>
          <a:lstStyle/>
          <a:p>
            <a:pPr algn="l">
              <a:lnSpc>
                <a:spcPct val="100000"/>
              </a:lnSpc>
              <a:buNone/>
              <a:defRPr sz="1350" b="1" i="0">
                <a:solidFill>
                  <a:srgbClr val="A31F34"/>
                </a:solidFill>
                <a:latin typeface="Calibri"/>
                <a:ea typeface="Calibri"/>
                <a:cs typeface="Calibri"/>
              </a:defRPr>
            </a:pPr>
            <a:r>
              <a:rPr sz="1350" b="1" i="0">
                <a:solidFill>
                  <a:srgbClr val="A31F34"/>
                </a:solidFill>
                <a:latin typeface="Calibri"/>
                <a:ea typeface="Calibri"/>
                <a:cs typeface="Calibri"/>
              </a:rPr>
              <a:t>7.1</a:t>
            </a:r>
          </a:p>
        </p:txBody>
      </p:sp>
      <p:sp>
        <p:nvSpPr>
          <p:cNvPr id="27" name="Rectangle 26">
            <a:extLst>
              <a:ext uri="{FF2B5EF4-FFF2-40B4-BE49-F238E27FC236}">
                <a16:creationId xmlns:a16="http://schemas.microsoft.com/office/drawing/2014/main" id="{0439EB07-5241-4DD9-A4DD-F15737031859}"/>
              </a:ext>
            </a:extLst>
          </p:cNvPr>
          <p:cNvSpPr>
            <a:spLocks noGrp="1"/>
          </p:cNvSpPr>
          <p:nvPr/>
        </p:nvSpPr>
        <p:spPr>
          <a:xfrm>
            <a:off x="9963150" y="1847850"/>
            <a:ext cx="1352550" cy="323850"/>
          </a:xfrm>
          <a:prstGeom prst="rect">
            <a:avLst/>
          </a:prstGeom>
          <a:noFill/>
          <a:ln w="0">
            <a:noFill/>
          </a:ln>
        </p:spPr>
        <p:txBody>
          <a:bodyPr wrap="square" lIns="0" tIns="0" rIns="0" bIns="0" anchor="ctr">
            <a:normAutofit fontScale="97656" lnSpcReduction="10000"/>
          </a:bodyPr>
          <a:lstStyle/>
          <a:p>
            <a:pPr algn="ctr">
              <a:lnSpc>
                <a:spcPct val="100000"/>
              </a:lnSpc>
              <a:buNone/>
              <a:defRPr sz="1088" b="1" i="0">
                <a:solidFill>
                  <a:srgbClr val="5E5E5E"/>
                </a:solidFill>
                <a:latin typeface="Calibri"/>
                <a:ea typeface="Calibri"/>
                <a:cs typeface="Calibri"/>
              </a:defRPr>
            </a:pPr>
            <a:r>
              <a:rPr sz="1088" b="1" i="0">
                <a:solidFill>
                  <a:srgbClr val="5E5E5E"/>
                </a:solidFill>
                <a:latin typeface="Calibri"/>
                <a:ea typeface="Calibri"/>
                <a:cs typeface="Calibri"/>
              </a:rPr>
              <a:t>Safeguards + table path</a:t>
            </a:r>
          </a:p>
        </p:txBody>
      </p:sp>
      <p:sp>
        <p:nvSpPr>
          <p:cNvPr id="28" name="Rectangle 27">
            <a:extLst>
              <a:ext uri="{FF2B5EF4-FFF2-40B4-BE49-F238E27FC236}">
                <a16:creationId xmlns:a16="http://schemas.microsoft.com/office/drawing/2014/main" id="{F70D4622-9EB5-447B-B009-AB21DB232247}"/>
              </a:ext>
            </a:extLst>
          </p:cNvPr>
          <p:cNvSpPr>
            <a:spLocks noGrp="1"/>
          </p:cNvSpPr>
          <p:nvPr/>
        </p:nvSpPr>
        <p:spPr>
          <a:xfrm>
            <a:off x="9963150" y="2219325"/>
            <a:ext cx="619125" cy="228600"/>
          </a:xfrm>
          <a:prstGeom prst="rect">
            <a:avLst/>
          </a:prstGeom>
          <a:noFill/>
          <a:ln w="0">
            <a:noFill/>
          </a:ln>
        </p:spPr>
        <p:txBody>
          <a:bodyPr wrap="square" lIns="0" tIns="0" rIns="0" bIns="0" anchor="t">
            <a:normAutofit/>
          </a:bodyPr>
          <a:lstStyle/>
          <a:p>
            <a:pPr algn="ctr">
              <a:lnSpc>
                <a:spcPct val="100000"/>
              </a:lnSpc>
              <a:buNone/>
              <a:defRPr sz="1313" b="1" i="0">
                <a:solidFill>
                  <a:srgbClr val="A31F34"/>
                </a:solidFill>
                <a:latin typeface="Calibri"/>
                <a:ea typeface="Calibri"/>
                <a:cs typeface="Calibri"/>
              </a:defRPr>
            </a:pPr>
            <a:r>
              <a:rPr sz="1313" b="1" i="0">
                <a:solidFill>
                  <a:srgbClr val="A31F34"/>
                </a:solidFill>
                <a:latin typeface="Calibri"/>
                <a:ea typeface="Calibri"/>
                <a:cs typeface="Calibri"/>
              </a:rPr>
              <a:t>0.933</a:t>
            </a:r>
          </a:p>
        </p:txBody>
      </p:sp>
      <p:sp>
        <p:nvSpPr>
          <p:cNvPr id="29" name="Rectangle 28">
            <a:extLst>
              <a:ext uri="{FF2B5EF4-FFF2-40B4-BE49-F238E27FC236}">
                <a16:creationId xmlns:a16="http://schemas.microsoft.com/office/drawing/2014/main" id="{DCC4AB99-267E-489F-9227-48A8EE6490E7}"/>
              </a:ext>
            </a:extLst>
          </p:cNvPr>
          <p:cNvSpPr>
            <a:spLocks noGrp="1"/>
          </p:cNvSpPr>
          <p:nvPr/>
        </p:nvSpPr>
        <p:spPr>
          <a:xfrm>
            <a:off x="10687050" y="2219325"/>
            <a:ext cx="619125" cy="228600"/>
          </a:xfrm>
          <a:prstGeom prst="rect">
            <a:avLst/>
          </a:prstGeom>
          <a:noFill/>
          <a:ln w="0">
            <a:noFill/>
          </a:ln>
        </p:spPr>
        <p:txBody>
          <a:bodyPr wrap="square" lIns="0" tIns="0" rIns="0" bIns="0" anchor="t">
            <a:normAutofit/>
          </a:bodyPr>
          <a:lstStyle/>
          <a:p>
            <a:pPr algn="ctr">
              <a:lnSpc>
                <a:spcPct val="100000"/>
              </a:lnSpc>
              <a:buNone/>
              <a:defRPr sz="1313" b="1" i="0">
                <a:solidFill>
                  <a:srgbClr val="087E8B"/>
                </a:solidFill>
                <a:latin typeface="Calibri"/>
                <a:ea typeface="Calibri"/>
                <a:cs typeface="Calibri"/>
              </a:defRPr>
            </a:pPr>
            <a:r>
              <a:rPr sz="1313" b="1" i="0">
                <a:solidFill>
                  <a:srgbClr val="087E8B"/>
                </a:solidFill>
                <a:latin typeface="Calibri"/>
                <a:ea typeface="Calibri"/>
                <a:cs typeface="Calibri"/>
              </a:rPr>
              <a:t>0.993</a:t>
            </a:r>
          </a:p>
        </p:txBody>
      </p:sp>
      <p:sp>
        <p:nvSpPr>
          <p:cNvPr id="30" name="Rounded Rectangle 29">
            <a:extLst>
              <a:ext uri="{FF2B5EF4-FFF2-40B4-BE49-F238E27FC236}">
                <a16:creationId xmlns:a16="http://schemas.microsoft.com/office/drawing/2014/main" id="{62A6F855-9B45-4D00-9DB9-B404FF49C2F2}"/>
              </a:ext>
            </a:extLst>
          </p:cNvPr>
          <p:cNvSpPr>
            <a:spLocks noGrp="1"/>
          </p:cNvSpPr>
          <p:nvPr/>
        </p:nvSpPr>
        <p:spPr>
          <a:xfrm>
            <a:off x="714375" y="2952750"/>
            <a:ext cx="10763250" cy="2533650"/>
          </a:xfrm>
          <a:prstGeom prst="roundRect">
            <a:avLst>
              <a:gd name="adj" fmla="val 3008"/>
            </a:avLst>
          </a:prstGeom>
          <a:solidFill>
            <a:srgbClr val="FFFFFF"/>
          </a:solidFill>
          <a:ln w="9525">
            <a:solidFill>
              <a:srgbClr val="D8D8D8"/>
            </a:solidFill>
            <a:prstDash val="solid"/>
          </a:ln>
        </p:spPr>
        <p:txBody>
          <a:bodyPr/>
          <a:lstStyle/>
          <a:p>
            <a:endParaRPr lang="en-US"/>
          </a:p>
        </p:txBody>
      </p:sp>
      <p:sp>
        <p:nvSpPr>
          <p:cNvPr id="31" name="Rectangle 30">
            <a:extLst>
              <a:ext uri="{FF2B5EF4-FFF2-40B4-BE49-F238E27FC236}">
                <a16:creationId xmlns:a16="http://schemas.microsoft.com/office/drawing/2014/main" id="{8B928645-1B0B-4DC5-A6C7-983D227B4B59}"/>
              </a:ext>
            </a:extLst>
          </p:cNvPr>
          <p:cNvSpPr>
            <a:spLocks noGrp="1"/>
          </p:cNvSpPr>
          <p:nvPr/>
        </p:nvSpPr>
        <p:spPr>
          <a:xfrm>
            <a:off x="933450" y="3143250"/>
            <a:ext cx="1238250" cy="266700"/>
          </a:xfrm>
          <a:prstGeom prst="rect">
            <a:avLst/>
          </a:prstGeom>
          <a:noFill/>
          <a:ln w="0">
            <a:noFill/>
          </a:ln>
        </p:spPr>
        <p:txBody>
          <a:bodyPr wrap="square" lIns="0" tIns="0" rIns="0" bIns="0" anchor="t">
            <a:normAutofit/>
          </a:bodyPr>
          <a:lstStyle/>
          <a:p>
            <a:pPr algn="l">
              <a:lnSpc>
                <a:spcPct val="100000"/>
              </a:lnSpc>
              <a:buNone/>
              <a:defRPr sz="1125" b="1" i="0">
                <a:solidFill>
                  <a:srgbClr val="5E5E5E"/>
                </a:solidFill>
                <a:latin typeface="Calibri"/>
                <a:ea typeface="Calibri"/>
                <a:cs typeface="Calibri"/>
              </a:defRPr>
            </a:pPr>
            <a:r>
              <a:rPr sz="1125" b="1" i="0">
                <a:solidFill>
                  <a:srgbClr val="5E5E5E"/>
                </a:solidFill>
                <a:latin typeface="Calibri"/>
                <a:ea typeface="Calibri"/>
                <a:cs typeface="Calibri"/>
              </a:rPr>
              <a:t>CHECKPOINT</a:t>
            </a:r>
          </a:p>
        </p:txBody>
      </p:sp>
      <p:sp>
        <p:nvSpPr>
          <p:cNvPr id="32" name="Rectangle 31">
            <a:extLst>
              <a:ext uri="{FF2B5EF4-FFF2-40B4-BE49-F238E27FC236}">
                <a16:creationId xmlns:a16="http://schemas.microsoft.com/office/drawing/2014/main" id="{D1E8639B-225B-4C81-B0FD-903BCBF520D0}"/>
              </a:ext>
            </a:extLst>
          </p:cNvPr>
          <p:cNvSpPr>
            <a:spLocks noGrp="1"/>
          </p:cNvSpPr>
          <p:nvPr/>
        </p:nvSpPr>
        <p:spPr>
          <a:xfrm>
            <a:off x="2381250" y="3143250"/>
            <a:ext cx="2381250" cy="266700"/>
          </a:xfrm>
          <a:prstGeom prst="rect">
            <a:avLst/>
          </a:prstGeom>
          <a:noFill/>
          <a:ln w="0">
            <a:noFill/>
          </a:ln>
        </p:spPr>
        <p:txBody>
          <a:bodyPr wrap="square" lIns="0" tIns="0" rIns="0" bIns="0" anchor="t">
            <a:normAutofit/>
          </a:bodyPr>
          <a:lstStyle/>
          <a:p>
            <a:pPr algn="l">
              <a:lnSpc>
                <a:spcPct val="100000"/>
              </a:lnSpc>
              <a:buNone/>
              <a:defRPr sz="1125" b="1" i="0">
                <a:solidFill>
                  <a:srgbClr val="5E5E5E"/>
                </a:solidFill>
                <a:latin typeface="Calibri"/>
                <a:ea typeface="Calibri"/>
                <a:cs typeface="Calibri"/>
              </a:defRPr>
            </a:pPr>
            <a:r>
              <a:rPr sz="1125" b="1" i="0">
                <a:solidFill>
                  <a:srgbClr val="5E5E5E"/>
                </a:solidFill>
                <a:latin typeface="Calibri"/>
                <a:ea typeface="Calibri"/>
                <a:cs typeface="Calibri"/>
              </a:rPr>
              <a:t>ENGINEERING CHANGE</a:t>
            </a:r>
          </a:p>
        </p:txBody>
      </p:sp>
      <p:sp>
        <p:nvSpPr>
          <p:cNvPr id="33" name="Rectangle 32">
            <a:extLst>
              <a:ext uri="{FF2B5EF4-FFF2-40B4-BE49-F238E27FC236}">
                <a16:creationId xmlns:a16="http://schemas.microsoft.com/office/drawing/2014/main" id="{E597AEF6-8C45-4E7C-A1AA-D23F94BECE15}"/>
              </a:ext>
            </a:extLst>
          </p:cNvPr>
          <p:cNvSpPr>
            <a:spLocks noGrp="1"/>
          </p:cNvSpPr>
          <p:nvPr/>
        </p:nvSpPr>
        <p:spPr>
          <a:xfrm>
            <a:off x="5810250" y="3143250"/>
            <a:ext cx="3619500" cy="266700"/>
          </a:xfrm>
          <a:prstGeom prst="rect">
            <a:avLst/>
          </a:prstGeom>
          <a:noFill/>
          <a:ln w="0">
            <a:noFill/>
          </a:ln>
        </p:spPr>
        <p:txBody>
          <a:bodyPr wrap="square" lIns="0" tIns="0" rIns="0" bIns="0" anchor="t">
            <a:normAutofit/>
          </a:bodyPr>
          <a:lstStyle/>
          <a:p>
            <a:pPr algn="l">
              <a:lnSpc>
                <a:spcPct val="100000"/>
              </a:lnSpc>
              <a:buNone/>
              <a:defRPr sz="1125" b="1" i="0">
                <a:solidFill>
                  <a:srgbClr val="5E5E5E"/>
                </a:solidFill>
                <a:latin typeface="Calibri"/>
                <a:ea typeface="Calibri"/>
                <a:cs typeface="Calibri"/>
              </a:defRPr>
            </a:pPr>
            <a:r>
              <a:rPr sz="1125" b="1" i="0">
                <a:solidFill>
                  <a:srgbClr val="5E5E5E"/>
                </a:solidFill>
                <a:latin typeface="Calibri"/>
                <a:ea typeface="Calibri"/>
                <a:cs typeface="Calibri"/>
              </a:rPr>
              <a:t>WHAT THE NUMBER REVEALED</a:t>
            </a:r>
          </a:p>
        </p:txBody>
      </p:sp>
      <p:sp>
        <p:nvSpPr>
          <p:cNvPr id="34" name="Rectangle 33">
            <a:extLst>
              <a:ext uri="{FF2B5EF4-FFF2-40B4-BE49-F238E27FC236}">
                <a16:creationId xmlns:a16="http://schemas.microsoft.com/office/drawing/2014/main" id="{88779E6A-8423-4D35-9918-21C66A427A37}"/>
              </a:ext>
            </a:extLst>
          </p:cNvPr>
          <p:cNvSpPr>
            <a:spLocks noGrp="1"/>
          </p:cNvSpPr>
          <p:nvPr/>
        </p:nvSpPr>
        <p:spPr>
          <a:xfrm>
            <a:off x="1000125" y="3486150"/>
            <a:ext cx="857250" cy="266700"/>
          </a:xfrm>
          <a:prstGeom prst="rect">
            <a:avLst/>
          </a:prstGeom>
          <a:noFill/>
          <a:ln w="0">
            <a:noFill/>
          </a:ln>
        </p:spPr>
        <p:txBody>
          <a:bodyPr wrap="square" lIns="0" tIns="0" rIns="0" bIns="0" anchor="t">
            <a:normAutofit/>
          </a:bodyPr>
          <a:lstStyle/>
          <a:p>
            <a:pPr algn="l">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3.1</a:t>
            </a:r>
          </a:p>
        </p:txBody>
      </p:sp>
      <p:sp>
        <p:nvSpPr>
          <p:cNvPr id="35" name="Rectangle 34">
            <a:extLst>
              <a:ext uri="{FF2B5EF4-FFF2-40B4-BE49-F238E27FC236}">
                <a16:creationId xmlns:a16="http://schemas.microsoft.com/office/drawing/2014/main" id="{DBEECAC2-7338-4F55-8E3D-B795255C0203}"/>
              </a:ext>
            </a:extLst>
          </p:cNvPr>
          <p:cNvSpPr>
            <a:spLocks noGrp="1"/>
          </p:cNvSpPr>
          <p:nvPr/>
        </p:nvSpPr>
        <p:spPr>
          <a:xfrm>
            <a:off x="2381250" y="3486150"/>
            <a:ext cx="2857500" cy="266700"/>
          </a:xfrm>
          <a:prstGeom prst="rect">
            <a:avLst/>
          </a:prstGeom>
          <a:noFill/>
          <a:ln w="0">
            <a:noFill/>
          </a:ln>
        </p:spPr>
        <p:txBody>
          <a:bodyPr wrap="square" lIns="0" tIns="0" rIns="0" bIns="0" anchor="t">
            <a:normAutofit/>
          </a:bodyPr>
          <a:lstStyle/>
          <a:p>
            <a:pPr algn="l">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Vector baseline</a:t>
            </a:r>
          </a:p>
        </p:txBody>
      </p:sp>
      <p:sp>
        <p:nvSpPr>
          <p:cNvPr id="36" name="Rectangle 35">
            <a:extLst>
              <a:ext uri="{FF2B5EF4-FFF2-40B4-BE49-F238E27FC236}">
                <a16:creationId xmlns:a16="http://schemas.microsoft.com/office/drawing/2014/main" id="{D0A3F2AD-8DDB-4A9C-93C2-CDE161530EE9}"/>
              </a:ext>
            </a:extLst>
          </p:cNvPr>
          <p:cNvSpPr>
            <a:spLocks noGrp="1"/>
          </p:cNvSpPr>
          <p:nvPr/>
        </p:nvSpPr>
        <p:spPr>
          <a:xfrm>
            <a:off x="5810250" y="3486150"/>
            <a:ext cx="5143500" cy="266700"/>
          </a:xfrm>
          <a:prstGeom prst="rect">
            <a:avLst/>
          </a:prstGeom>
          <a:noFill/>
          <a:ln w="0">
            <a:noFill/>
          </a:ln>
        </p:spPr>
        <p:txBody>
          <a:bodyPr wrap="square" lIns="0" tIns="0" rIns="0" bIns="0" anchor="t">
            <a:normAutofit/>
          </a:bodyPr>
          <a:lstStyle/>
          <a:p>
            <a:pPr algn="l">
              <a:lnSpc>
                <a:spcPct val="100000"/>
              </a:lnSpc>
              <a:buNone/>
              <a:defRPr sz="1163" b="0" i="0">
                <a:solidFill>
                  <a:srgbClr val="5E5E5E"/>
                </a:solidFill>
                <a:latin typeface="Calibri"/>
                <a:ea typeface="Calibri"/>
                <a:cs typeface="Calibri"/>
              </a:defRPr>
            </a:pPr>
            <a:r>
              <a:rPr sz="1163" b="0" i="0">
                <a:solidFill>
                  <a:srgbClr val="5E5E5E"/>
                </a:solidFill>
                <a:latin typeface="Calibri"/>
                <a:ea typeface="Calibri"/>
                <a:cs typeface="Calibri"/>
              </a:rPr>
              <a:t>Measured retrieval baseline</a:t>
            </a:r>
          </a:p>
        </p:txBody>
      </p:sp>
      <p:sp>
        <p:nvSpPr>
          <p:cNvPr id="37" name="Rectangle 36">
            <a:extLst>
              <a:ext uri="{FF2B5EF4-FFF2-40B4-BE49-F238E27FC236}">
                <a16:creationId xmlns:a16="http://schemas.microsoft.com/office/drawing/2014/main" id="{7ADFC1C7-E5F3-4DD0-AD31-7A0486A486CD}"/>
              </a:ext>
            </a:extLst>
          </p:cNvPr>
          <p:cNvSpPr>
            <a:spLocks noGrp="1"/>
          </p:cNvSpPr>
          <p:nvPr/>
        </p:nvSpPr>
        <p:spPr>
          <a:xfrm>
            <a:off x="838200" y="3829050"/>
            <a:ext cx="10525125" cy="361950"/>
          </a:xfrm>
          <a:prstGeom prst="rect">
            <a:avLst/>
          </a:prstGeom>
          <a:solidFill>
            <a:srgbClr val="F3F3F3"/>
          </a:solidFill>
          <a:ln w="0">
            <a:noFill/>
          </a:ln>
        </p:spPr>
        <p:txBody>
          <a:bodyPr/>
          <a:lstStyle/>
          <a:p>
            <a:endParaRPr lang="en-US"/>
          </a:p>
        </p:txBody>
      </p:sp>
      <p:sp>
        <p:nvSpPr>
          <p:cNvPr id="38" name="Rectangle 37">
            <a:extLst>
              <a:ext uri="{FF2B5EF4-FFF2-40B4-BE49-F238E27FC236}">
                <a16:creationId xmlns:a16="http://schemas.microsoft.com/office/drawing/2014/main" id="{694EE34E-D46B-4E01-A2F6-ACED894E54E1}"/>
              </a:ext>
            </a:extLst>
          </p:cNvPr>
          <p:cNvSpPr>
            <a:spLocks noGrp="1"/>
          </p:cNvSpPr>
          <p:nvPr/>
        </p:nvSpPr>
        <p:spPr>
          <a:xfrm>
            <a:off x="1000125" y="3867150"/>
            <a:ext cx="857250" cy="266700"/>
          </a:xfrm>
          <a:prstGeom prst="rect">
            <a:avLst/>
          </a:prstGeom>
          <a:noFill/>
          <a:ln w="0">
            <a:noFill/>
          </a:ln>
        </p:spPr>
        <p:txBody>
          <a:bodyPr wrap="square" lIns="0" tIns="0" rIns="0" bIns="0" anchor="t">
            <a:normAutofit/>
          </a:bodyPr>
          <a:lstStyle/>
          <a:p>
            <a:pPr algn="l">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4.1</a:t>
            </a:r>
          </a:p>
        </p:txBody>
      </p:sp>
      <p:sp>
        <p:nvSpPr>
          <p:cNvPr id="39" name="Rectangle 38">
            <a:extLst>
              <a:ext uri="{FF2B5EF4-FFF2-40B4-BE49-F238E27FC236}">
                <a16:creationId xmlns:a16="http://schemas.microsoft.com/office/drawing/2014/main" id="{291FC5A8-DAF2-47A3-9055-3B9BF73C96E8}"/>
              </a:ext>
            </a:extLst>
          </p:cNvPr>
          <p:cNvSpPr>
            <a:spLocks noGrp="1"/>
          </p:cNvSpPr>
          <p:nvPr/>
        </p:nvSpPr>
        <p:spPr>
          <a:xfrm>
            <a:off x="2381250" y="3867150"/>
            <a:ext cx="2857500" cy="266700"/>
          </a:xfrm>
          <a:prstGeom prst="rect">
            <a:avLst/>
          </a:prstGeom>
          <a:noFill/>
          <a:ln w="0">
            <a:noFill/>
          </a:ln>
        </p:spPr>
        <p:txBody>
          <a:bodyPr wrap="square" lIns="0" tIns="0" rIns="0" bIns="0" anchor="t">
            <a:normAutofit/>
          </a:bodyPr>
          <a:lstStyle/>
          <a:p>
            <a:pPr algn="l">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Graph fallback</a:t>
            </a:r>
          </a:p>
        </p:txBody>
      </p:sp>
      <p:sp>
        <p:nvSpPr>
          <p:cNvPr id="40" name="Rectangle 39">
            <a:extLst>
              <a:ext uri="{FF2B5EF4-FFF2-40B4-BE49-F238E27FC236}">
                <a16:creationId xmlns:a16="http://schemas.microsoft.com/office/drawing/2014/main" id="{D9952AFF-22C3-43F6-B738-566D859EA6EB}"/>
              </a:ext>
            </a:extLst>
          </p:cNvPr>
          <p:cNvSpPr>
            <a:spLocks noGrp="1"/>
          </p:cNvSpPr>
          <p:nvPr/>
        </p:nvSpPr>
        <p:spPr>
          <a:xfrm>
            <a:off x="5810250" y="3867150"/>
            <a:ext cx="5143500" cy="266700"/>
          </a:xfrm>
          <a:prstGeom prst="rect">
            <a:avLst/>
          </a:prstGeom>
          <a:noFill/>
          <a:ln w="0">
            <a:noFill/>
          </a:ln>
        </p:spPr>
        <p:txBody>
          <a:bodyPr wrap="square" lIns="0" tIns="0" rIns="0" bIns="0" anchor="t">
            <a:normAutofit/>
          </a:bodyPr>
          <a:lstStyle/>
          <a:p>
            <a:pPr algn="l">
              <a:lnSpc>
                <a:spcPct val="100000"/>
              </a:lnSpc>
              <a:buNone/>
              <a:defRPr sz="1163" b="0" i="0">
                <a:solidFill>
                  <a:srgbClr val="5E5E5E"/>
                </a:solidFill>
                <a:latin typeface="Calibri"/>
                <a:ea typeface="Calibri"/>
                <a:cs typeface="Calibri"/>
              </a:defRPr>
            </a:pPr>
            <a:r>
              <a:rPr sz="1163" b="0" i="0">
                <a:solidFill>
                  <a:srgbClr val="5E5E5E"/>
                </a:solidFill>
                <a:latin typeface="Calibri"/>
                <a:ea typeface="Calibri"/>
                <a:cs typeface="Calibri"/>
              </a:rPr>
              <a:t>More retrieval options; no quality lift</a:t>
            </a:r>
          </a:p>
        </p:txBody>
      </p:sp>
      <p:sp>
        <p:nvSpPr>
          <p:cNvPr id="41" name="Rectangle 40">
            <a:extLst>
              <a:ext uri="{FF2B5EF4-FFF2-40B4-BE49-F238E27FC236}">
                <a16:creationId xmlns:a16="http://schemas.microsoft.com/office/drawing/2014/main" id="{221932A2-A393-4955-A525-41EFAE2E289A}"/>
              </a:ext>
            </a:extLst>
          </p:cNvPr>
          <p:cNvSpPr>
            <a:spLocks noGrp="1"/>
          </p:cNvSpPr>
          <p:nvPr/>
        </p:nvSpPr>
        <p:spPr>
          <a:xfrm>
            <a:off x="1000125" y="4248150"/>
            <a:ext cx="857250" cy="266700"/>
          </a:xfrm>
          <a:prstGeom prst="rect">
            <a:avLst/>
          </a:prstGeom>
          <a:noFill/>
          <a:ln w="0">
            <a:noFill/>
          </a:ln>
        </p:spPr>
        <p:txBody>
          <a:bodyPr wrap="square" lIns="0" tIns="0" rIns="0" bIns="0" anchor="t">
            <a:normAutofit/>
          </a:bodyPr>
          <a:lstStyle/>
          <a:p>
            <a:pPr algn="l">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5.1</a:t>
            </a:r>
          </a:p>
        </p:txBody>
      </p:sp>
      <p:sp>
        <p:nvSpPr>
          <p:cNvPr id="42" name="Rectangle 41">
            <a:extLst>
              <a:ext uri="{FF2B5EF4-FFF2-40B4-BE49-F238E27FC236}">
                <a16:creationId xmlns:a16="http://schemas.microsoft.com/office/drawing/2014/main" id="{EB60E794-7F3F-4C68-82B1-A2DB871E43A6}"/>
              </a:ext>
            </a:extLst>
          </p:cNvPr>
          <p:cNvSpPr>
            <a:spLocks noGrp="1"/>
          </p:cNvSpPr>
          <p:nvPr/>
        </p:nvSpPr>
        <p:spPr>
          <a:xfrm>
            <a:off x="2381250" y="4248150"/>
            <a:ext cx="2857500" cy="266700"/>
          </a:xfrm>
          <a:prstGeom prst="rect">
            <a:avLst/>
          </a:prstGeom>
          <a:noFill/>
          <a:ln w="0">
            <a:noFill/>
          </a:ln>
        </p:spPr>
        <p:txBody>
          <a:bodyPr wrap="square" lIns="0" tIns="0" rIns="0" bIns="0" anchor="t">
            <a:normAutofit/>
          </a:bodyPr>
          <a:lstStyle/>
          <a:p>
            <a:pPr algn="l">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Agent + tables</a:t>
            </a:r>
          </a:p>
        </p:txBody>
      </p:sp>
      <p:sp>
        <p:nvSpPr>
          <p:cNvPr id="43" name="Rectangle 42">
            <a:extLst>
              <a:ext uri="{FF2B5EF4-FFF2-40B4-BE49-F238E27FC236}">
                <a16:creationId xmlns:a16="http://schemas.microsoft.com/office/drawing/2014/main" id="{59773CC2-A2E9-42F5-A563-0F4622D0E155}"/>
              </a:ext>
            </a:extLst>
          </p:cNvPr>
          <p:cNvSpPr>
            <a:spLocks noGrp="1"/>
          </p:cNvSpPr>
          <p:nvPr/>
        </p:nvSpPr>
        <p:spPr>
          <a:xfrm>
            <a:off x="5810250" y="4248150"/>
            <a:ext cx="5143500" cy="266700"/>
          </a:xfrm>
          <a:prstGeom prst="rect">
            <a:avLst/>
          </a:prstGeom>
          <a:noFill/>
          <a:ln w="0">
            <a:noFill/>
          </a:ln>
        </p:spPr>
        <p:txBody>
          <a:bodyPr wrap="square" lIns="0" tIns="0" rIns="0" bIns="0" anchor="t">
            <a:normAutofit/>
          </a:bodyPr>
          <a:lstStyle/>
          <a:p>
            <a:pPr algn="l">
              <a:lnSpc>
                <a:spcPct val="100000"/>
              </a:lnSpc>
              <a:buNone/>
              <a:defRPr sz="1163" b="0" i="0">
                <a:solidFill>
                  <a:srgbClr val="5E5E5E"/>
                </a:solidFill>
                <a:latin typeface="Calibri"/>
                <a:ea typeface="Calibri"/>
                <a:cs typeface="Calibri"/>
              </a:defRPr>
            </a:pPr>
            <a:r>
              <a:rPr sz="1163" b="0" i="0">
                <a:solidFill>
                  <a:srgbClr val="5E5E5E"/>
                </a:solidFill>
                <a:latin typeface="Calibri"/>
                <a:ea typeface="Calibri"/>
                <a:cs typeface="Calibri"/>
              </a:rPr>
              <a:t>Perfect recall; section/synthesis tension</a:t>
            </a:r>
          </a:p>
        </p:txBody>
      </p:sp>
      <p:sp>
        <p:nvSpPr>
          <p:cNvPr id="44" name="Rectangle 43">
            <a:extLst>
              <a:ext uri="{FF2B5EF4-FFF2-40B4-BE49-F238E27FC236}">
                <a16:creationId xmlns:a16="http://schemas.microsoft.com/office/drawing/2014/main" id="{6EEC2FCD-C42D-4ECC-BEB8-9465ECA2B878}"/>
              </a:ext>
            </a:extLst>
          </p:cNvPr>
          <p:cNvSpPr>
            <a:spLocks noGrp="1"/>
          </p:cNvSpPr>
          <p:nvPr/>
        </p:nvSpPr>
        <p:spPr>
          <a:xfrm>
            <a:off x="838200" y="4591050"/>
            <a:ext cx="10525125" cy="361950"/>
          </a:xfrm>
          <a:prstGeom prst="rect">
            <a:avLst/>
          </a:prstGeom>
          <a:solidFill>
            <a:srgbClr val="F3F3F3"/>
          </a:solidFill>
          <a:ln w="0">
            <a:noFill/>
          </a:ln>
        </p:spPr>
        <p:txBody>
          <a:bodyPr/>
          <a:lstStyle/>
          <a:p>
            <a:endParaRPr lang="en-US"/>
          </a:p>
        </p:txBody>
      </p:sp>
      <p:sp>
        <p:nvSpPr>
          <p:cNvPr id="45" name="Rectangle 44">
            <a:extLst>
              <a:ext uri="{FF2B5EF4-FFF2-40B4-BE49-F238E27FC236}">
                <a16:creationId xmlns:a16="http://schemas.microsoft.com/office/drawing/2014/main" id="{DC8A9701-9AA5-4676-9473-FB44CDCA0216}"/>
              </a:ext>
            </a:extLst>
          </p:cNvPr>
          <p:cNvSpPr>
            <a:spLocks noGrp="1"/>
          </p:cNvSpPr>
          <p:nvPr/>
        </p:nvSpPr>
        <p:spPr>
          <a:xfrm>
            <a:off x="1000125" y="4629150"/>
            <a:ext cx="857250" cy="266700"/>
          </a:xfrm>
          <a:prstGeom prst="rect">
            <a:avLst/>
          </a:prstGeom>
          <a:noFill/>
          <a:ln w="0">
            <a:noFill/>
          </a:ln>
        </p:spPr>
        <p:txBody>
          <a:bodyPr wrap="square" lIns="0" tIns="0" rIns="0" bIns="0" anchor="t">
            <a:normAutofit/>
          </a:bodyPr>
          <a:lstStyle/>
          <a:p>
            <a:pPr algn="l">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6.1</a:t>
            </a:r>
          </a:p>
        </p:txBody>
      </p:sp>
      <p:sp>
        <p:nvSpPr>
          <p:cNvPr id="46" name="Rectangle 45">
            <a:extLst>
              <a:ext uri="{FF2B5EF4-FFF2-40B4-BE49-F238E27FC236}">
                <a16:creationId xmlns:a16="http://schemas.microsoft.com/office/drawing/2014/main" id="{7B438CAD-D133-4B1D-8810-2CD23823F145}"/>
              </a:ext>
            </a:extLst>
          </p:cNvPr>
          <p:cNvSpPr>
            <a:spLocks noGrp="1"/>
          </p:cNvSpPr>
          <p:nvPr/>
        </p:nvSpPr>
        <p:spPr>
          <a:xfrm>
            <a:off x="2381250" y="4629150"/>
            <a:ext cx="2857500" cy="266700"/>
          </a:xfrm>
          <a:prstGeom prst="rect">
            <a:avLst/>
          </a:prstGeom>
          <a:noFill/>
          <a:ln w="0">
            <a:noFill/>
          </a:ln>
        </p:spPr>
        <p:txBody>
          <a:bodyPr wrap="square" lIns="0" tIns="0" rIns="0" bIns="0" anchor="t">
            <a:normAutofit/>
          </a:bodyPr>
          <a:lstStyle/>
          <a:p>
            <a:pPr algn="l">
              <a:lnSpc>
                <a:spcPct val="100000"/>
              </a:lnSpc>
              <a:buNone/>
              <a:defRPr sz="1200" b="1" i="0">
                <a:solidFill>
                  <a:srgbClr val="111111"/>
                </a:solidFill>
                <a:latin typeface="Calibri"/>
                <a:ea typeface="Calibri"/>
                <a:cs typeface="Calibri"/>
              </a:defRPr>
            </a:pPr>
            <a:r>
              <a:rPr sz="1200" b="1" i="0">
                <a:solidFill>
                  <a:srgbClr val="111111"/>
                </a:solidFill>
                <a:latin typeface="Calibri"/>
                <a:ea typeface="Calibri"/>
                <a:cs typeface="Calibri"/>
              </a:rPr>
              <a:t>Reliability</a:t>
            </a:r>
          </a:p>
        </p:txBody>
      </p:sp>
      <p:sp>
        <p:nvSpPr>
          <p:cNvPr id="47" name="Rectangle 46">
            <a:extLst>
              <a:ext uri="{FF2B5EF4-FFF2-40B4-BE49-F238E27FC236}">
                <a16:creationId xmlns:a16="http://schemas.microsoft.com/office/drawing/2014/main" id="{32CD748F-5CE9-4C74-BBFD-500467E242E4}"/>
              </a:ext>
            </a:extLst>
          </p:cNvPr>
          <p:cNvSpPr>
            <a:spLocks noGrp="1"/>
          </p:cNvSpPr>
          <p:nvPr/>
        </p:nvSpPr>
        <p:spPr>
          <a:xfrm>
            <a:off x="5810250" y="4629150"/>
            <a:ext cx="5143500" cy="266700"/>
          </a:xfrm>
          <a:prstGeom prst="rect">
            <a:avLst/>
          </a:prstGeom>
          <a:noFill/>
          <a:ln w="0">
            <a:noFill/>
          </a:ln>
        </p:spPr>
        <p:txBody>
          <a:bodyPr wrap="square" lIns="0" tIns="0" rIns="0" bIns="0" anchor="t">
            <a:normAutofit/>
          </a:bodyPr>
          <a:lstStyle/>
          <a:p>
            <a:pPr algn="l">
              <a:lnSpc>
                <a:spcPct val="100000"/>
              </a:lnSpc>
              <a:buNone/>
              <a:defRPr sz="1163" b="0" i="0">
                <a:solidFill>
                  <a:srgbClr val="5E5E5E"/>
                </a:solidFill>
                <a:latin typeface="Calibri"/>
                <a:ea typeface="Calibri"/>
                <a:cs typeface="Calibri"/>
              </a:defRPr>
            </a:pPr>
            <a:r>
              <a:rPr sz="1163" b="0" i="0">
                <a:solidFill>
                  <a:srgbClr val="5E5E5E"/>
                </a:solidFill>
                <a:latin typeface="Calibri"/>
                <a:ea typeface="Calibri"/>
                <a:cs typeface="Calibri"/>
              </a:rPr>
              <a:t>Faster; text up, tables regressed</a:t>
            </a:r>
          </a:p>
        </p:txBody>
      </p:sp>
      <p:sp>
        <p:nvSpPr>
          <p:cNvPr id="48" name="Rectangle 47">
            <a:extLst>
              <a:ext uri="{FF2B5EF4-FFF2-40B4-BE49-F238E27FC236}">
                <a16:creationId xmlns:a16="http://schemas.microsoft.com/office/drawing/2014/main" id="{2977C375-9E1C-4B3A-A906-394F27DE8C6A}"/>
              </a:ext>
            </a:extLst>
          </p:cNvPr>
          <p:cNvSpPr>
            <a:spLocks noGrp="1"/>
          </p:cNvSpPr>
          <p:nvPr/>
        </p:nvSpPr>
        <p:spPr>
          <a:xfrm>
            <a:off x="1000125" y="5010150"/>
            <a:ext cx="857250" cy="266700"/>
          </a:xfrm>
          <a:prstGeom prst="rect">
            <a:avLst/>
          </a:prstGeom>
          <a:noFill/>
          <a:ln w="0">
            <a:noFill/>
          </a:ln>
        </p:spPr>
        <p:txBody>
          <a:bodyPr wrap="square" lIns="0" tIns="0" rIns="0" bIns="0" anchor="t">
            <a:normAutofit/>
          </a:bodyPr>
          <a:lstStyle/>
          <a:p>
            <a:pPr algn="l">
              <a:lnSpc>
                <a:spcPct val="100000"/>
              </a:lnSpc>
              <a:buNone/>
              <a:defRPr sz="1200" b="1" i="0">
                <a:solidFill>
                  <a:srgbClr val="A31F34"/>
                </a:solidFill>
                <a:latin typeface="Calibri"/>
                <a:ea typeface="Calibri"/>
                <a:cs typeface="Calibri"/>
              </a:defRPr>
            </a:pPr>
            <a:r>
              <a:rPr sz="1200" b="1" i="0">
                <a:solidFill>
                  <a:srgbClr val="A31F34"/>
                </a:solidFill>
                <a:latin typeface="Calibri"/>
                <a:ea typeface="Calibri"/>
                <a:cs typeface="Calibri"/>
              </a:rPr>
              <a:t>7.1</a:t>
            </a:r>
          </a:p>
        </p:txBody>
      </p:sp>
      <p:sp>
        <p:nvSpPr>
          <p:cNvPr id="49" name="Rectangle 48">
            <a:extLst>
              <a:ext uri="{FF2B5EF4-FFF2-40B4-BE49-F238E27FC236}">
                <a16:creationId xmlns:a16="http://schemas.microsoft.com/office/drawing/2014/main" id="{7E2544FE-281B-4A1C-BE06-6D27C4C24C10}"/>
              </a:ext>
            </a:extLst>
          </p:cNvPr>
          <p:cNvSpPr>
            <a:spLocks noGrp="1"/>
          </p:cNvSpPr>
          <p:nvPr/>
        </p:nvSpPr>
        <p:spPr>
          <a:xfrm>
            <a:off x="2381250" y="5010150"/>
            <a:ext cx="2857500" cy="266700"/>
          </a:xfrm>
          <a:prstGeom prst="rect">
            <a:avLst/>
          </a:prstGeom>
          <a:noFill/>
          <a:ln w="0">
            <a:noFill/>
          </a:ln>
        </p:spPr>
        <p:txBody>
          <a:bodyPr wrap="square" lIns="0" tIns="0" rIns="0" bIns="0" anchor="t">
            <a:normAutofit/>
          </a:bodyPr>
          <a:lstStyle/>
          <a:p>
            <a:pPr algn="l">
              <a:lnSpc>
                <a:spcPct val="100000"/>
              </a:lnSpc>
              <a:buNone/>
              <a:defRPr sz="1200" b="1" i="0">
                <a:solidFill>
                  <a:srgbClr val="7E1728"/>
                </a:solidFill>
                <a:latin typeface="Calibri"/>
                <a:ea typeface="Calibri"/>
                <a:cs typeface="Calibri"/>
              </a:defRPr>
            </a:pPr>
            <a:r>
              <a:rPr sz="1200" b="1" i="0">
                <a:solidFill>
                  <a:srgbClr val="7E1728"/>
                </a:solidFill>
                <a:latin typeface="Calibri"/>
                <a:ea typeface="Calibri"/>
                <a:cs typeface="Calibri"/>
              </a:rPr>
              <a:t>Safeguards + table path</a:t>
            </a:r>
          </a:p>
        </p:txBody>
      </p:sp>
      <p:sp>
        <p:nvSpPr>
          <p:cNvPr id="50" name="Rectangle 49">
            <a:extLst>
              <a:ext uri="{FF2B5EF4-FFF2-40B4-BE49-F238E27FC236}">
                <a16:creationId xmlns:a16="http://schemas.microsoft.com/office/drawing/2014/main" id="{FC768927-A7C1-4237-8111-58441A195B13}"/>
              </a:ext>
            </a:extLst>
          </p:cNvPr>
          <p:cNvSpPr>
            <a:spLocks noGrp="1"/>
          </p:cNvSpPr>
          <p:nvPr/>
        </p:nvSpPr>
        <p:spPr>
          <a:xfrm>
            <a:off x="5810250" y="5010150"/>
            <a:ext cx="5143500" cy="266700"/>
          </a:xfrm>
          <a:prstGeom prst="rect">
            <a:avLst/>
          </a:prstGeom>
          <a:noFill/>
          <a:ln w="0">
            <a:noFill/>
          </a:ln>
        </p:spPr>
        <p:txBody>
          <a:bodyPr wrap="square" lIns="0" tIns="0" rIns="0" bIns="0" anchor="t">
            <a:normAutofit/>
          </a:bodyPr>
          <a:lstStyle/>
          <a:p>
            <a:pPr algn="l">
              <a:lnSpc>
                <a:spcPct val="100000"/>
              </a:lnSpc>
              <a:buNone/>
              <a:defRPr sz="1163" b="0" i="0">
                <a:solidFill>
                  <a:srgbClr val="5E5E5E"/>
                </a:solidFill>
                <a:latin typeface="Calibri"/>
                <a:ea typeface="Calibri"/>
                <a:cs typeface="Calibri"/>
              </a:defRPr>
            </a:pPr>
            <a:r>
              <a:rPr sz="1163" b="0" i="0">
                <a:solidFill>
                  <a:srgbClr val="5E5E5E"/>
                </a:solidFill>
                <a:latin typeface="Calibri"/>
                <a:ea typeface="Calibri"/>
                <a:cs typeface="Calibri"/>
              </a:rPr>
              <a:t>Best held-out quality; one recall miss</a:t>
            </a:r>
          </a:p>
        </p:txBody>
      </p:sp>
      <p:sp>
        <p:nvSpPr>
          <p:cNvPr id="51" name="Rectangle 50">
            <a:extLst>
              <a:ext uri="{FF2B5EF4-FFF2-40B4-BE49-F238E27FC236}">
                <a16:creationId xmlns:a16="http://schemas.microsoft.com/office/drawing/2014/main" id="{C472F0D4-69FC-46AB-8C79-017E20C413FC}"/>
              </a:ext>
            </a:extLst>
          </p:cNvPr>
          <p:cNvSpPr>
            <a:spLocks noGrp="1"/>
          </p:cNvSpPr>
          <p:nvPr/>
        </p:nvSpPr>
        <p:spPr>
          <a:xfrm>
            <a:off x="1143000" y="5810250"/>
            <a:ext cx="9906000" cy="419100"/>
          </a:xfrm>
          <a:prstGeom prst="rect">
            <a:avLst/>
          </a:prstGeom>
          <a:noFill/>
          <a:ln w="0">
            <a:noFill/>
          </a:ln>
        </p:spPr>
        <p:txBody>
          <a:bodyPr wrap="square" lIns="0" tIns="0" rIns="0" bIns="0" anchor="ctr">
            <a:normAutofit/>
          </a:bodyPr>
          <a:lstStyle/>
          <a:p>
            <a:pPr algn="ctr">
              <a:lnSpc>
                <a:spcPct val="100000"/>
              </a:lnSpc>
              <a:buNone/>
              <a:defRPr sz="1065" b="0" i="0">
                <a:solidFill>
                  <a:srgbClr val="5E5E5E"/>
                </a:solidFill>
                <a:latin typeface="Calibri"/>
                <a:ea typeface="Calibri"/>
                <a:cs typeface="Calibri"/>
              </a:defRPr>
            </a:pPr>
            <a:r>
              <a:rPr sz="1065" b="0" i="0">
                <a:solidFill>
                  <a:srgbClr val="5E5E5E"/>
                </a:solidFill>
                <a:latin typeface="Calibri"/>
                <a:ea typeface="Calibri"/>
                <a:cs typeface="Calibri"/>
              </a:rPr>
              <a:t>Quality / recall values above are recorded validation survivor means. Earlier checkpoint campaigns were not one single controlled experiment; the final 5.1–7.1 comparison used three runs per survivor.</a:t>
            </a:r>
          </a:p>
        </p:txBody>
      </p:sp>
    </p:spTree>
    <p:extLst>
      <p:ext uri="{BB962C8B-B14F-4D97-AF65-F5344CB8AC3E}">
        <p14:creationId xmlns:p14="http://schemas.microsoft.com/office/powerpoint/2010/main" val="566666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FB0B33B-FDF0-4756-856B-7F22D50DFC98}"/>
              </a:ext>
            </a:extLst>
          </p:cNvPr>
          <p:cNvSpPr>
            <a:spLocks noGrp="1"/>
          </p:cNvSpPr>
          <p:nvPr/>
        </p:nvSpPr>
        <p:spPr>
          <a:xfrm>
            <a:off x="0" y="0"/>
            <a:ext cx="12192000" cy="6858000"/>
          </a:xfrm>
          <a:prstGeom prst="rect">
            <a:avLst/>
          </a:prstGeom>
          <a:solidFill>
            <a:srgbClr val="FFFFFF"/>
          </a:solidFill>
          <a:ln w="0">
            <a:noFill/>
          </a:ln>
        </p:spPr>
        <p:txBody>
          <a:bodyPr/>
          <a:lstStyle/>
          <a:p>
            <a:endParaRPr lang="en-US"/>
          </a:p>
        </p:txBody>
      </p:sp>
      <p:sp>
        <p:nvSpPr>
          <p:cNvPr id="2" name="revision-title">
            <a:extLst>
              <a:ext uri="{FF2B5EF4-FFF2-40B4-BE49-F238E27FC236}">
                <a16:creationId xmlns:a16="http://schemas.microsoft.com/office/drawing/2014/main" id="{5F98C285-A18B-4907-A894-C64BEE6AB1A6}"/>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What each model was tested to do</a:t>
            </a:r>
          </a:p>
        </p:txBody>
      </p:sp>
      <p:sp>
        <p:nvSpPr>
          <p:cNvPr id="3" name="revision-subtitle">
            <a:extLst>
              <a:ext uri="{FF2B5EF4-FFF2-40B4-BE49-F238E27FC236}">
                <a16:creationId xmlns:a16="http://schemas.microsoft.com/office/drawing/2014/main" id="{DD50156B-13BD-472D-B0BF-1DEF0AA42AE2}"/>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The GPT models performed pipeline steps. Jev made small routing or checking decisions and never generated the answer.</a:t>
            </a:r>
          </a:p>
        </p:txBody>
      </p:sp>
      <p:sp>
        <p:nvSpPr>
          <p:cNvPr id="4" name="Rectangle 3">
            <a:extLst>
              <a:ext uri="{FF2B5EF4-FFF2-40B4-BE49-F238E27FC236}">
                <a16:creationId xmlns:a16="http://schemas.microsoft.com/office/drawing/2014/main" id="{2B4EF6BC-AEA9-4DBF-AE1E-B039ACDE286C}"/>
              </a:ext>
            </a:extLst>
          </p:cNvPr>
          <p:cNvSpPr>
            <a:spLocks noGrp="1"/>
          </p:cNvSpPr>
          <p:nvPr/>
        </p:nvSpPr>
        <p:spPr>
          <a:xfrm>
            <a:off x="809625" y="1657350"/>
            <a:ext cx="3095625" cy="400050"/>
          </a:xfrm>
          <a:prstGeom prst="rect">
            <a:avLst/>
          </a:prstGeom>
          <a:noFill/>
          <a:ln w="0">
            <a:noFill/>
          </a:ln>
        </p:spPr>
        <p:txBody>
          <a:bodyPr wrap="square" lIns="0" tIns="0" rIns="0" bIns="0" anchor="ctr">
            <a:normAutofit/>
          </a:bodyPr>
          <a:lstStyle/>
          <a:p>
            <a:pPr algn="ctr">
              <a:lnSpc>
                <a:spcPct val="100000"/>
              </a:lnSpc>
              <a:buNone/>
              <a:defRPr sz="2025" b="1" i="0">
                <a:solidFill>
                  <a:srgbClr val="5E5E5E"/>
                </a:solidFill>
                <a:latin typeface="Calibri"/>
                <a:ea typeface="Calibri"/>
                <a:cs typeface="Calibri"/>
              </a:defRPr>
            </a:pPr>
            <a:r>
              <a:rPr sz="2025" b="1" i="0">
                <a:solidFill>
                  <a:srgbClr val="5E5E5E"/>
                </a:solidFill>
                <a:latin typeface="Calibri"/>
                <a:ea typeface="Calibri"/>
                <a:cs typeface="Calibri"/>
              </a:rPr>
              <a:t>gpt-5.4-mini</a:t>
            </a:r>
          </a:p>
        </p:txBody>
      </p:sp>
      <p:sp>
        <p:nvSpPr>
          <p:cNvPr id="5" name="Rectangle 4">
            <a:extLst>
              <a:ext uri="{FF2B5EF4-FFF2-40B4-BE49-F238E27FC236}">
                <a16:creationId xmlns:a16="http://schemas.microsoft.com/office/drawing/2014/main" id="{9BBFB34C-7AFE-4111-9DF0-7A4A8E4AB5FB}"/>
              </a:ext>
            </a:extLst>
          </p:cNvPr>
          <p:cNvSpPr>
            <a:spLocks noGrp="1"/>
          </p:cNvSpPr>
          <p:nvPr/>
        </p:nvSpPr>
        <p:spPr>
          <a:xfrm>
            <a:off x="809625" y="2076450"/>
            <a:ext cx="3095625" cy="247650"/>
          </a:xfrm>
          <a:prstGeom prst="rect">
            <a:avLst/>
          </a:prstGeom>
          <a:noFill/>
          <a:ln w="0">
            <a:noFill/>
          </a:ln>
        </p:spPr>
        <p:txBody>
          <a:bodyPr wrap="square" lIns="0" tIns="0" rIns="0" bIns="0" anchor="t">
            <a:normAutofit/>
          </a:bodyPr>
          <a:lstStyle/>
          <a:p>
            <a:pPr algn="ctr">
              <a:lnSpc>
                <a:spcPct val="100000"/>
              </a:lnSpc>
              <a:buNone/>
              <a:defRPr sz="1088" b="1" i="0">
                <a:solidFill>
                  <a:srgbClr val="5E5E5E"/>
                </a:solidFill>
                <a:latin typeface="Calibri"/>
                <a:ea typeface="Calibri"/>
                <a:cs typeface="Calibri"/>
              </a:defRPr>
            </a:pPr>
            <a:r>
              <a:rPr sz="1088" b="1" i="0">
                <a:solidFill>
                  <a:srgbClr val="5E5E5E"/>
                </a:solidFill>
                <a:latin typeface="Calibri"/>
                <a:ea typeface="Calibri"/>
                <a:cs typeface="Calibri"/>
              </a:rPr>
              <a:t>DEFAULT WORKER</a:t>
            </a:r>
          </a:p>
        </p:txBody>
      </p:sp>
      <p:sp>
        <p:nvSpPr>
          <p:cNvPr id="6" name="Rectangle 5">
            <a:extLst>
              <a:ext uri="{FF2B5EF4-FFF2-40B4-BE49-F238E27FC236}">
                <a16:creationId xmlns:a16="http://schemas.microsoft.com/office/drawing/2014/main" id="{0E6E8DD9-1EE9-4A7B-BEC6-2AEBC2EA67B7}"/>
              </a:ext>
            </a:extLst>
          </p:cNvPr>
          <p:cNvSpPr>
            <a:spLocks noGrp="1"/>
          </p:cNvSpPr>
          <p:nvPr/>
        </p:nvSpPr>
        <p:spPr>
          <a:xfrm>
            <a:off x="904875" y="2543175"/>
            <a:ext cx="2905125" cy="2667000"/>
          </a:xfrm>
          <a:prstGeom prst="rect">
            <a:avLst/>
          </a:prstGeom>
          <a:noFill/>
          <a:ln w="0">
            <a:noFill/>
          </a:ln>
        </p:spPr>
        <p:txBody>
          <a:bodyPr wrap="square" lIns="0" tIns="0" rIns="0" bIns="0" anchor="t">
            <a:normAutofit/>
          </a:bodyPr>
          <a:lstStyle/>
          <a:p>
            <a:pPr algn="l">
              <a:lnSpc>
                <a:spcPct val="102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Started in every model step.</a:t>
            </a:r>
          </a:p>
          <a:p>
            <a:endParaRPr sz="1275" b="0" i="0">
              <a:solidFill>
                <a:srgbClr val="111111"/>
              </a:solidFill>
              <a:latin typeface="Calibri"/>
              <a:ea typeface="Calibri"/>
              <a:cs typeface="Calibri"/>
            </a:endParaRPr>
          </a:p>
          <a:p>
            <a:pPr algn="l">
              <a:lnSpc>
                <a:spcPct val="102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The final design keeps mini for entity decomposition, TOC review, and table planning.</a:t>
            </a:r>
          </a:p>
          <a:p>
            <a:endParaRPr sz="1275" b="0" i="0">
              <a:solidFill>
                <a:srgbClr val="111111"/>
              </a:solidFill>
              <a:latin typeface="Calibri"/>
              <a:ea typeface="Calibri"/>
              <a:cs typeface="Calibri"/>
            </a:endParaRPr>
          </a:p>
          <a:p>
            <a:pPr algn="l">
              <a:lnSpc>
                <a:spcPct val="102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GT baseline, 3 runs</a:t>
            </a:r>
          </a:p>
          <a:p>
            <a:pPr algn="l">
              <a:lnSpc>
                <a:spcPct val="102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0.711 quality</a:t>
            </a:r>
          </a:p>
          <a:p>
            <a:pPr algn="l">
              <a:lnSpc>
                <a:spcPct val="102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$0.0502 per question</a:t>
            </a:r>
          </a:p>
          <a:p>
            <a:pPr algn="l">
              <a:lnSpc>
                <a:spcPct val="102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13.8 seconds per question</a:t>
            </a:r>
          </a:p>
        </p:txBody>
      </p:sp>
      <p:sp>
        <p:nvSpPr>
          <p:cNvPr id="7" name="Rectangle 6">
            <a:extLst>
              <a:ext uri="{FF2B5EF4-FFF2-40B4-BE49-F238E27FC236}">
                <a16:creationId xmlns:a16="http://schemas.microsoft.com/office/drawing/2014/main" id="{A879C36B-9B04-469D-9780-9EC27A98C415}"/>
              </a:ext>
            </a:extLst>
          </p:cNvPr>
          <p:cNvSpPr>
            <a:spLocks noGrp="1"/>
          </p:cNvSpPr>
          <p:nvPr/>
        </p:nvSpPr>
        <p:spPr>
          <a:xfrm>
            <a:off x="4171950" y="1657350"/>
            <a:ext cx="19050" cy="3638550"/>
          </a:xfrm>
          <a:prstGeom prst="rect">
            <a:avLst/>
          </a:prstGeom>
          <a:solidFill>
            <a:srgbClr val="D8D8D8"/>
          </a:solidFill>
          <a:ln w="0">
            <a:noFill/>
          </a:ln>
        </p:spPr>
        <p:txBody>
          <a:bodyPr/>
          <a:lstStyle/>
          <a:p>
            <a:endParaRPr lang="en-US"/>
          </a:p>
        </p:txBody>
      </p:sp>
      <p:sp>
        <p:nvSpPr>
          <p:cNvPr id="8" name="Rectangle 7">
            <a:extLst>
              <a:ext uri="{FF2B5EF4-FFF2-40B4-BE49-F238E27FC236}">
                <a16:creationId xmlns:a16="http://schemas.microsoft.com/office/drawing/2014/main" id="{3AD151B0-9749-4116-ABB5-F3A3EC899D93}"/>
              </a:ext>
            </a:extLst>
          </p:cNvPr>
          <p:cNvSpPr>
            <a:spLocks noGrp="1"/>
          </p:cNvSpPr>
          <p:nvPr/>
        </p:nvSpPr>
        <p:spPr>
          <a:xfrm>
            <a:off x="4524375" y="1657350"/>
            <a:ext cx="3095625" cy="400050"/>
          </a:xfrm>
          <a:prstGeom prst="rect">
            <a:avLst/>
          </a:prstGeom>
          <a:noFill/>
          <a:ln w="0">
            <a:noFill/>
          </a:ln>
        </p:spPr>
        <p:txBody>
          <a:bodyPr wrap="square" lIns="0" tIns="0" rIns="0" bIns="0" anchor="ctr">
            <a:normAutofit/>
          </a:bodyPr>
          <a:lstStyle/>
          <a:p>
            <a:pPr algn="ctr">
              <a:lnSpc>
                <a:spcPct val="100000"/>
              </a:lnSpc>
              <a:buNone/>
              <a:defRPr sz="2025" b="1" i="0">
                <a:solidFill>
                  <a:srgbClr val="A31F34"/>
                </a:solidFill>
                <a:latin typeface="Calibri"/>
                <a:ea typeface="Calibri"/>
                <a:cs typeface="Calibri"/>
              </a:defRPr>
            </a:pPr>
            <a:r>
              <a:rPr sz="2025" b="1" i="0">
                <a:solidFill>
                  <a:srgbClr val="A31F34"/>
                </a:solidFill>
                <a:latin typeface="Calibri"/>
                <a:ea typeface="Calibri"/>
                <a:cs typeface="Calibri"/>
              </a:rPr>
              <a:t>gpt-5.4</a:t>
            </a:r>
          </a:p>
        </p:txBody>
      </p:sp>
      <p:sp>
        <p:nvSpPr>
          <p:cNvPr id="9" name="Rectangle 8">
            <a:extLst>
              <a:ext uri="{FF2B5EF4-FFF2-40B4-BE49-F238E27FC236}">
                <a16:creationId xmlns:a16="http://schemas.microsoft.com/office/drawing/2014/main" id="{7FD48189-ECA3-4498-9F39-188068977482}"/>
              </a:ext>
            </a:extLst>
          </p:cNvPr>
          <p:cNvSpPr>
            <a:spLocks noGrp="1"/>
          </p:cNvSpPr>
          <p:nvPr/>
        </p:nvSpPr>
        <p:spPr>
          <a:xfrm>
            <a:off x="4524375" y="2076450"/>
            <a:ext cx="3095625" cy="247650"/>
          </a:xfrm>
          <a:prstGeom prst="rect">
            <a:avLst/>
          </a:prstGeom>
          <a:noFill/>
          <a:ln w="0">
            <a:noFill/>
          </a:ln>
        </p:spPr>
        <p:txBody>
          <a:bodyPr wrap="square" lIns="0" tIns="0" rIns="0" bIns="0" anchor="t">
            <a:normAutofit/>
          </a:bodyPr>
          <a:lstStyle/>
          <a:p>
            <a:pPr algn="ctr">
              <a:lnSpc>
                <a:spcPct val="100000"/>
              </a:lnSpc>
              <a:buNone/>
              <a:defRPr sz="1088" b="1" i="0">
                <a:solidFill>
                  <a:srgbClr val="A31F34"/>
                </a:solidFill>
                <a:latin typeface="Calibri"/>
                <a:ea typeface="Calibri"/>
                <a:cs typeface="Calibri"/>
              </a:defRPr>
            </a:pPr>
            <a:r>
              <a:rPr sz="1088" b="1" i="0">
                <a:solidFill>
                  <a:srgbClr val="A31F34"/>
                </a:solidFill>
                <a:latin typeface="Calibri"/>
                <a:ea typeface="Calibri"/>
                <a:cs typeface="Calibri"/>
              </a:rPr>
              <a:t>CAPABILITY TEST</a:t>
            </a:r>
          </a:p>
        </p:txBody>
      </p:sp>
      <p:sp>
        <p:nvSpPr>
          <p:cNvPr id="10" name="Rectangle 9">
            <a:extLst>
              <a:ext uri="{FF2B5EF4-FFF2-40B4-BE49-F238E27FC236}">
                <a16:creationId xmlns:a16="http://schemas.microsoft.com/office/drawing/2014/main" id="{8DE7EE76-2173-4DF9-8242-B59927A5ECF3}"/>
              </a:ext>
            </a:extLst>
          </p:cNvPr>
          <p:cNvSpPr>
            <a:spLocks noGrp="1"/>
          </p:cNvSpPr>
          <p:nvPr/>
        </p:nvSpPr>
        <p:spPr>
          <a:xfrm>
            <a:off x="4619625" y="2543175"/>
            <a:ext cx="2905125" cy="2781300"/>
          </a:xfrm>
          <a:prstGeom prst="rect">
            <a:avLst/>
          </a:prstGeom>
          <a:noFill/>
          <a:ln w="0">
            <a:noFill/>
          </a:ln>
        </p:spPr>
        <p:txBody>
          <a:bodyPr wrap="square" lIns="0" tIns="0" rIns="0" bIns="0" anchor="t">
            <a:normAutofit/>
          </a:bodyPr>
          <a:lstStyle/>
          <a:p>
            <a:pPr algn="l">
              <a:lnSpc>
                <a:spcPct val="101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Tested in every model step, then in targeted step combinations.</a:t>
            </a:r>
          </a:p>
          <a:p>
            <a:endParaRPr sz="1275" b="0" i="0">
              <a:solidFill>
                <a:srgbClr val="111111"/>
              </a:solidFill>
              <a:latin typeface="Calibri"/>
              <a:ea typeface="Calibri"/>
              <a:cs typeface="Calibri"/>
            </a:endParaRPr>
          </a:p>
          <a:p>
            <a:pPr algn="l">
              <a:lnSpc>
                <a:spcPct val="101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All steps, 3 GT runs</a:t>
            </a:r>
          </a:p>
          <a:p>
            <a:pPr algn="l">
              <a:lnSpc>
                <a:spcPct val="101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0.886 quality</a:t>
            </a:r>
          </a:p>
          <a:p>
            <a:pPr algn="l">
              <a:lnSpc>
                <a:spcPct val="101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$0.3457 per question</a:t>
            </a:r>
          </a:p>
          <a:p>
            <a:pPr algn="l">
              <a:lnSpc>
                <a:spcPct val="101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24.7 seconds per question</a:t>
            </a:r>
          </a:p>
          <a:p>
            <a:endParaRPr sz="1275" b="0" i="0">
              <a:solidFill>
                <a:srgbClr val="111111"/>
              </a:solidFill>
              <a:latin typeface="Calibri"/>
              <a:ea typeface="Calibri"/>
              <a:cs typeface="Calibri"/>
            </a:endParaRPr>
          </a:p>
          <a:p>
            <a:pPr algn="l">
              <a:lnSpc>
                <a:spcPct val="101000"/>
              </a:lnSpc>
              <a:buNone/>
              <a:defRPr sz="1275" b="0" i="0">
                <a:solidFill>
                  <a:srgbClr val="111111"/>
                </a:solidFill>
                <a:latin typeface="Calibri"/>
                <a:ea typeface="Calibri"/>
                <a:cs typeface="Calibri"/>
              </a:defRPr>
            </a:pPr>
            <a:r>
              <a:rPr sz="1275" b="0" i="0">
                <a:solidFill>
                  <a:srgbClr val="111111"/>
                </a:solidFill>
                <a:latin typeface="Calibri"/>
                <a:ea typeface="Calibri"/>
                <a:cs typeface="Calibri"/>
              </a:rPr>
              <a:t>The clearest benefit came from evidence assessment and answer writing. A strong table planner requested more data and enlarged later prompts.</a:t>
            </a:r>
          </a:p>
        </p:txBody>
      </p:sp>
      <p:sp>
        <p:nvSpPr>
          <p:cNvPr id="11" name="Rectangle 10">
            <a:extLst>
              <a:ext uri="{FF2B5EF4-FFF2-40B4-BE49-F238E27FC236}">
                <a16:creationId xmlns:a16="http://schemas.microsoft.com/office/drawing/2014/main" id="{3F680870-6912-4427-846E-B0F8E823DB22}"/>
              </a:ext>
            </a:extLst>
          </p:cNvPr>
          <p:cNvSpPr>
            <a:spLocks noGrp="1"/>
          </p:cNvSpPr>
          <p:nvPr/>
        </p:nvSpPr>
        <p:spPr>
          <a:xfrm>
            <a:off x="7981950" y="1657350"/>
            <a:ext cx="19050" cy="3638550"/>
          </a:xfrm>
          <a:prstGeom prst="rect">
            <a:avLst/>
          </a:prstGeom>
          <a:solidFill>
            <a:srgbClr val="D8D8D8"/>
          </a:solidFill>
          <a:ln w="0">
            <a:noFill/>
          </a:ln>
        </p:spPr>
        <p:txBody>
          <a:bodyPr/>
          <a:lstStyle/>
          <a:p>
            <a:endParaRPr lang="en-US"/>
          </a:p>
        </p:txBody>
      </p:sp>
      <p:sp>
        <p:nvSpPr>
          <p:cNvPr id="12" name="Rectangle 11">
            <a:extLst>
              <a:ext uri="{FF2B5EF4-FFF2-40B4-BE49-F238E27FC236}">
                <a16:creationId xmlns:a16="http://schemas.microsoft.com/office/drawing/2014/main" id="{62155E09-B09B-46D2-818D-7386AE7C55EC}"/>
              </a:ext>
            </a:extLst>
          </p:cNvPr>
          <p:cNvSpPr>
            <a:spLocks noGrp="1"/>
          </p:cNvSpPr>
          <p:nvPr/>
        </p:nvSpPr>
        <p:spPr>
          <a:xfrm>
            <a:off x="8334375" y="1657350"/>
            <a:ext cx="3095625" cy="400050"/>
          </a:xfrm>
          <a:prstGeom prst="rect">
            <a:avLst/>
          </a:prstGeom>
          <a:noFill/>
          <a:ln w="0">
            <a:noFill/>
          </a:ln>
        </p:spPr>
        <p:txBody>
          <a:bodyPr wrap="square" lIns="0" tIns="0" rIns="0" bIns="0" anchor="ctr">
            <a:normAutofit/>
          </a:bodyPr>
          <a:lstStyle/>
          <a:p>
            <a:pPr algn="ctr">
              <a:lnSpc>
                <a:spcPct val="100000"/>
              </a:lnSpc>
              <a:buNone/>
              <a:defRPr sz="2025" b="1" i="0">
                <a:solidFill>
                  <a:srgbClr val="087E8B"/>
                </a:solidFill>
                <a:latin typeface="Calibri"/>
                <a:ea typeface="Calibri"/>
                <a:cs typeface="Calibri"/>
              </a:defRPr>
            </a:pPr>
            <a:r>
              <a:rPr sz="2025" b="1" i="0">
                <a:solidFill>
                  <a:srgbClr val="087E8B"/>
                </a:solidFill>
                <a:latin typeface="Calibri"/>
                <a:ea typeface="Calibri"/>
                <a:cs typeface="Calibri"/>
              </a:rPr>
              <a:t>Jev 1.13</a:t>
            </a:r>
          </a:p>
        </p:txBody>
      </p:sp>
      <p:sp>
        <p:nvSpPr>
          <p:cNvPr id="13" name="Rectangle 12">
            <a:extLst>
              <a:ext uri="{FF2B5EF4-FFF2-40B4-BE49-F238E27FC236}">
                <a16:creationId xmlns:a16="http://schemas.microsoft.com/office/drawing/2014/main" id="{0B1FF4F9-9E2B-4811-8484-20BBBD9EE16F}"/>
              </a:ext>
            </a:extLst>
          </p:cNvPr>
          <p:cNvSpPr>
            <a:spLocks noGrp="1"/>
          </p:cNvSpPr>
          <p:nvPr/>
        </p:nvSpPr>
        <p:spPr>
          <a:xfrm>
            <a:off x="8334375" y="2076450"/>
            <a:ext cx="3095625" cy="247650"/>
          </a:xfrm>
          <a:prstGeom prst="rect">
            <a:avLst/>
          </a:prstGeom>
          <a:noFill/>
          <a:ln w="0">
            <a:noFill/>
          </a:ln>
        </p:spPr>
        <p:txBody>
          <a:bodyPr wrap="square" lIns="0" tIns="0" rIns="0" bIns="0" anchor="t">
            <a:normAutofit/>
          </a:bodyPr>
          <a:lstStyle/>
          <a:p>
            <a:pPr algn="ctr">
              <a:lnSpc>
                <a:spcPct val="100000"/>
              </a:lnSpc>
              <a:buNone/>
              <a:defRPr sz="1088" b="1" i="0">
                <a:solidFill>
                  <a:srgbClr val="087E8B"/>
                </a:solidFill>
                <a:latin typeface="Calibri"/>
                <a:ea typeface="Calibri"/>
                <a:cs typeface="Calibri"/>
              </a:defRPr>
            </a:pPr>
            <a:r>
              <a:rPr sz="1088" b="1" i="0">
                <a:solidFill>
                  <a:srgbClr val="087E8B"/>
                </a:solidFill>
                <a:latin typeface="Calibri"/>
                <a:ea typeface="Calibri"/>
                <a:cs typeface="Calibri"/>
              </a:rPr>
              <a:t>DECISION-ONLY TEST</a:t>
            </a:r>
          </a:p>
        </p:txBody>
      </p:sp>
      <p:sp>
        <p:nvSpPr>
          <p:cNvPr id="14" name="Rectangle 13">
            <a:extLst>
              <a:ext uri="{FF2B5EF4-FFF2-40B4-BE49-F238E27FC236}">
                <a16:creationId xmlns:a16="http://schemas.microsoft.com/office/drawing/2014/main" id="{A177DCE3-EB69-47BA-81EA-049115589183}"/>
              </a:ext>
            </a:extLst>
          </p:cNvPr>
          <p:cNvSpPr>
            <a:spLocks noGrp="1"/>
          </p:cNvSpPr>
          <p:nvPr/>
        </p:nvSpPr>
        <p:spPr>
          <a:xfrm>
            <a:off x="8429625" y="2543175"/>
            <a:ext cx="2905125" cy="2781300"/>
          </a:xfrm>
          <a:prstGeom prst="rect">
            <a:avLst/>
          </a:prstGeom>
          <a:noFill/>
          <a:ln w="0">
            <a:noFill/>
          </a:ln>
        </p:spPr>
        <p:txBody>
          <a:bodyPr wrap="square" lIns="0" tIns="0" rIns="0" bIns="0" anchor="t">
            <a:normAutofit/>
          </a:bodyPr>
          <a:lstStyle/>
          <a:p>
            <a:pPr algn="l">
              <a:lnSpc>
                <a:spcPct val="101000"/>
              </a:lnSpc>
              <a:buNone/>
              <a:defRPr sz="1275" b="0" i="0">
                <a:solidFill>
                  <a:srgbClr val="111111"/>
                </a:solidFill>
                <a:latin typeface="Calibri"/>
                <a:ea typeface="Calibri"/>
                <a:cs typeface="Calibri"/>
              </a:defRPr>
            </a:pPr>
            <a:r>
              <a:rPr sz="1275" b="0" i="0" dirty="0">
                <a:solidFill>
                  <a:srgbClr val="111111"/>
                </a:solidFill>
                <a:latin typeface="Calibri"/>
                <a:ea typeface="Calibri"/>
                <a:cs typeface="Calibri"/>
              </a:rPr>
              <a:t>Does not produce a narrative answer.</a:t>
            </a:r>
          </a:p>
          <a:p>
            <a:endParaRPr sz="1275" b="0" i="0" dirty="0">
              <a:solidFill>
                <a:srgbClr val="111111"/>
              </a:solidFill>
              <a:latin typeface="Calibri"/>
              <a:ea typeface="Calibri"/>
              <a:cs typeface="Calibri"/>
            </a:endParaRPr>
          </a:p>
          <a:p>
            <a:pPr algn="l">
              <a:lnSpc>
                <a:spcPct val="101000"/>
              </a:lnSpc>
              <a:buNone/>
              <a:defRPr sz="1275" b="0" i="0">
                <a:solidFill>
                  <a:srgbClr val="111111"/>
                </a:solidFill>
                <a:latin typeface="Calibri"/>
                <a:ea typeface="Calibri"/>
                <a:cs typeface="Calibri"/>
              </a:defRPr>
            </a:pPr>
            <a:r>
              <a:rPr sz="1275" b="0" i="0" dirty="0">
                <a:solidFill>
                  <a:srgbClr val="111111"/>
                </a:solidFill>
                <a:latin typeface="Calibri"/>
                <a:ea typeface="Calibri"/>
                <a:cs typeface="Calibri"/>
              </a:rPr>
              <a:t>Input: a compact state plus a typed yes, choice, or score question.</a:t>
            </a:r>
          </a:p>
          <a:p>
            <a:pPr algn="l">
              <a:lnSpc>
                <a:spcPct val="101000"/>
              </a:lnSpc>
              <a:buNone/>
              <a:defRPr sz="1275" b="0" i="0">
                <a:solidFill>
                  <a:srgbClr val="111111"/>
                </a:solidFill>
                <a:latin typeface="Calibri"/>
                <a:ea typeface="Calibri"/>
                <a:cs typeface="Calibri"/>
              </a:defRPr>
            </a:pPr>
            <a:r>
              <a:rPr sz="1275" b="0" i="0" dirty="0">
                <a:solidFill>
                  <a:srgbClr val="111111"/>
                </a:solidFill>
                <a:latin typeface="Calibri"/>
                <a:ea typeface="Calibri"/>
                <a:cs typeface="Calibri"/>
              </a:rPr>
              <a:t>Output: a probability or selected option.</a:t>
            </a:r>
          </a:p>
          <a:p>
            <a:endParaRPr sz="1275" b="0" i="0" dirty="0">
              <a:solidFill>
                <a:srgbClr val="111111"/>
              </a:solidFill>
              <a:latin typeface="Calibri"/>
              <a:ea typeface="Calibri"/>
              <a:cs typeface="Calibri"/>
            </a:endParaRPr>
          </a:p>
          <a:p>
            <a:pPr algn="l">
              <a:lnSpc>
                <a:spcPct val="101000"/>
              </a:lnSpc>
              <a:buNone/>
              <a:defRPr sz="1275" b="0" i="0">
                <a:solidFill>
                  <a:srgbClr val="111111"/>
                </a:solidFill>
                <a:latin typeface="Calibri"/>
                <a:ea typeface="Calibri"/>
                <a:cs typeface="Calibri"/>
              </a:defRPr>
            </a:pPr>
            <a:r>
              <a:rPr sz="1275" b="0" i="0" dirty="0">
                <a:solidFill>
                  <a:srgbClr val="111111"/>
                </a:solidFill>
                <a:latin typeface="Calibri"/>
                <a:ea typeface="Calibri"/>
                <a:cs typeface="Calibri"/>
              </a:rPr>
              <a:t>About 0.2 seconds per routing call</a:t>
            </a:r>
          </a:p>
          <a:p>
            <a:pPr algn="l">
              <a:lnSpc>
                <a:spcPct val="101000"/>
              </a:lnSpc>
              <a:buNone/>
              <a:defRPr sz="1275" b="0" i="0">
                <a:solidFill>
                  <a:srgbClr val="111111"/>
                </a:solidFill>
                <a:latin typeface="Calibri"/>
                <a:ea typeface="Calibri"/>
                <a:cs typeface="Calibri"/>
              </a:defRPr>
            </a:pPr>
            <a:r>
              <a:rPr sz="1275" b="0" i="0" dirty="0">
                <a:solidFill>
                  <a:srgbClr val="111111"/>
                </a:solidFill>
                <a:latin typeface="Calibri"/>
                <a:ea typeface="Calibri"/>
                <a:cs typeface="Calibri"/>
              </a:rPr>
              <a:t>32K-token context window</a:t>
            </a:r>
          </a:p>
          <a:p>
            <a:endParaRPr sz="1275" b="0" i="0" dirty="0">
              <a:solidFill>
                <a:srgbClr val="111111"/>
              </a:solidFill>
              <a:latin typeface="Calibri"/>
              <a:ea typeface="Calibri"/>
              <a:cs typeface="Calibri"/>
            </a:endParaRPr>
          </a:p>
          <a:p>
            <a:pPr algn="l">
              <a:lnSpc>
                <a:spcPct val="101000"/>
              </a:lnSpc>
              <a:buNone/>
              <a:defRPr sz="1275" b="0" i="0">
                <a:solidFill>
                  <a:srgbClr val="111111"/>
                </a:solidFill>
                <a:latin typeface="Calibri"/>
                <a:ea typeface="Calibri"/>
                <a:cs typeface="Calibri"/>
              </a:defRPr>
            </a:pPr>
            <a:r>
              <a:rPr sz="1275" b="0" i="0" dirty="0">
                <a:solidFill>
                  <a:srgbClr val="111111"/>
                </a:solidFill>
                <a:latin typeface="Calibri"/>
                <a:ea typeface="Calibri"/>
                <a:cs typeface="Calibri"/>
              </a:rPr>
              <a:t>Tested before retrieval for simple versus complex routing, and after a mini answer for completeness.</a:t>
            </a:r>
          </a:p>
        </p:txBody>
      </p:sp>
      <p:sp>
        <p:nvSpPr>
          <p:cNvPr id="15" name="Rounded Rectangle 14">
            <a:extLst>
              <a:ext uri="{FF2B5EF4-FFF2-40B4-BE49-F238E27FC236}">
                <a16:creationId xmlns:a16="http://schemas.microsoft.com/office/drawing/2014/main" id="{6510345A-E3F1-49E4-8133-073E6613A97F}"/>
              </a:ext>
            </a:extLst>
          </p:cNvPr>
          <p:cNvSpPr>
            <a:spLocks noGrp="1"/>
          </p:cNvSpPr>
          <p:nvPr/>
        </p:nvSpPr>
        <p:spPr>
          <a:xfrm>
            <a:off x="904875" y="5667375"/>
            <a:ext cx="10382250" cy="619125"/>
          </a:xfrm>
          <a:prstGeom prst="roundRect">
            <a:avLst>
              <a:gd name="adj" fmla="val 9231"/>
            </a:avLst>
          </a:prstGeom>
          <a:solidFill>
            <a:srgbClr val="F7E9EC"/>
          </a:solidFill>
          <a:ln w="9525">
            <a:solidFill>
              <a:srgbClr val="E6BBC4"/>
            </a:solidFill>
            <a:prstDash val="solid"/>
          </a:ln>
        </p:spPr>
        <p:txBody>
          <a:bodyPr/>
          <a:lstStyle/>
          <a:p>
            <a:endParaRPr lang="en-US"/>
          </a:p>
        </p:txBody>
      </p:sp>
      <p:sp>
        <p:nvSpPr>
          <p:cNvPr id="16" name="Rectangle 15">
            <a:extLst>
              <a:ext uri="{FF2B5EF4-FFF2-40B4-BE49-F238E27FC236}">
                <a16:creationId xmlns:a16="http://schemas.microsoft.com/office/drawing/2014/main" id="{09917AD6-6DF6-443E-AB29-E18E0331BBD0}"/>
              </a:ext>
            </a:extLst>
          </p:cNvPr>
          <p:cNvSpPr>
            <a:spLocks noGrp="1"/>
          </p:cNvSpPr>
          <p:nvPr/>
        </p:nvSpPr>
        <p:spPr>
          <a:xfrm>
            <a:off x="1143000" y="5857875"/>
            <a:ext cx="1714500" cy="266700"/>
          </a:xfrm>
          <a:prstGeom prst="rect">
            <a:avLst/>
          </a:prstGeom>
          <a:noFill/>
          <a:ln w="0">
            <a:noFill/>
          </a:ln>
        </p:spPr>
        <p:txBody>
          <a:bodyPr wrap="square" lIns="0" tIns="0" rIns="0" bIns="0" anchor="ctr">
            <a:normAutofit/>
          </a:bodyPr>
          <a:lstStyle/>
          <a:p>
            <a:pPr algn="l">
              <a:lnSpc>
                <a:spcPct val="100000"/>
              </a:lnSpc>
              <a:buNone/>
              <a:defRPr sz="1200" b="1" i="0">
                <a:solidFill>
                  <a:srgbClr val="A31F34"/>
                </a:solidFill>
                <a:latin typeface="Calibri"/>
                <a:ea typeface="Calibri"/>
                <a:cs typeface="Calibri"/>
              </a:defRPr>
            </a:pPr>
            <a:r>
              <a:rPr sz="1200" b="1" i="0">
                <a:solidFill>
                  <a:srgbClr val="A31F34"/>
                </a:solidFill>
                <a:latin typeface="Calibri"/>
                <a:ea typeface="Calibri"/>
                <a:cs typeface="Calibri"/>
              </a:rPr>
              <a:t>FINAL RUNTIME</a:t>
            </a:r>
          </a:p>
        </p:txBody>
      </p:sp>
      <p:sp>
        <p:nvSpPr>
          <p:cNvPr id="17" name="Rectangle 16">
            <a:extLst>
              <a:ext uri="{FF2B5EF4-FFF2-40B4-BE49-F238E27FC236}">
                <a16:creationId xmlns:a16="http://schemas.microsoft.com/office/drawing/2014/main" id="{8A23C118-DCA9-42D1-B058-B348A6FE3B6C}"/>
              </a:ext>
            </a:extLst>
          </p:cNvPr>
          <p:cNvSpPr>
            <a:spLocks noGrp="1"/>
          </p:cNvSpPr>
          <p:nvPr/>
        </p:nvSpPr>
        <p:spPr>
          <a:xfrm>
            <a:off x="2286000" y="5791200"/>
            <a:ext cx="8953500" cy="333375"/>
          </a:xfrm>
          <a:prstGeom prst="rect">
            <a:avLst/>
          </a:prstGeom>
          <a:noFill/>
          <a:ln w="0">
            <a:noFill/>
          </a:ln>
        </p:spPr>
        <p:txBody>
          <a:bodyPr wrap="square" lIns="0" tIns="0" rIns="0" bIns="0" anchor="ctr">
            <a:normAutofit fontScale="97222"/>
          </a:bodyPr>
          <a:lstStyle/>
          <a:p>
            <a:pPr algn="ctr">
              <a:lnSpc>
                <a:spcPct val="100000"/>
              </a:lnSpc>
              <a:buNone/>
              <a:defRPr sz="1350" b="1" i="0">
                <a:solidFill>
                  <a:srgbClr val="111111"/>
                </a:solidFill>
                <a:latin typeface="Calibri"/>
                <a:ea typeface="Calibri"/>
                <a:cs typeface="Calibri"/>
              </a:defRPr>
            </a:pPr>
            <a:r>
              <a:rPr sz="1350" b="1" i="0" dirty="0">
                <a:solidFill>
                  <a:srgbClr val="111111"/>
                </a:solidFill>
                <a:latin typeface="Calibri"/>
                <a:ea typeface="Calibri"/>
                <a:cs typeface="Calibri"/>
              </a:rPr>
              <a:t>Mini handles decomposition, TOC review, and table planning. The table signal moves only the assessor and answer to gpt-5.4</a:t>
            </a:r>
            <a:r>
              <a:rPr lang="en-US" sz="1350" b="1" i="0" dirty="0">
                <a:solidFill>
                  <a:srgbClr val="111111"/>
                </a:solidFill>
                <a:latin typeface="Calibri"/>
                <a:ea typeface="Calibri"/>
                <a:cs typeface="Calibri"/>
              </a:rPr>
              <a:t>.</a:t>
            </a:r>
            <a:endParaRPr sz="1350" b="1" i="0" dirty="0">
              <a:solidFill>
                <a:srgbClr val="111111"/>
              </a:solidFill>
              <a:latin typeface="Calibri"/>
              <a:ea typeface="Calibri"/>
              <a:cs typeface="Calibri"/>
            </a:endParaRPr>
          </a:p>
        </p:txBody>
      </p:sp>
    </p:spTree>
    <p:extLst>
      <p:ext uri="{BB962C8B-B14F-4D97-AF65-F5344CB8AC3E}">
        <p14:creationId xmlns:p14="http://schemas.microsoft.com/office/powerpoint/2010/main" val="1145406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a:extLst>
              <a:ext uri="{FF2B5EF4-FFF2-40B4-BE49-F238E27FC236}">
                <a16:creationId xmlns:a16="http://schemas.microsoft.com/office/drawing/2014/main" id="{1DA2B969-BA50-45E5-A162-AAF987C07320}"/>
              </a:ext>
            </a:extLst>
          </p:cNvPr>
          <p:cNvSpPr>
            <a:spLocks noGrp="1"/>
          </p:cNvSpPr>
          <p:nvPr/>
        </p:nvSpPr>
        <p:spPr>
          <a:xfrm>
            <a:off x="0" y="0"/>
            <a:ext cx="12192000" cy="6858000"/>
          </a:xfrm>
          <a:prstGeom prst="rect">
            <a:avLst/>
          </a:prstGeom>
          <a:solidFill>
            <a:srgbClr val="FFFFFF"/>
          </a:solidFill>
          <a:ln w="0">
            <a:noFill/>
          </a:ln>
        </p:spPr>
        <p:txBody>
          <a:bodyPr/>
          <a:lstStyle/>
          <a:p>
            <a:endParaRPr lang="en-US"/>
          </a:p>
        </p:txBody>
      </p:sp>
      <p:sp>
        <p:nvSpPr>
          <p:cNvPr id="2" name="revision-title">
            <a:extLst>
              <a:ext uri="{FF2B5EF4-FFF2-40B4-BE49-F238E27FC236}">
                <a16:creationId xmlns:a16="http://schemas.microsoft.com/office/drawing/2014/main" id="{C5C947D3-4BBA-4392-A9B1-757E155C93B2}"/>
              </a:ext>
            </a:extLst>
          </p:cNvPr>
          <p:cNvSpPr>
            <a:spLocks noGrp="1"/>
          </p:cNvSpPr>
          <p:nvPr/>
        </p:nvSpPr>
        <p:spPr>
          <a:xfrm>
            <a:off x="2286000" y="523875"/>
            <a:ext cx="7620000" cy="523875"/>
          </a:xfrm>
          <a:prstGeom prst="rect">
            <a:avLst/>
          </a:prstGeom>
          <a:noFill/>
          <a:ln w="0">
            <a:noFill/>
          </a:ln>
        </p:spPr>
        <p:txBody>
          <a:bodyPr wrap="square" lIns="0" tIns="0" rIns="0" bIns="0" anchor="ctr">
            <a:normAutofit/>
          </a:bodyPr>
          <a:lstStyle/>
          <a:p>
            <a:pPr algn="ctr">
              <a:lnSpc>
                <a:spcPct val="100000"/>
              </a:lnSpc>
              <a:buNone/>
              <a:defRPr sz="2550" b="1" i="0">
                <a:solidFill>
                  <a:srgbClr val="111111"/>
                </a:solidFill>
                <a:latin typeface="Calibri"/>
                <a:ea typeface="Calibri"/>
                <a:cs typeface="Calibri"/>
              </a:defRPr>
            </a:pPr>
            <a:r>
              <a:rPr sz="2550" b="1" i="0">
                <a:solidFill>
                  <a:srgbClr val="111111"/>
                </a:solidFill>
                <a:latin typeface="Calibri"/>
                <a:ea typeface="Calibri"/>
                <a:cs typeface="Calibri"/>
              </a:rPr>
              <a:t>How the routing experiments worked</a:t>
            </a:r>
          </a:p>
        </p:txBody>
      </p:sp>
      <p:sp>
        <p:nvSpPr>
          <p:cNvPr id="3" name="revision-subtitle">
            <a:extLst>
              <a:ext uri="{FF2B5EF4-FFF2-40B4-BE49-F238E27FC236}">
                <a16:creationId xmlns:a16="http://schemas.microsoft.com/office/drawing/2014/main" id="{6AC8672A-DC4D-47CF-90C1-03750888A3D9}"/>
              </a:ext>
            </a:extLst>
          </p:cNvPr>
          <p:cNvSpPr>
            <a:spLocks noGrp="1"/>
          </p:cNvSpPr>
          <p:nvPr/>
        </p:nvSpPr>
        <p:spPr>
          <a:xfrm>
            <a:off x="952500" y="1066800"/>
            <a:ext cx="10287000" cy="304800"/>
          </a:xfrm>
          <a:prstGeom prst="rect">
            <a:avLst/>
          </a:prstGeom>
          <a:noFill/>
          <a:ln w="0">
            <a:noFill/>
          </a:ln>
        </p:spPr>
        <p:txBody>
          <a:bodyPr wrap="square" lIns="0" tIns="0" rIns="0" bIns="0" anchor="ctr">
            <a:normAutofit/>
          </a:bodyPr>
          <a:lstStyle/>
          <a:p>
            <a:pPr algn="ctr">
              <a:lnSpc>
                <a:spcPct val="100000"/>
              </a:lnSpc>
              <a:buNone/>
              <a:defRPr sz="1238" b="0" i="0">
                <a:solidFill>
                  <a:srgbClr val="5E5E5E"/>
                </a:solidFill>
                <a:latin typeface="Calibri"/>
                <a:ea typeface="Calibri"/>
                <a:cs typeface="Calibri"/>
              </a:defRPr>
            </a:pPr>
            <a:r>
              <a:rPr sz="1238" b="0" i="0">
                <a:solidFill>
                  <a:srgbClr val="5E5E5E"/>
                </a:solidFill>
                <a:latin typeface="Calibri"/>
                <a:ea typeface="Calibri"/>
                <a:cs typeface="Calibri"/>
              </a:rPr>
              <a:t>The experiments changed when the decision happened, what information it used, and which pipeline steps used gpt-5.4.</a:t>
            </a:r>
          </a:p>
        </p:txBody>
      </p:sp>
      <p:sp>
        <p:nvSpPr>
          <p:cNvPr id="4" name="Rounded Rectangle 3">
            <a:extLst>
              <a:ext uri="{FF2B5EF4-FFF2-40B4-BE49-F238E27FC236}">
                <a16:creationId xmlns:a16="http://schemas.microsoft.com/office/drawing/2014/main" id="{051EBC09-884E-4037-98EC-84B8A66A6BFE}"/>
              </a:ext>
            </a:extLst>
          </p:cNvPr>
          <p:cNvSpPr>
            <a:spLocks noGrp="1"/>
          </p:cNvSpPr>
          <p:nvPr/>
        </p:nvSpPr>
        <p:spPr>
          <a:xfrm>
            <a:off x="666750" y="1619250"/>
            <a:ext cx="10858500" cy="1257300"/>
          </a:xfrm>
          <a:prstGeom prst="roundRect">
            <a:avLst>
              <a:gd name="adj" fmla="val 5303"/>
            </a:avLst>
          </a:prstGeom>
          <a:solidFill>
            <a:srgbClr val="F3F3F3"/>
          </a:solidFill>
          <a:ln w="9525">
            <a:solidFill>
              <a:srgbClr val="D8D8D8"/>
            </a:solidFill>
            <a:prstDash val="solid"/>
          </a:ln>
        </p:spPr>
        <p:txBody>
          <a:bodyPr/>
          <a:lstStyle/>
          <a:p>
            <a:endParaRPr lang="en-US"/>
          </a:p>
        </p:txBody>
      </p:sp>
      <p:sp>
        <p:nvSpPr>
          <p:cNvPr id="5" name="Rectangle 4">
            <a:extLst>
              <a:ext uri="{FF2B5EF4-FFF2-40B4-BE49-F238E27FC236}">
                <a16:creationId xmlns:a16="http://schemas.microsoft.com/office/drawing/2014/main" id="{CCF356E5-ABA8-4E1B-9A9F-60DD69B11551}"/>
              </a:ext>
            </a:extLst>
          </p:cNvPr>
          <p:cNvSpPr>
            <a:spLocks noGrp="1"/>
          </p:cNvSpPr>
          <p:nvPr/>
        </p:nvSpPr>
        <p:spPr>
          <a:xfrm>
            <a:off x="838200" y="1771650"/>
            <a:ext cx="1885950" cy="304800"/>
          </a:xfrm>
          <a:prstGeom prst="rect">
            <a:avLst/>
          </a:prstGeom>
          <a:noFill/>
          <a:ln w="0">
            <a:noFill/>
          </a:ln>
        </p:spPr>
        <p:txBody>
          <a:bodyPr wrap="square" lIns="0" tIns="0" rIns="0" bIns="0" anchor="t">
            <a:normAutofit/>
          </a:bodyPr>
          <a:lstStyle/>
          <a:p>
            <a:pPr algn="l">
              <a:lnSpc>
                <a:spcPct val="100000"/>
              </a:lnSpc>
              <a:buNone/>
              <a:defRPr sz="1500" b="1" i="0">
                <a:solidFill>
                  <a:srgbClr val="5E5E5E"/>
                </a:solidFill>
                <a:latin typeface="Calibri"/>
                <a:ea typeface="Calibri"/>
                <a:cs typeface="Calibri"/>
              </a:defRPr>
            </a:pPr>
            <a:r>
              <a:rPr sz="1500" b="1" i="0">
                <a:solidFill>
                  <a:srgbClr val="5E5E5E"/>
                </a:solidFill>
                <a:latin typeface="Calibri"/>
                <a:ea typeface="Calibri"/>
                <a:cs typeface="Calibri"/>
              </a:rPr>
              <a:t>Jev before retrieval</a:t>
            </a:r>
          </a:p>
        </p:txBody>
      </p:sp>
      <p:sp>
        <p:nvSpPr>
          <p:cNvPr id="6" name="Rectangle 5">
            <a:extLst>
              <a:ext uri="{FF2B5EF4-FFF2-40B4-BE49-F238E27FC236}">
                <a16:creationId xmlns:a16="http://schemas.microsoft.com/office/drawing/2014/main" id="{A8FE90F0-500A-4D7E-8486-E333AC367FB3}"/>
              </a:ext>
            </a:extLst>
          </p:cNvPr>
          <p:cNvSpPr>
            <a:spLocks noGrp="1"/>
          </p:cNvSpPr>
          <p:nvPr/>
        </p:nvSpPr>
        <p:spPr>
          <a:xfrm>
            <a:off x="838200" y="2105025"/>
            <a:ext cx="1885950" cy="228600"/>
          </a:xfrm>
          <a:prstGeom prst="rect">
            <a:avLst/>
          </a:prstGeom>
          <a:noFill/>
          <a:ln w="0">
            <a:noFill/>
          </a:ln>
        </p:spPr>
        <p:txBody>
          <a:bodyPr wrap="square" lIns="0" tIns="0" rIns="0" bIns="0" anchor="t">
            <a:normAutofit/>
          </a:bodyPr>
          <a:lstStyle/>
          <a:p>
            <a:pPr algn="l">
              <a:lnSpc>
                <a:spcPct val="100000"/>
              </a:lnSpc>
              <a:buNone/>
              <a:defRPr sz="1088" b="0" i="0">
                <a:solidFill>
                  <a:srgbClr val="5E5E5E"/>
                </a:solidFill>
                <a:latin typeface="Calibri"/>
                <a:ea typeface="Calibri"/>
                <a:cs typeface="Calibri"/>
              </a:defRPr>
            </a:pPr>
            <a:r>
              <a:rPr sz="1088" b="0" i="0">
                <a:solidFill>
                  <a:srgbClr val="5E5E5E"/>
                </a:solidFill>
                <a:latin typeface="Calibri"/>
                <a:ea typeface="Calibri"/>
                <a:cs typeface="Calibri"/>
              </a:rPr>
              <a:t>Router A, simulated</a:t>
            </a:r>
          </a:p>
        </p:txBody>
      </p:sp>
      <p:sp>
        <p:nvSpPr>
          <p:cNvPr id="7" name="Rectangle 6">
            <a:extLst>
              <a:ext uri="{FF2B5EF4-FFF2-40B4-BE49-F238E27FC236}">
                <a16:creationId xmlns:a16="http://schemas.microsoft.com/office/drawing/2014/main" id="{24CF77E5-9690-4046-A428-340F1A24F717}"/>
              </a:ext>
            </a:extLst>
          </p:cNvPr>
          <p:cNvSpPr>
            <a:spLocks noGrp="1"/>
          </p:cNvSpPr>
          <p:nvPr/>
        </p:nvSpPr>
        <p:spPr>
          <a:xfrm>
            <a:off x="838200" y="2400300"/>
            <a:ext cx="10515600" cy="361950"/>
          </a:xfrm>
          <a:prstGeom prst="rect">
            <a:avLst/>
          </a:prstGeom>
          <a:noFill/>
          <a:ln w="0">
            <a:noFill/>
          </a:ln>
        </p:spPr>
        <p:txBody>
          <a:bodyPr wrap="square" lIns="0" tIns="0" rIns="0" bIns="0" anchor="ctr">
            <a:normAutofit/>
          </a:bodyPr>
          <a:lstStyle/>
          <a:p>
            <a:pPr algn="ctr">
              <a:lnSpc>
                <a:spcPct val="100000"/>
              </a:lnSpc>
              <a:buNone/>
              <a:defRPr sz="1020" b="0" i="0">
                <a:solidFill>
                  <a:srgbClr val="5E5E5E"/>
                </a:solidFill>
                <a:latin typeface="Calibri"/>
                <a:ea typeface="Calibri"/>
                <a:cs typeface="Calibri"/>
              </a:defRPr>
            </a:pPr>
            <a:r>
              <a:rPr sz="1020" b="0" i="0">
                <a:solidFill>
                  <a:srgbClr val="5E5E5E"/>
                </a:solidFill>
                <a:latin typeface="Calibri"/>
                <a:ea typeface="Calibri"/>
                <a:cs typeface="Calibri"/>
              </a:rPr>
              <a:t>Limitation: Jev saw wording only, before the system knew what evidence it had retrieved.</a:t>
            </a:r>
          </a:p>
        </p:txBody>
      </p:sp>
      <p:sp>
        <p:nvSpPr>
          <p:cNvPr id="8" name="Rounded Rectangle 7">
            <a:extLst>
              <a:ext uri="{FF2B5EF4-FFF2-40B4-BE49-F238E27FC236}">
                <a16:creationId xmlns:a16="http://schemas.microsoft.com/office/drawing/2014/main" id="{10362ECD-50CF-454B-842B-CCC38307E7E3}"/>
              </a:ext>
            </a:extLst>
          </p:cNvPr>
          <p:cNvSpPr>
            <a:spLocks noGrp="1"/>
          </p:cNvSpPr>
          <p:nvPr/>
        </p:nvSpPr>
        <p:spPr>
          <a:xfrm>
            <a:off x="3143250" y="1752600"/>
            <a:ext cx="266700" cy="266700"/>
          </a:xfrm>
          <a:prstGeom prst="roundRect">
            <a:avLst>
              <a:gd name="adj" fmla="val 50000"/>
            </a:avLst>
          </a:prstGeom>
          <a:solidFill>
            <a:srgbClr val="5E5E5E"/>
          </a:solidFill>
          <a:ln w="0">
            <a:noFill/>
          </a:ln>
        </p:spPr>
        <p:txBody>
          <a:bodyPr/>
          <a:lstStyle/>
          <a:p>
            <a:endParaRPr lang="en-US"/>
          </a:p>
        </p:txBody>
      </p:sp>
      <p:sp>
        <p:nvSpPr>
          <p:cNvPr id="9" name="Rectangle 8">
            <a:extLst>
              <a:ext uri="{FF2B5EF4-FFF2-40B4-BE49-F238E27FC236}">
                <a16:creationId xmlns:a16="http://schemas.microsoft.com/office/drawing/2014/main" id="{1015AB55-9A1F-431C-844A-1B6C6E0E4499}"/>
              </a:ext>
            </a:extLst>
          </p:cNvPr>
          <p:cNvSpPr>
            <a:spLocks noGrp="1"/>
          </p:cNvSpPr>
          <p:nvPr/>
        </p:nvSpPr>
        <p:spPr>
          <a:xfrm>
            <a:off x="3143250" y="1762125"/>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1</a:t>
            </a:r>
          </a:p>
        </p:txBody>
      </p:sp>
      <p:sp>
        <p:nvSpPr>
          <p:cNvPr id="10" name="Rectangle 9">
            <a:extLst>
              <a:ext uri="{FF2B5EF4-FFF2-40B4-BE49-F238E27FC236}">
                <a16:creationId xmlns:a16="http://schemas.microsoft.com/office/drawing/2014/main" id="{983B1CA6-AC57-4298-AB1B-157580424D0E}"/>
              </a:ext>
            </a:extLst>
          </p:cNvPr>
          <p:cNvSpPr>
            <a:spLocks noGrp="1"/>
          </p:cNvSpPr>
          <p:nvPr/>
        </p:nvSpPr>
        <p:spPr>
          <a:xfrm>
            <a:off x="3486150" y="1743075"/>
            <a:ext cx="1419225" cy="581025"/>
          </a:xfrm>
          <a:prstGeom prst="rect">
            <a:avLst/>
          </a:prstGeom>
          <a:noFill/>
          <a:ln w="0">
            <a:noFill/>
          </a:ln>
        </p:spPr>
        <p:txBody>
          <a:bodyPr wrap="square" lIns="0" tIns="0" rIns="0" bIns="0" anchor="ctr">
            <a:normAutofit/>
          </a:bodyPr>
          <a:lstStyle/>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Question wording</a:t>
            </a:r>
          </a:p>
        </p:txBody>
      </p:sp>
      <p:sp>
        <p:nvSpPr>
          <p:cNvPr id="11" name="Rectangle 10">
            <a:extLst>
              <a:ext uri="{FF2B5EF4-FFF2-40B4-BE49-F238E27FC236}">
                <a16:creationId xmlns:a16="http://schemas.microsoft.com/office/drawing/2014/main" id="{62D380B5-81EF-4E9F-93AF-984DE0908325}"/>
              </a:ext>
            </a:extLst>
          </p:cNvPr>
          <p:cNvSpPr>
            <a:spLocks noGrp="1"/>
          </p:cNvSpPr>
          <p:nvPr/>
        </p:nvSpPr>
        <p:spPr>
          <a:xfrm>
            <a:off x="4981575" y="1876425"/>
            <a:ext cx="171450" cy="19050"/>
          </a:xfrm>
          <a:prstGeom prst="rect">
            <a:avLst/>
          </a:prstGeom>
          <a:solidFill>
            <a:srgbClr val="5E5E5E"/>
          </a:solidFill>
          <a:ln w="0">
            <a:noFill/>
          </a:ln>
        </p:spPr>
        <p:txBody>
          <a:bodyPr/>
          <a:lstStyle/>
          <a:p>
            <a:endParaRPr lang="en-US"/>
          </a:p>
        </p:txBody>
      </p:sp>
      <p:sp>
        <p:nvSpPr>
          <p:cNvPr id="12" name="Rounded Rectangle 11">
            <a:extLst>
              <a:ext uri="{FF2B5EF4-FFF2-40B4-BE49-F238E27FC236}">
                <a16:creationId xmlns:a16="http://schemas.microsoft.com/office/drawing/2014/main" id="{2265C261-08E3-4026-BF9A-986455BCBDDA}"/>
              </a:ext>
            </a:extLst>
          </p:cNvPr>
          <p:cNvSpPr>
            <a:spLocks noGrp="1"/>
          </p:cNvSpPr>
          <p:nvPr/>
        </p:nvSpPr>
        <p:spPr>
          <a:xfrm>
            <a:off x="5191125" y="1752600"/>
            <a:ext cx="266700" cy="266700"/>
          </a:xfrm>
          <a:prstGeom prst="roundRect">
            <a:avLst>
              <a:gd name="adj" fmla="val 50000"/>
            </a:avLst>
          </a:prstGeom>
          <a:solidFill>
            <a:srgbClr val="5E5E5E"/>
          </a:solidFill>
          <a:ln w="0">
            <a:noFill/>
          </a:ln>
        </p:spPr>
        <p:txBody>
          <a:bodyPr/>
          <a:lstStyle/>
          <a:p>
            <a:endParaRPr lang="en-US"/>
          </a:p>
        </p:txBody>
      </p:sp>
      <p:sp>
        <p:nvSpPr>
          <p:cNvPr id="13" name="Rectangle 12">
            <a:extLst>
              <a:ext uri="{FF2B5EF4-FFF2-40B4-BE49-F238E27FC236}">
                <a16:creationId xmlns:a16="http://schemas.microsoft.com/office/drawing/2014/main" id="{85F978A9-73C2-4EE4-8690-ECB98E49B8C0}"/>
              </a:ext>
            </a:extLst>
          </p:cNvPr>
          <p:cNvSpPr>
            <a:spLocks noGrp="1"/>
          </p:cNvSpPr>
          <p:nvPr/>
        </p:nvSpPr>
        <p:spPr>
          <a:xfrm>
            <a:off x="5191125" y="1762125"/>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2</a:t>
            </a:r>
          </a:p>
        </p:txBody>
      </p:sp>
      <p:sp>
        <p:nvSpPr>
          <p:cNvPr id="14" name="Rectangle 13">
            <a:extLst>
              <a:ext uri="{FF2B5EF4-FFF2-40B4-BE49-F238E27FC236}">
                <a16:creationId xmlns:a16="http://schemas.microsoft.com/office/drawing/2014/main" id="{B60A3F83-781C-48F5-9E7B-D954A3B9F360}"/>
              </a:ext>
            </a:extLst>
          </p:cNvPr>
          <p:cNvSpPr>
            <a:spLocks noGrp="1"/>
          </p:cNvSpPr>
          <p:nvPr/>
        </p:nvSpPr>
        <p:spPr>
          <a:xfrm>
            <a:off x="5534025" y="1743075"/>
            <a:ext cx="1419225" cy="581025"/>
          </a:xfrm>
          <a:prstGeom prst="rect">
            <a:avLst/>
          </a:prstGeom>
          <a:noFill/>
          <a:ln w="0">
            <a:noFill/>
          </a:ln>
        </p:spPr>
        <p:txBody>
          <a:bodyPr wrap="square" lIns="0" tIns="0" rIns="0" bIns="0" anchor="ctr">
            <a:normAutofit/>
          </a:bodyPr>
          <a:lstStyle/>
          <a:p>
            <a:pPr algn="l">
              <a:lnSpc>
                <a:spcPct val="98000"/>
              </a:lnSpc>
              <a:buNone/>
              <a:defRPr sz="1088" b="1" i="0">
                <a:solidFill>
                  <a:srgbClr val="111111"/>
                </a:solidFill>
                <a:latin typeface="Calibri"/>
                <a:ea typeface="Calibri"/>
                <a:cs typeface="Calibri"/>
              </a:defRPr>
            </a:pPr>
            <a:r>
              <a:rPr sz="1088" b="1" i="0">
                <a:solidFill>
                  <a:srgbClr val="111111"/>
                </a:solidFill>
                <a:latin typeface="Calibri"/>
                <a:ea typeface="Calibri"/>
                <a:cs typeface="Calibri"/>
              </a:rPr>
              <a:t>Jev labels simple or complex</a:t>
            </a:r>
          </a:p>
        </p:txBody>
      </p:sp>
      <p:sp>
        <p:nvSpPr>
          <p:cNvPr id="15" name="Rectangle 14">
            <a:extLst>
              <a:ext uri="{FF2B5EF4-FFF2-40B4-BE49-F238E27FC236}">
                <a16:creationId xmlns:a16="http://schemas.microsoft.com/office/drawing/2014/main" id="{12CDEE5F-7BD6-463A-8655-ACA53CD0CC5F}"/>
              </a:ext>
            </a:extLst>
          </p:cNvPr>
          <p:cNvSpPr>
            <a:spLocks noGrp="1"/>
          </p:cNvSpPr>
          <p:nvPr/>
        </p:nvSpPr>
        <p:spPr>
          <a:xfrm>
            <a:off x="7029450" y="1876425"/>
            <a:ext cx="171450" cy="19050"/>
          </a:xfrm>
          <a:prstGeom prst="rect">
            <a:avLst/>
          </a:prstGeom>
          <a:solidFill>
            <a:srgbClr val="5E5E5E"/>
          </a:solidFill>
          <a:ln w="0">
            <a:noFill/>
          </a:ln>
        </p:spPr>
        <p:txBody>
          <a:bodyPr/>
          <a:lstStyle/>
          <a:p>
            <a:endParaRPr lang="en-US"/>
          </a:p>
        </p:txBody>
      </p:sp>
      <p:sp>
        <p:nvSpPr>
          <p:cNvPr id="16" name="Rounded Rectangle 15">
            <a:extLst>
              <a:ext uri="{FF2B5EF4-FFF2-40B4-BE49-F238E27FC236}">
                <a16:creationId xmlns:a16="http://schemas.microsoft.com/office/drawing/2014/main" id="{7F11440E-FAE6-47C3-9BBA-B1A243DBF082}"/>
              </a:ext>
            </a:extLst>
          </p:cNvPr>
          <p:cNvSpPr>
            <a:spLocks noGrp="1"/>
          </p:cNvSpPr>
          <p:nvPr/>
        </p:nvSpPr>
        <p:spPr>
          <a:xfrm>
            <a:off x="7239000" y="1752600"/>
            <a:ext cx="266700" cy="266700"/>
          </a:xfrm>
          <a:prstGeom prst="roundRect">
            <a:avLst>
              <a:gd name="adj" fmla="val 50000"/>
            </a:avLst>
          </a:prstGeom>
          <a:solidFill>
            <a:srgbClr val="5E5E5E"/>
          </a:solidFill>
          <a:ln w="0">
            <a:noFill/>
          </a:ln>
        </p:spPr>
        <p:txBody>
          <a:bodyPr/>
          <a:lstStyle/>
          <a:p>
            <a:endParaRPr lang="en-US"/>
          </a:p>
        </p:txBody>
      </p:sp>
      <p:sp>
        <p:nvSpPr>
          <p:cNvPr id="17" name="Rectangle 16">
            <a:extLst>
              <a:ext uri="{FF2B5EF4-FFF2-40B4-BE49-F238E27FC236}">
                <a16:creationId xmlns:a16="http://schemas.microsoft.com/office/drawing/2014/main" id="{0BDB4FE3-D5C9-4B0C-BDFA-5C901CC71C6C}"/>
              </a:ext>
            </a:extLst>
          </p:cNvPr>
          <p:cNvSpPr>
            <a:spLocks noGrp="1"/>
          </p:cNvSpPr>
          <p:nvPr/>
        </p:nvSpPr>
        <p:spPr>
          <a:xfrm>
            <a:off x="7239000" y="1762125"/>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3</a:t>
            </a:r>
          </a:p>
        </p:txBody>
      </p:sp>
      <p:sp>
        <p:nvSpPr>
          <p:cNvPr id="18" name="Rectangle 17">
            <a:extLst>
              <a:ext uri="{FF2B5EF4-FFF2-40B4-BE49-F238E27FC236}">
                <a16:creationId xmlns:a16="http://schemas.microsoft.com/office/drawing/2014/main" id="{59943B60-D3D9-4717-AE94-CB748A72FD59}"/>
              </a:ext>
            </a:extLst>
          </p:cNvPr>
          <p:cNvSpPr>
            <a:spLocks noGrp="1"/>
          </p:cNvSpPr>
          <p:nvPr/>
        </p:nvSpPr>
        <p:spPr>
          <a:xfrm>
            <a:off x="7581900" y="1743075"/>
            <a:ext cx="1419225" cy="581025"/>
          </a:xfrm>
          <a:prstGeom prst="rect">
            <a:avLst/>
          </a:prstGeom>
          <a:noFill/>
          <a:ln w="0">
            <a:noFill/>
          </a:ln>
        </p:spPr>
        <p:txBody>
          <a:bodyPr wrap="square" lIns="0" tIns="0" rIns="0" bIns="0" anchor="ctr">
            <a:normAutofit/>
          </a:bodyPr>
          <a:lstStyle/>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Whole graph uses mini or gpt-5.4</a:t>
            </a:r>
          </a:p>
        </p:txBody>
      </p:sp>
      <p:sp>
        <p:nvSpPr>
          <p:cNvPr id="19" name="Rectangle 18">
            <a:extLst>
              <a:ext uri="{FF2B5EF4-FFF2-40B4-BE49-F238E27FC236}">
                <a16:creationId xmlns:a16="http://schemas.microsoft.com/office/drawing/2014/main" id="{97C9C40A-8AC8-4931-A16D-79840C8BFE1B}"/>
              </a:ext>
            </a:extLst>
          </p:cNvPr>
          <p:cNvSpPr>
            <a:spLocks noGrp="1"/>
          </p:cNvSpPr>
          <p:nvPr/>
        </p:nvSpPr>
        <p:spPr>
          <a:xfrm>
            <a:off x="9077325" y="1876425"/>
            <a:ext cx="171450" cy="19050"/>
          </a:xfrm>
          <a:prstGeom prst="rect">
            <a:avLst/>
          </a:prstGeom>
          <a:solidFill>
            <a:srgbClr val="5E5E5E"/>
          </a:solidFill>
          <a:ln w="0">
            <a:noFill/>
          </a:ln>
        </p:spPr>
        <p:txBody>
          <a:bodyPr/>
          <a:lstStyle/>
          <a:p>
            <a:endParaRPr lang="en-US"/>
          </a:p>
        </p:txBody>
      </p:sp>
      <p:sp>
        <p:nvSpPr>
          <p:cNvPr id="20" name="Rounded Rectangle 19">
            <a:extLst>
              <a:ext uri="{FF2B5EF4-FFF2-40B4-BE49-F238E27FC236}">
                <a16:creationId xmlns:a16="http://schemas.microsoft.com/office/drawing/2014/main" id="{492F66EC-74FF-4245-807B-9CC37B1A6925}"/>
              </a:ext>
            </a:extLst>
          </p:cNvPr>
          <p:cNvSpPr>
            <a:spLocks noGrp="1"/>
          </p:cNvSpPr>
          <p:nvPr/>
        </p:nvSpPr>
        <p:spPr>
          <a:xfrm>
            <a:off x="9286875" y="1752600"/>
            <a:ext cx="266700" cy="266700"/>
          </a:xfrm>
          <a:prstGeom prst="roundRect">
            <a:avLst>
              <a:gd name="adj" fmla="val 50000"/>
            </a:avLst>
          </a:prstGeom>
          <a:solidFill>
            <a:srgbClr val="5E5E5E"/>
          </a:solidFill>
          <a:ln w="0">
            <a:noFill/>
          </a:ln>
        </p:spPr>
        <p:txBody>
          <a:bodyPr/>
          <a:lstStyle/>
          <a:p>
            <a:endParaRPr lang="en-US"/>
          </a:p>
        </p:txBody>
      </p:sp>
      <p:sp>
        <p:nvSpPr>
          <p:cNvPr id="21" name="Rectangle 20">
            <a:extLst>
              <a:ext uri="{FF2B5EF4-FFF2-40B4-BE49-F238E27FC236}">
                <a16:creationId xmlns:a16="http://schemas.microsoft.com/office/drawing/2014/main" id="{C7FEA2F9-2ECD-4297-88C0-3E0E016234B6}"/>
              </a:ext>
            </a:extLst>
          </p:cNvPr>
          <p:cNvSpPr>
            <a:spLocks noGrp="1"/>
          </p:cNvSpPr>
          <p:nvPr/>
        </p:nvSpPr>
        <p:spPr>
          <a:xfrm>
            <a:off x="9286875" y="1762125"/>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4</a:t>
            </a:r>
          </a:p>
        </p:txBody>
      </p:sp>
      <p:sp>
        <p:nvSpPr>
          <p:cNvPr id="22" name="Rectangle 21">
            <a:extLst>
              <a:ext uri="{FF2B5EF4-FFF2-40B4-BE49-F238E27FC236}">
                <a16:creationId xmlns:a16="http://schemas.microsoft.com/office/drawing/2014/main" id="{2C5CEC40-E202-43F7-A05C-83B7B1C55A14}"/>
              </a:ext>
            </a:extLst>
          </p:cNvPr>
          <p:cNvSpPr>
            <a:spLocks noGrp="1"/>
          </p:cNvSpPr>
          <p:nvPr/>
        </p:nvSpPr>
        <p:spPr>
          <a:xfrm>
            <a:off x="9629775" y="1743075"/>
            <a:ext cx="1419225" cy="581025"/>
          </a:xfrm>
          <a:prstGeom prst="rect">
            <a:avLst/>
          </a:prstGeom>
          <a:noFill/>
          <a:ln w="0">
            <a:noFill/>
          </a:ln>
        </p:spPr>
        <p:txBody>
          <a:bodyPr wrap="square" lIns="0" tIns="0" rIns="0" bIns="0" anchor="ctr">
            <a:normAutofit/>
          </a:bodyPr>
          <a:lstStyle/>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0.868 quality</a:t>
            </a:r>
          </a:p>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$0.327/q</a:t>
            </a:r>
          </a:p>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Saved only about 3%</a:t>
            </a:r>
          </a:p>
        </p:txBody>
      </p:sp>
      <p:sp>
        <p:nvSpPr>
          <p:cNvPr id="23" name="Rounded Rectangle 22">
            <a:extLst>
              <a:ext uri="{FF2B5EF4-FFF2-40B4-BE49-F238E27FC236}">
                <a16:creationId xmlns:a16="http://schemas.microsoft.com/office/drawing/2014/main" id="{580D5E0E-277B-41ED-AF14-0FADAD7C1307}"/>
              </a:ext>
            </a:extLst>
          </p:cNvPr>
          <p:cNvSpPr>
            <a:spLocks noGrp="1"/>
          </p:cNvSpPr>
          <p:nvPr/>
        </p:nvSpPr>
        <p:spPr>
          <a:xfrm>
            <a:off x="666750" y="3114675"/>
            <a:ext cx="10858500" cy="1257300"/>
          </a:xfrm>
          <a:prstGeom prst="roundRect">
            <a:avLst>
              <a:gd name="adj" fmla="val 5303"/>
            </a:avLst>
          </a:prstGeom>
          <a:solidFill>
            <a:srgbClr val="E8F4F5"/>
          </a:solidFill>
          <a:ln w="9525">
            <a:solidFill>
              <a:srgbClr val="B8DDE0"/>
            </a:solidFill>
            <a:prstDash val="solid"/>
          </a:ln>
        </p:spPr>
        <p:txBody>
          <a:bodyPr/>
          <a:lstStyle/>
          <a:p>
            <a:endParaRPr lang="en-US"/>
          </a:p>
        </p:txBody>
      </p:sp>
      <p:sp>
        <p:nvSpPr>
          <p:cNvPr id="24" name="Rectangle 23">
            <a:extLst>
              <a:ext uri="{FF2B5EF4-FFF2-40B4-BE49-F238E27FC236}">
                <a16:creationId xmlns:a16="http://schemas.microsoft.com/office/drawing/2014/main" id="{AC7596C1-43DF-4CAE-B673-CD76A9128F63}"/>
              </a:ext>
            </a:extLst>
          </p:cNvPr>
          <p:cNvSpPr>
            <a:spLocks noGrp="1"/>
          </p:cNvSpPr>
          <p:nvPr/>
        </p:nvSpPr>
        <p:spPr>
          <a:xfrm>
            <a:off x="838200" y="3267075"/>
            <a:ext cx="1885950" cy="304800"/>
          </a:xfrm>
          <a:prstGeom prst="rect">
            <a:avLst/>
          </a:prstGeom>
          <a:noFill/>
          <a:ln w="0">
            <a:noFill/>
          </a:ln>
        </p:spPr>
        <p:txBody>
          <a:bodyPr wrap="square" lIns="0" tIns="0" rIns="0" bIns="0" anchor="t">
            <a:normAutofit/>
          </a:bodyPr>
          <a:lstStyle/>
          <a:p>
            <a:pPr algn="l">
              <a:lnSpc>
                <a:spcPct val="100000"/>
              </a:lnSpc>
              <a:buNone/>
              <a:defRPr sz="1500" b="1" i="0">
                <a:solidFill>
                  <a:srgbClr val="087E8B"/>
                </a:solidFill>
                <a:latin typeface="Calibri"/>
                <a:ea typeface="Calibri"/>
                <a:cs typeface="Calibri"/>
              </a:defRPr>
            </a:pPr>
            <a:r>
              <a:rPr sz="1500" b="1" i="0">
                <a:solidFill>
                  <a:srgbClr val="087E8B"/>
                </a:solidFill>
                <a:latin typeface="Calibri"/>
                <a:ea typeface="Calibri"/>
                <a:cs typeface="Calibri"/>
              </a:rPr>
              <a:t>Jev after an answer</a:t>
            </a:r>
          </a:p>
        </p:txBody>
      </p:sp>
      <p:sp>
        <p:nvSpPr>
          <p:cNvPr id="25" name="Rectangle 24">
            <a:extLst>
              <a:ext uri="{FF2B5EF4-FFF2-40B4-BE49-F238E27FC236}">
                <a16:creationId xmlns:a16="http://schemas.microsoft.com/office/drawing/2014/main" id="{9864A947-DB8C-4564-B04D-1873E6A1973D}"/>
              </a:ext>
            </a:extLst>
          </p:cNvPr>
          <p:cNvSpPr>
            <a:spLocks noGrp="1"/>
          </p:cNvSpPr>
          <p:nvPr/>
        </p:nvSpPr>
        <p:spPr>
          <a:xfrm>
            <a:off x="838200" y="3600450"/>
            <a:ext cx="1885950" cy="228600"/>
          </a:xfrm>
          <a:prstGeom prst="rect">
            <a:avLst/>
          </a:prstGeom>
          <a:noFill/>
          <a:ln w="0">
            <a:noFill/>
          </a:ln>
        </p:spPr>
        <p:txBody>
          <a:bodyPr wrap="square" lIns="0" tIns="0" rIns="0" bIns="0" anchor="t">
            <a:normAutofit/>
          </a:bodyPr>
          <a:lstStyle/>
          <a:p>
            <a:pPr algn="l">
              <a:lnSpc>
                <a:spcPct val="100000"/>
              </a:lnSpc>
              <a:buNone/>
              <a:defRPr sz="1088" b="0" i="0">
                <a:solidFill>
                  <a:srgbClr val="5E5E5E"/>
                </a:solidFill>
                <a:latin typeface="Calibri"/>
                <a:ea typeface="Calibri"/>
                <a:cs typeface="Calibri"/>
              </a:defRPr>
            </a:pPr>
            <a:r>
              <a:rPr sz="1088" b="0" i="0">
                <a:solidFill>
                  <a:srgbClr val="5E5E5E"/>
                </a:solidFill>
                <a:latin typeface="Calibri"/>
                <a:ea typeface="Calibri"/>
                <a:cs typeface="Calibri"/>
              </a:rPr>
              <a:t>one exploratory run</a:t>
            </a:r>
          </a:p>
        </p:txBody>
      </p:sp>
      <p:sp>
        <p:nvSpPr>
          <p:cNvPr id="26" name="Rectangle 25">
            <a:extLst>
              <a:ext uri="{FF2B5EF4-FFF2-40B4-BE49-F238E27FC236}">
                <a16:creationId xmlns:a16="http://schemas.microsoft.com/office/drawing/2014/main" id="{3D6CA831-66C2-495B-B42D-35972EBE26F3}"/>
              </a:ext>
            </a:extLst>
          </p:cNvPr>
          <p:cNvSpPr>
            <a:spLocks noGrp="1"/>
          </p:cNvSpPr>
          <p:nvPr/>
        </p:nvSpPr>
        <p:spPr>
          <a:xfrm>
            <a:off x="838200" y="3895725"/>
            <a:ext cx="10515600" cy="361950"/>
          </a:xfrm>
          <a:prstGeom prst="rect">
            <a:avLst/>
          </a:prstGeom>
          <a:noFill/>
          <a:ln w="0">
            <a:noFill/>
          </a:ln>
        </p:spPr>
        <p:txBody>
          <a:bodyPr wrap="square" lIns="0" tIns="0" rIns="0" bIns="0" anchor="ctr">
            <a:normAutofit/>
          </a:bodyPr>
          <a:lstStyle/>
          <a:p>
            <a:pPr algn="ctr">
              <a:lnSpc>
                <a:spcPct val="100000"/>
              </a:lnSpc>
              <a:buNone/>
              <a:defRPr sz="1020" b="0" i="0">
                <a:solidFill>
                  <a:srgbClr val="5E5E5E"/>
                </a:solidFill>
                <a:latin typeface="Calibri"/>
                <a:ea typeface="Calibri"/>
                <a:cs typeface="Calibri"/>
              </a:defRPr>
            </a:pPr>
            <a:r>
              <a:rPr sz="1020" b="0" i="0">
                <a:solidFill>
                  <a:srgbClr val="5E5E5E"/>
                </a:solidFill>
                <a:latin typeface="Calibri"/>
                <a:ea typeface="Calibri"/>
                <a:cs typeface="Calibri"/>
              </a:rPr>
              <a:t>One run: 0.842 quality at $0.1275/q. Escalated questions paid for two passes, and a complete-looking wrong count could pass the check.</a:t>
            </a:r>
          </a:p>
        </p:txBody>
      </p:sp>
      <p:sp>
        <p:nvSpPr>
          <p:cNvPr id="27" name="Rounded Rectangle 26">
            <a:extLst>
              <a:ext uri="{FF2B5EF4-FFF2-40B4-BE49-F238E27FC236}">
                <a16:creationId xmlns:a16="http://schemas.microsoft.com/office/drawing/2014/main" id="{4FE20576-33E0-48B0-8BF1-E81DEF8F0D42}"/>
              </a:ext>
            </a:extLst>
          </p:cNvPr>
          <p:cNvSpPr>
            <a:spLocks noGrp="1"/>
          </p:cNvSpPr>
          <p:nvPr/>
        </p:nvSpPr>
        <p:spPr>
          <a:xfrm>
            <a:off x="3143250" y="3248025"/>
            <a:ext cx="266700" cy="266700"/>
          </a:xfrm>
          <a:prstGeom prst="roundRect">
            <a:avLst>
              <a:gd name="adj" fmla="val 50000"/>
            </a:avLst>
          </a:prstGeom>
          <a:solidFill>
            <a:srgbClr val="087E8B"/>
          </a:solidFill>
          <a:ln w="0">
            <a:noFill/>
          </a:ln>
        </p:spPr>
        <p:txBody>
          <a:bodyPr/>
          <a:lstStyle/>
          <a:p>
            <a:endParaRPr lang="en-US"/>
          </a:p>
        </p:txBody>
      </p:sp>
      <p:sp>
        <p:nvSpPr>
          <p:cNvPr id="28" name="Rectangle 27">
            <a:extLst>
              <a:ext uri="{FF2B5EF4-FFF2-40B4-BE49-F238E27FC236}">
                <a16:creationId xmlns:a16="http://schemas.microsoft.com/office/drawing/2014/main" id="{D43C83A9-B16C-41FF-942C-5373E61BEF2B}"/>
              </a:ext>
            </a:extLst>
          </p:cNvPr>
          <p:cNvSpPr>
            <a:spLocks noGrp="1"/>
          </p:cNvSpPr>
          <p:nvPr/>
        </p:nvSpPr>
        <p:spPr>
          <a:xfrm>
            <a:off x="3143250" y="3257550"/>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1</a:t>
            </a:r>
          </a:p>
        </p:txBody>
      </p:sp>
      <p:sp>
        <p:nvSpPr>
          <p:cNvPr id="29" name="Rectangle 28">
            <a:extLst>
              <a:ext uri="{FF2B5EF4-FFF2-40B4-BE49-F238E27FC236}">
                <a16:creationId xmlns:a16="http://schemas.microsoft.com/office/drawing/2014/main" id="{7F8FB463-B576-4714-A865-FDB787082372}"/>
              </a:ext>
            </a:extLst>
          </p:cNvPr>
          <p:cNvSpPr>
            <a:spLocks noGrp="1"/>
          </p:cNvSpPr>
          <p:nvPr/>
        </p:nvSpPr>
        <p:spPr>
          <a:xfrm>
            <a:off x="3486150" y="3238500"/>
            <a:ext cx="1419225" cy="581025"/>
          </a:xfrm>
          <a:prstGeom prst="rect">
            <a:avLst/>
          </a:prstGeom>
          <a:noFill/>
          <a:ln w="0">
            <a:noFill/>
          </a:ln>
        </p:spPr>
        <p:txBody>
          <a:bodyPr wrap="square" lIns="0" tIns="0" rIns="0" bIns="0" anchor="ctr">
            <a:normAutofit/>
          </a:bodyPr>
          <a:lstStyle/>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TOC review measures evidence size</a:t>
            </a:r>
          </a:p>
        </p:txBody>
      </p:sp>
      <p:sp>
        <p:nvSpPr>
          <p:cNvPr id="30" name="Rectangle 29">
            <a:extLst>
              <a:ext uri="{FF2B5EF4-FFF2-40B4-BE49-F238E27FC236}">
                <a16:creationId xmlns:a16="http://schemas.microsoft.com/office/drawing/2014/main" id="{564765CB-DF71-47EE-B533-FA24504D8CD8}"/>
              </a:ext>
            </a:extLst>
          </p:cNvPr>
          <p:cNvSpPr>
            <a:spLocks noGrp="1"/>
          </p:cNvSpPr>
          <p:nvPr/>
        </p:nvSpPr>
        <p:spPr>
          <a:xfrm>
            <a:off x="4981575" y="3371850"/>
            <a:ext cx="171450" cy="19050"/>
          </a:xfrm>
          <a:prstGeom prst="rect">
            <a:avLst/>
          </a:prstGeom>
          <a:solidFill>
            <a:srgbClr val="087E8B"/>
          </a:solidFill>
          <a:ln w="0">
            <a:noFill/>
          </a:ln>
        </p:spPr>
        <p:txBody>
          <a:bodyPr/>
          <a:lstStyle/>
          <a:p>
            <a:endParaRPr lang="en-US"/>
          </a:p>
        </p:txBody>
      </p:sp>
      <p:sp>
        <p:nvSpPr>
          <p:cNvPr id="31" name="Rounded Rectangle 30">
            <a:extLst>
              <a:ext uri="{FF2B5EF4-FFF2-40B4-BE49-F238E27FC236}">
                <a16:creationId xmlns:a16="http://schemas.microsoft.com/office/drawing/2014/main" id="{88BBE1EF-B48A-4671-BB16-495D49243155}"/>
              </a:ext>
            </a:extLst>
          </p:cNvPr>
          <p:cNvSpPr>
            <a:spLocks noGrp="1"/>
          </p:cNvSpPr>
          <p:nvPr/>
        </p:nvSpPr>
        <p:spPr>
          <a:xfrm>
            <a:off x="5191125" y="3248025"/>
            <a:ext cx="266700" cy="266700"/>
          </a:xfrm>
          <a:prstGeom prst="roundRect">
            <a:avLst>
              <a:gd name="adj" fmla="val 50000"/>
            </a:avLst>
          </a:prstGeom>
          <a:solidFill>
            <a:srgbClr val="087E8B"/>
          </a:solidFill>
          <a:ln w="0">
            <a:noFill/>
          </a:ln>
        </p:spPr>
        <p:txBody>
          <a:bodyPr/>
          <a:lstStyle/>
          <a:p>
            <a:endParaRPr lang="en-US"/>
          </a:p>
        </p:txBody>
      </p:sp>
      <p:sp>
        <p:nvSpPr>
          <p:cNvPr id="32" name="Rectangle 31">
            <a:extLst>
              <a:ext uri="{FF2B5EF4-FFF2-40B4-BE49-F238E27FC236}">
                <a16:creationId xmlns:a16="http://schemas.microsoft.com/office/drawing/2014/main" id="{83562F1B-EBF2-4C36-829D-ADCC68D9EFB4}"/>
              </a:ext>
            </a:extLst>
          </p:cNvPr>
          <p:cNvSpPr>
            <a:spLocks noGrp="1"/>
          </p:cNvSpPr>
          <p:nvPr/>
        </p:nvSpPr>
        <p:spPr>
          <a:xfrm>
            <a:off x="5191125" y="3257550"/>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2</a:t>
            </a:r>
          </a:p>
        </p:txBody>
      </p:sp>
      <p:sp>
        <p:nvSpPr>
          <p:cNvPr id="33" name="Rectangle 32">
            <a:extLst>
              <a:ext uri="{FF2B5EF4-FFF2-40B4-BE49-F238E27FC236}">
                <a16:creationId xmlns:a16="http://schemas.microsoft.com/office/drawing/2014/main" id="{9F9ACBC4-E72E-48C0-9B8F-CE60DF964E34}"/>
              </a:ext>
            </a:extLst>
          </p:cNvPr>
          <p:cNvSpPr>
            <a:spLocks noGrp="1"/>
          </p:cNvSpPr>
          <p:nvPr/>
        </p:nvSpPr>
        <p:spPr>
          <a:xfrm>
            <a:off x="5534025" y="3238500"/>
            <a:ext cx="1419225" cy="581025"/>
          </a:xfrm>
          <a:prstGeom prst="rect">
            <a:avLst/>
          </a:prstGeom>
          <a:noFill/>
          <a:ln w="0">
            <a:noFill/>
          </a:ln>
        </p:spPr>
        <p:txBody>
          <a:bodyPr wrap="square" lIns="0" tIns="0" rIns="0" bIns="0" anchor="ctr">
            <a:normAutofit fontScale="99447"/>
          </a:bodyPr>
          <a:lstStyle/>
          <a:p>
            <a:pPr algn="l">
              <a:lnSpc>
                <a:spcPct val="98000"/>
              </a:lnSpc>
              <a:buNone/>
              <a:defRPr sz="1088" b="1" i="0">
                <a:solidFill>
                  <a:srgbClr val="111111"/>
                </a:solidFill>
                <a:latin typeface="Calibri"/>
                <a:ea typeface="Calibri"/>
                <a:cs typeface="Calibri"/>
              </a:defRPr>
            </a:pPr>
            <a:r>
              <a:rPr sz="1088" b="1" i="0">
                <a:solidFill>
                  <a:srgbClr val="111111"/>
                </a:solidFill>
                <a:latin typeface="Calibri"/>
                <a:ea typeface="Calibri"/>
                <a:cs typeface="Calibri"/>
              </a:rPr>
              <a:t>&gt;80K chars: use gpt-5.4</a:t>
            </a:r>
          </a:p>
          <a:p>
            <a:pPr algn="l">
              <a:lnSpc>
                <a:spcPct val="98000"/>
              </a:lnSpc>
              <a:buNone/>
              <a:defRPr sz="1088" b="1" i="0">
                <a:solidFill>
                  <a:srgbClr val="111111"/>
                </a:solidFill>
                <a:latin typeface="Calibri"/>
                <a:ea typeface="Calibri"/>
                <a:cs typeface="Calibri"/>
              </a:defRPr>
            </a:pPr>
            <a:r>
              <a:rPr sz="1088" b="1" i="0">
                <a:solidFill>
                  <a:srgbClr val="111111"/>
                </a:solidFill>
                <a:latin typeface="Calibri"/>
                <a:ea typeface="Calibri"/>
                <a:cs typeface="Calibri"/>
              </a:rPr>
              <a:t>Otherwise: mini answer</a:t>
            </a:r>
          </a:p>
        </p:txBody>
      </p:sp>
      <p:sp>
        <p:nvSpPr>
          <p:cNvPr id="34" name="Rectangle 33">
            <a:extLst>
              <a:ext uri="{FF2B5EF4-FFF2-40B4-BE49-F238E27FC236}">
                <a16:creationId xmlns:a16="http://schemas.microsoft.com/office/drawing/2014/main" id="{5985B539-8504-44D6-8CAF-1CC0F28E042D}"/>
              </a:ext>
            </a:extLst>
          </p:cNvPr>
          <p:cNvSpPr>
            <a:spLocks noGrp="1"/>
          </p:cNvSpPr>
          <p:nvPr/>
        </p:nvSpPr>
        <p:spPr>
          <a:xfrm>
            <a:off x="7029450" y="3371850"/>
            <a:ext cx="171450" cy="19050"/>
          </a:xfrm>
          <a:prstGeom prst="rect">
            <a:avLst/>
          </a:prstGeom>
          <a:solidFill>
            <a:srgbClr val="087E8B"/>
          </a:solidFill>
          <a:ln w="0">
            <a:noFill/>
          </a:ln>
        </p:spPr>
        <p:txBody>
          <a:bodyPr/>
          <a:lstStyle/>
          <a:p>
            <a:endParaRPr lang="en-US"/>
          </a:p>
        </p:txBody>
      </p:sp>
      <p:sp>
        <p:nvSpPr>
          <p:cNvPr id="35" name="Rounded Rectangle 34">
            <a:extLst>
              <a:ext uri="{FF2B5EF4-FFF2-40B4-BE49-F238E27FC236}">
                <a16:creationId xmlns:a16="http://schemas.microsoft.com/office/drawing/2014/main" id="{B75A6996-2338-4AC5-BF93-37913ED0AC92}"/>
              </a:ext>
            </a:extLst>
          </p:cNvPr>
          <p:cNvSpPr>
            <a:spLocks noGrp="1"/>
          </p:cNvSpPr>
          <p:nvPr/>
        </p:nvSpPr>
        <p:spPr>
          <a:xfrm>
            <a:off x="7239000" y="3248025"/>
            <a:ext cx="266700" cy="266700"/>
          </a:xfrm>
          <a:prstGeom prst="roundRect">
            <a:avLst>
              <a:gd name="adj" fmla="val 50000"/>
            </a:avLst>
          </a:prstGeom>
          <a:solidFill>
            <a:srgbClr val="087E8B"/>
          </a:solidFill>
          <a:ln w="0">
            <a:noFill/>
          </a:ln>
        </p:spPr>
        <p:txBody>
          <a:bodyPr/>
          <a:lstStyle/>
          <a:p>
            <a:endParaRPr lang="en-US"/>
          </a:p>
        </p:txBody>
      </p:sp>
      <p:sp>
        <p:nvSpPr>
          <p:cNvPr id="36" name="Rectangle 35">
            <a:extLst>
              <a:ext uri="{FF2B5EF4-FFF2-40B4-BE49-F238E27FC236}">
                <a16:creationId xmlns:a16="http://schemas.microsoft.com/office/drawing/2014/main" id="{7CAF7830-6C6E-4576-8DFF-BEE9AEC48C2C}"/>
              </a:ext>
            </a:extLst>
          </p:cNvPr>
          <p:cNvSpPr>
            <a:spLocks noGrp="1"/>
          </p:cNvSpPr>
          <p:nvPr/>
        </p:nvSpPr>
        <p:spPr>
          <a:xfrm>
            <a:off x="7239000" y="3257550"/>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3</a:t>
            </a:r>
          </a:p>
        </p:txBody>
      </p:sp>
      <p:sp>
        <p:nvSpPr>
          <p:cNvPr id="37" name="Rectangle 36">
            <a:extLst>
              <a:ext uri="{FF2B5EF4-FFF2-40B4-BE49-F238E27FC236}">
                <a16:creationId xmlns:a16="http://schemas.microsoft.com/office/drawing/2014/main" id="{A6A6CF93-002E-4D73-B486-496C04F385CC}"/>
              </a:ext>
            </a:extLst>
          </p:cNvPr>
          <p:cNvSpPr>
            <a:spLocks noGrp="1"/>
          </p:cNvSpPr>
          <p:nvPr/>
        </p:nvSpPr>
        <p:spPr>
          <a:xfrm>
            <a:off x="7581900" y="3238500"/>
            <a:ext cx="1419225" cy="581025"/>
          </a:xfrm>
          <a:prstGeom prst="rect">
            <a:avLst/>
          </a:prstGeom>
          <a:noFill/>
          <a:ln w="0">
            <a:noFill/>
          </a:ln>
        </p:spPr>
        <p:txBody>
          <a:bodyPr wrap="square" lIns="0" tIns="0" rIns="0" bIns="0" anchor="ctr">
            <a:normAutofit/>
          </a:bodyPr>
          <a:lstStyle/>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Jev returns P(complete)</a:t>
            </a:r>
          </a:p>
        </p:txBody>
      </p:sp>
      <p:sp>
        <p:nvSpPr>
          <p:cNvPr id="38" name="Rectangle 37">
            <a:extLst>
              <a:ext uri="{FF2B5EF4-FFF2-40B4-BE49-F238E27FC236}">
                <a16:creationId xmlns:a16="http://schemas.microsoft.com/office/drawing/2014/main" id="{602B3292-F473-4C69-B3C1-86B134E8B186}"/>
              </a:ext>
            </a:extLst>
          </p:cNvPr>
          <p:cNvSpPr>
            <a:spLocks noGrp="1"/>
          </p:cNvSpPr>
          <p:nvPr/>
        </p:nvSpPr>
        <p:spPr>
          <a:xfrm>
            <a:off x="9077325" y="3371850"/>
            <a:ext cx="171450" cy="19050"/>
          </a:xfrm>
          <a:prstGeom prst="rect">
            <a:avLst/>
          </a:prstGeom>
          <a:solidFill>
            <a:srgbClr val="087E8B"/>
          </a:solidFill>
          <a:ln w="0">
            <a:noFill/>
          </a:ln>
        </p:spPr>
        <p:txBody>
          <a:bodyPr/>
          <a:lstStyle/>
          <a:p>
            <a:endParaRPr lang="en-US"/>
          </a:p>
        </p:txBody>
      </p:sp>
      <p:sp>
        <p:nvSpPr>
          <p:cNvPr id="39" name="Rounded Rectangle 38">
            <a:extLst>
              <a:ext uri="{FF2B5EF4-FFF2-40B4-BE49-F238E27FC236}">
                <a16:creationId xmlns:a16="http://schemas.microsoft.com/office/drawing/2014/main" id="{14889E29-3A5A-49FD-9B43-8DF4DFAE0DA3}"/>
              </a:ext>
            </a:extLst>
          </p:cNvPr>
          <p:cNvSpPr>
            <a:spLocks noGrp="1"/>
          </p:cNvSpPr>
          <p:nvPr/>
        </p:nvSpPr>
        <p:spPr>
          <a:xfrm>
            <a:off x="9286875" y="3248025"/>
            <a:ext cx="266700" cy="266700"/>
          </a:xfrm>
          <a:prstGeom prst="roundRect">
            <a:avLst>
              <a:gd name="adj" fmla="val 50000"/>
            </a:avLst>
          </a:prstGeom>
          <a:solidFill>
            <a:srgbClr val="087E8B"/>
          </a:solidFill>
          <a:ln w="0">
            <a:noFill/>
          </a:ln>
        </p:spPr>
        <p:txBody>
          <a:bodyPr/>
          <a:lstStyle/>
          <a:p>
            <a:endParaRPr lang="en-US"/>
          </a:p>
        </p:txBody>
      </p:sp>
      <p:sp>
        <p:nvSpPr>
          <p:cNvPr id="40" name="Rectangle 39">
            <a:extLst>
              <a:ext uri="{FF2B5EF4-FFF2-40B4-BE49-F238E27FC236}">
                <a16:creationId xmlns:a16="http://schemas.microsoft.com/office/drawing/2014/main" id="{0B0D6636-EAD9-4F6C-BEA3-65969F548BF2}"/>
              </a:ext>
            </a:extLst>
          </p:cNvPr>
          <p:cNvSpPr>
            <a:spLocks noGrp="1"/>
          </p:cNvSpPr>
          <p:nvPr/>
        </p:nvSpPr>
        <p:spPr>
          <a:xfrm>
            <a:off x="9286875" y="3257550"/>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4</a:t>
            </a:r>
          </a:p>
        </p:txBody>
      </p:sp>
      <p:sp>
        <p:nvSpPr>
          <p:cNvPr id="41" name="Rectangle 40">
            <a:extLst>
              <a:ext uri="{FF2B5EF4-FFF2-40B4-BE49-F238E27FC236}">
                <a16:creationId xmlns:a16="http://schemas.microsoft.com/office/drawing/2014/main" id="{78FE39CA-BA52-4BEA-9617-34426F344241}"/>
              </a:ext>
            </a:extLst>
          </p:cNvPr>
          <p:cNvSpPr>
            <a:spLocks noGrp="1"/>
          </p:cNvSpPr>
          <p:nvPr/>
        </p:nvSpPr>
        <p:spPr>
          <a:xfrm>
            <a:off x="9629775" y="3238500"/>
            <a:ext cx="1419225" cy="581025"/>
          </a:xfrm>
          <a:prstGeom prst="rect">
            <a:avLst/>
          </a:prstGeom>
          <a:noFill/>
          <a:ln w="0">
            <a:noFill/>
          </a:ln>
        </p:spPr>
        <p:txBody>
          <a:bodyPr wrap="square" lIns="0" tIns="0" rIns="0" bIns="0" anchor="ctr">
            <a:normAutofit/>
          </a:bodyPr>
          <a:lstStyle/>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Below 0.5, failure, or overflow: rerun on gpt-5.4</a:t>
            </a:r>
          </a:p>
        </p:txBody>
      </p:sp>
      <p:sp>
        <p:nvSpPr>
          <p:cNvPr id="42" name="Rounded Rectangle 41">
            <a:extLst>
              <a:ext uri="{FF2B5EF4-FFF2-40B4-BE49-F238E27FC236}">
                <a16:creationId xmlns:a16="http://schemas.microsoft.com/office/drawing/2014/main" id="{CF9E89AA-F824-4339-B3FF-AB439BC17476}"/>
              </a:ext>
            </a:extLst>
          </p:cNvPr>
          <p:cNvSpPr>
            <a:spLocks noGrp="1"/>
          </p:cNvSpPr>
          <p:nvPr/>
        </p:nvSpPr>
        <p:spPr>
          <a:xfrm>
            <a:off x="666750" y="4610100"/>
            <a:ext cx="10858500" cy="1257300"/>
          </a:xfrm>
          <a:prstGeom prst="roundRect">
            <a:avLst>
              <a:gd name="adj" fmla="val 5303"/>
            </a:avLst>
          </a:prstGeom>
          <a:solidFill>
            <a:srgbClr val="F7E9EC"/>
          </a:solidFill>
          <a:ln w="9525">
            <a:solidFill>
              <a:srgbClr val="E6BBC4"/>
            </a:solidFill>
            <a:prstDash val="solid"/>
          </a:ln>
        </p:spPr>
        <p:txBody>
          <a:bodyPr/>
          <a:lstStyle/>
          <a:p>
            <a:endParaRPr lang="en-US"/>
          </a:p>
        </p:txBody>
      </p:sp>
      <p:sp>
        <p:nvSpPr>
          <p:cNvPr id="43" name="Rectangle 42">
            <a:extLst>
              <a:ext uri="{FF2B5EF4-FFF2-40B4-BE49-F238E27FC236}">
                <a16:creationId xmlns:a16="http://schemas.microsoft.com/office/drawing/2014/main" id="{07582428-9E28-4E00-9DB3-1D5B7E8085F1}"/>
              </a:ext>
            </a:extLst>
          </p:cNvPr>
          <p:cNvSpPr>
            <a:spLocks noGrp="1"/>
          </p:cNvSpPr>
          <p:nvPr/>
        </p:nvSpPr>
        <p:spPr>
          <a:xfrm>
            <a:off x="838200" y="4762500"/>
            <a:ext cx="1885950" cy="304800"/>
          </a:xfrm>
          <a:prstGeom prst="rect">
            <a:avLst/>
          </a:prstGeom>
          <a:noFill/>
          <a:ln w="0">
            <a:noFill/>
          </a:ln>
        </p:spPr>
        <p:txBody>
          <a:bodyPr wrap="square" lIns="0" tIns="0" rIns="0" bIns="0" anchor="t">
            <a:normAutofit fontScale="90962"/>
          </a:bodyPr>
          <a:lstStyle/>
          <a:p>
            <a:pPr algn="l">
              <a:lnSpc>
                <a:spcPct val="100000"/>
              </a:lnSpc>
              <a:buNone/>
              <a:defRPr sz="1500" b="1" i="0">
                <a:solidFill>
                  <a:srgbClr val="A31F34"/>
                </a:solidFill>
                <a:latin typeface="Calibri"/>
                <a:ea typeface="Calibri"/>
                <a:cs typeface="Calibri"/>
              </a:defRPr>
            </a:pPr>
            <a:r>
              <a:rPr sz="1500" b="1" i="0">
                <a:solidFill>
                  <a:srgbClr val="A31F34"/>
                </a:solidFill>
                <a:latin typeface="Calibri"/>
                <a:ea typeface="Calibri"/>
                <a:cs typeface="Calibri"/>
              </a:rPr>
              <a:t>TOC signal after retrieval</a:t>
            </a:r>
          </a:p>
        </p:txBody>
      </p:sp>
      <p:sp>
        <p:nvSpPr>
          <p:cNvPr id="44" name="Rectangle 43">
            <a:extLst>
              <a:ext uri="{FF2B5EF4-FFF2-40B4-BE49-F238E27FC236}">
                <a16:creationId xmlns:a16="http://schemas.microsoft.com/office/drawing/2014/main" id="{C8699260-7964-40C0-A3E1-F5E956A5E0C8}"/>
              </a:ext>
            </a:extLst>
          </p:cNvPr>
          <p:cNvSpPr>
            <a:spLocks noGrp="1"/>
          </p:cNvSpPr>
          <p:nvPr/>
        </p:nvSpPr>
        <p:spPr>
          <a:xfrm>
            <a:off x="838200" y="5095875"/>
            <a:ext cx="1885950" cy="228600"/>
          </a:xfrm>
          <a:prstGeom prst="rect">
            <a:avLst/>
          </a:prstGeom>
          <a:noFill/>
          <a:ln w="0">
            <a:noFill/>
          </a:ln>
        </p:spPr>
        <p:txBody>
          <a:bodyPr wrap="square" lIns="0" tIns="0" rIns="0" bIns="0" anchor="t">
            <a:normAutofit/>
          </a:bodyPr>
          <a:lstStyle/>
          <a:p>
            <a:pPr algn="l">
              <a:lnSpc>
                <a:spcPct val="100000"/>
              </a:lnSpc>
              <a:buNone/>
              <a:defRPr sz="1088" b="0" i="0">
                <a:solidFill>
                  <a:srgbClr val="5E5E5E"/>
                </a:solidFill>
                <a:latin typeface="Calibri"/>
                <a:ea typeface="Calibri"/>
                <a:cs typeface="Calibri"/>
              </a:defRPr>
            </a:pPr>
            <a:r>
              <a:rPr sz="1088" b="0" i="0">
                <a:solidFill>
                  <a:srgbClr val="5E5E5E"/>
                </a:solidFill>
                <a:latin typeface="Calibri"/>
                <a:ea typeface="Calibri"/>
                <a:cs typeface="Calibri"/>
              </a:rPr>
              <a:t>selected table-path policy</a:t>
            </a:r>
          </a:p>
        </p:txBody>
      </p:sp>
      <p:sp>
        <p:nvSpPr>
          <p:cNvPr id="45" name="Rectangle 44">
            <a:extLst>
              <a:ext uri="{FF2B5EF4-FFF2-40B4-BE49-F238E27FC236}">
                <a16:creationId xmlns:a16="http://schemas.microsoft.com/office/drawing/2014/main" id="{68E3060A-FA34-4FA3-A118-F3CE3566FB53}"/>
              </a:ext>
            </a:extLst>
          </p:cNvPr>
          <p:cNvSpPr>
            <a:spLocks noGrp="1"/>
          </p:cNvSpPr>
          <p:nvPr/>
        </p:nvSpPr>
        <p:spPr>
          <a:xfrm>
            <a:off x="838200" y="5391150"/>
            <a:ext cx="10515600" cy="361950"/>
          </a:xfrm>
          <a:prstGeom prst="rect">
            <a:avLst/>
          </a:prstGeom>
          <a:noFill/>
          <a:ln w="0">
            <a:noFill/>
          </a:ln>
        </p:spPr>
        <p:txBody>
          <a:bodyPr wrap="square" lIns="0" tIns="0" rIns="0" bIns="0" anchor="ctr">
            <a:normAutofit/>
          </a:bodyPr>
          <a:lstStyle/>
          <a:p>
            <a:pPr algn="ctr">
              <a:lnSpc>
                <a:spcPct val="100000"/>
              </a:lnSpc>
              <a:buNone/>
              <a:defRPr sz="1020" b="0" i="0">
                <a:solidFill>
                  <a:srgbClr val="5E5E5E"/>
                </a:solidFill>
                <a:latin typeface="Calibri"/>
                <a:ea typeface="Calibri"/>
                <a:cs typeface="Calibri"/>
              </a:defRPr>
            </a:pPr>
            <a:r>
              <a:rPr sz="1020" b="0" i="0">
                <a:solidFill>
                  <a:srgbClr val="5E5E5E"/>
                </a:solidFill>
                <a:latin typeface="Calibri"/>
                <a:ea typeface="Calibri"/>
                <a:cs typeface="Calibri"/>
              </a:rPr>
              <a:t>Selected result: 0.868 quality at $0.1725/q and 21.3 s/q. Text stayed on mini. Table questions switched the assessor and answer.</a:t>
            </a:r>
          </a:p>
        </p:txBody>
      </p:sp>
      <p:sp>
        <p:nvSpPr>
          <p:cNvPr id="46" name="Rounded Rectangle 45">
            <a:extLst>
              <a:ext uri="{FF2B5EF4-FFF2-40B4-BE49-F238E27FC236}">
                <a16:creationId xmlns:a16="http://schemas.microsoft.com/office/drawing/2014/main" id="{F2321DF5-8735-4ED7-B515-14CE96250D95}"/>
              </a:ext>
            </a:extLst>
          </p:cNvPr>
          <p:cNvSpPr>
            <a:spLocks noGrp="1"/>
          </p:cNvSpPr>
          <p:nvPr/>
        </p:nvSpPr>
        <p:spPr>
          <a:xfrm>
            <a:off x="3143250" y="4743450"/>
            <a:ext cx="266700" cy="266700"/>
          </a:xfrm>
          <a:prstGeom prst="roundRect">
            <a:avLst>
              <a:gd name="adj" fmla="val 50000"/>
            </a:avLst>
          </a:prstGeom>
          <a:solidFill>
            <a:srgbClr val="A31F34"/>
          </a:solidFill>
          <a:ln w="0">
            <a:noFill/>
          </a:ln>
        </p:spPr>
        <p:txBody>
          <a:bodyPr/>
          <a:lstStyle/>
          <a:p>
            <a:endParaRPr lang="en-US"/>
          </a:p>
        </p:txBody>
      </p:sp>
      <p:sp>
        <p:nvSpPr>
          <p:cNvPr id="47" name="Rectangle 46">
            <a:extLst>
              <a:ext uri="{FF2B5EF4-FFF2-40B4-BE49-F238E27FC236}">
                <a16:creationId xmlns:a16="http://schemas.microsoft.com/office/drawing/2014/main" id="{C38BEA5B-4B52-4136-8A4F-4867928744EE}"/>
              </a:ext>
            </a:extLst>
          </p:cNvPr>
          <p:cNvSpPr>
            <a:spLocks noGrp="1"/>
          </p:cNvSpPr>
          <p:nvPr/>
        </p:nvSpPr>
        <p:spPr>
          <a:xfrm>
            <a:off x="3143250" y="4752975"/>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1</a:t>
            </a:r>
          </a:p>
        </p:txBody>
      </p:sp>
      <p:sp>
        <p:nvSpPr>
          <p:cNvPr id="48" name="Rectangle 47">
            <a:extLst>
              <a:ext uri="{FF2B5EF4-FFF2-40B4-BE49-F238E27FC236}">
                <a16:creationId xmlns:a16="http://schemas.microsoft.com/office/drawing/2014/main" id="{BB139231-0575-4B07-B128-2D2B9F5CA9C4}"/>
              </a:ext>
            </a:extLst>
          </p:cNvPr>
          <p:cNvSpPr>
            <a:spLocks noGrp="1"/>
          </p:cNvSpPr>
          <p:nvPr/>
        </p:nvSpPr>
        <p:spPr>
          <a:xfrm>
            <a:off x="3486150" y="4733925"/>
            <a:ext cx="1419225" cy="581025"/>
          </a:xfrm>
          <a:prstGeom prst="rect">
            <a:avLst/>
          </a:prstGeom>
          <a:noFill/>
          <a:ln w="0">
            <a:noFill/>
          </a:ln>
        </p:spPr>
        <p:txBody>
          <a:bodyPr wrap="square" lIns="0" tIns="0" rIns="0" bIns="0" anchor="ctr">
            <a:normAutofit/>
          </a:bodyPr>
          <a:lstStyle/>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Mini retrieves and reviews TOCs</a:t>
            </a:r>
          </a:p>
        </p:txBody>
      </p:sp>
      <p:sp>
        <p:nvSpPr>
          <p:cNvPr id="49" name="Rectangle 48">
            <a:extLst>
              <a:ext uri="{FF2B5EF4-FFF2-40B4-BE49-F238E27FC236}">
                <a16:creationId xmlns:a16="http://schemas.microsoft.com/office/drawing/2014/main" id="{6AA5ED4B-E269-4A52-A644-6D38F925E219}"/>
              </a:ext>
            </a:extLst>
          </p:cNvPr>
          <p:cNvSpPr>
            <a:spLocks noGrp="1"/>
          </p:cNvSpPr>
          <p:nvPr/>
        </p:nvSpPr>
        <p:spPr>
          <a:xfrm>
            <a:off x="4981575" y="4867275"/>
            <a:ext cx="171450" cy="19050"/>
          </a:xfrm>
          <a:prstGeom prst="rect">
            <a:avLst/>
          </a:prstGeom>
          <a:solidFill>
            <a:srgbClr val="A31F34"/>
          </a:solidFill>
          <a:ln w="0">
            <a:noFill/>
          </a:ln>
        </p:spPr>
        <p:txBody>
          <a:bodyPr/>
          <a:lstStyle/>
          <a:p>
            <a:endParaRPr lang="en-US"/>
          </a:p>
        </p:txBody>
      </p:sp>
      <p:sp>
        <p:nvSpPr>
          <p:cNvPr id="50" name="Rounded Rectangle 49">
            <a:extLst>
              <a:ext uri="{FF2B5EF4-FFF2-40B4-BE49-F238E27FC236}">
                <a16:creationId xmlns:a16="http://schemas.microsoft.com/office/drawing/2014/main" id="{CB8645F8-2E00-49B8-9034-85C7EB73B181}"/>
              </a:ext>
            </a:extLst>
          </p:cNvPr>
          <p:cNvSpPr>
            <a:spLocks noGrp="1"/>
          </p:cNvSpPr>
          <p:nvPr/>
        </p:nvSpPr>
        <p:spPr>
          <a:xfrm>
            <a:off x="5191125" y="4743450"/>
            <a:ext cx="266700" cy="266700"/>
          </a:xfrm>
          <a:prstGeom prst="roundRect">
            <a:avLst>
              <a:gd name="adj" fmla="val 50000"/>
            </a:avLst>
          </a:prstGeom>
          <a:solidFill>
            <a:srgbClr val="A31F34"/>
          </a:solidFill>
          <a:ln w="0">
            <a:noFill/>
          </a:ln>
        </p:spPr>
        <p:txBody>
          <a:bodyPr/>
          <a:lstStyle/>
          <a:p>
            <a:endParaRPr lang="en-US"/>
          </a:p>
        </p:txBody>
      </p:sp>
      <p:sp>
        <p:nvSpPr>
          <p:cNvPr id="51" name="Rectangle 50">
            <a:extLst>
              <a:ext uri="{FF2B5EF4-FFF2-40B4-BE49-F238E27FC236}">
                <a16:creationId xmlns:a16="http://schemas.microsoft.com/office/drawing/2014/main" id="{4E4AF37F-71D9-4807-B0FC-BEDA605CD1BD}"/>
              </a:ext>
            </a:extLst>
          </p:cNvPr>
          <p:cNvSpPr>
            <a:spLocks noGrp="1"/>
          </p:cNvSpPr>
          <p:nvPr/>
        </p:nvSpPr>
        <p:spPr>
          <a:xfrm>
            <a:off x="5191125" y="4752975"/>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2</a:t>
            </a:r>
          </a:p>
        </p:txBody>
      </p:sp>
      <p:sp>
        <p:nvSpPr>
          <p:cNvPr id="52" name="Rectangle 51">
            <a:extLst>
              <a:ext uri="{FF2B5EF4-FFF2-40B4-BE49-F238E27FC236}">
                <a16:creationId xmlns:a16="http://schemas.microsoft.com/office/drawing/2014/main" id="{9219A3FD-963E-4F79-8915-AA6F14549A3D}"/>
              </a:ext>
            </a:extLst>
          </p:cNvPr>
          <p:cNvSpPr>
            <a:spLocks noGrp="1"/>
          </p:cNvSpPr>
          <p:nvPr/>
        </p:nvSpPr>
        <p:spPr>
          <a:xfrm>
            <a:off x="5534025" y="4733925"/>
            <a:ext cx="1419225" cy="581025"/>
          </a:xfrm>
          <a:prstGeom prst="rect">
            <a:avLst/>
          </a:prstGeom>
          <a:noFill/>
          <a:ln w="0">
            <a:noFill/>
          </a:ln>
        </p:spPr>
        <p:txBody>
          <a:bodyPr wrap="square" lIns="0" tIns="0" rIns="0" bIns="0" anchor="ctr">
            <a:normAutofit/>
          </a:bodyPr>
          <a:lstStyle/>
          <a:p>
            <a:pPr algn="l">
              <a:lnSpc>
                <a:spcPct val="98000"/>
              </a:lnSpc>
              <a:buNone/>
              <a:defRPr sz="1088" b="1" i="0">
                <a:solidFill>
                  <a:srgbClr val="111111"/>
                </a:solidFill>
                <a:latin typeface="Calibri"/>
                <a:ea typeface="Calibri"/>
                <a:cs typeface="Calibri"/>
              </a:defRPr>
            </a:pPr>
            <a:r>
              <a:rPr sz="1088" b="1" i="0">
                <a:solidFill>
                  <a:srgbClr val="111111"/>
                </a:solidFill>
                <a:latin typeface="Calibri"/>
                <a:ea typeface="Calibri"/>
                <a:cs typeface="Calibri"/>
              </a:rPr>
              <a:t>TOC review sets the table signal</a:t>
            </a:r>
          </a:p>
        </p:txBody>
      </p:sp>
      <p:sp>
        <p:nvSpPr>
          <p:cNvPr id="53" name="Rectangle 52">
            <a:extLst>
              <a:ext uri="{FF2B5EF4-FFF2-40B4-BE49-F238E27FC236}">
                <a16:creationId xmlns:a16="http://schemas.microsoft.com/office/drawing/2014/main" id="{716B08AB-1C7E-4DC9-835A-803AEA15CC20}"/>
              </a:ext>
            </a:extLst>
          </p:cNvPr>
          <p:cNvSpPr>
            <a:spLocks noGrp="1"/>
          </p:cNvSpPr>
          <p:nvPr/>
        </p:nvSpPr>
        <p:spPr>
          <a:xfrm>
            <a:off x="7029450" y="4867275"/>
            <a:ext cx="171450" cy="19050"/>
          </a:xfrm>
          <a:prstGeom prst="rect">
            <a:avLst/>
          </a:prstGeom>
          <a:solidFill>
            <a:srgbClr val="A31F34"/>
          </a:solidFill>
          <a:ln w="0">
            <a:noFill/>
          </a:ln>
        </p:spPr>
        <p:txBody>
          <a:bodyPr/>
          <a:lstStyle/>
          <a:p>
            <a:endParaRPr lang="en-US"/>
          </a:p>
        </p:txBody>
      </p:sp>
      <p:sp>
        <p:nvSpPr>
          <p:cNvPr id="54" name="Rounded Rectangle 53">
            <a:extLst>
              <a:ext uri="{FF2B5EF4-FFF2-40B4-BE49-F238E27FC236}">
                <a16:creationId xmlns:a16="http://schemas.microsoft.com/office/drawing/2014/main" id="{BE99BA08-9028-4783-B082-64BD38FBE208}"/>
              </a:ext>
            </a:extLst>
          </p:cNvPr>
          <p:cNvSpPr>
            <a:spLocks noGrp="1"/>
          </p:cNvSpPr>
          <p:nvPr/>
        </p:nvSpPr>
        <p:spPr>
          <a:xfrm>
            <a:off x="7239000" y="4743450"/>
            <a:ext cx="266700" cy="266700"/>
          </a:xfrm>
          <a:prstGeom prst="roundRect">
            <a:avLst>
              <a:gd name="adj" fmla="val 50000"/>
            </a:avLst>
          </a:prstGeom>
          <a:solidFill>
            <a:srgbClr val="A31F34"/>
          </a:solidFill>
          <a:ln w="0">
            <a:noFill/>
          </a:ln>
        </p:spPr>
        <p:txBody>
          <a:bodyPr/>
          <a:lstStyle/>
          <a:p>
            <a:endParaRPr lang="en-US"/>
          </a:p>
        </p:txBody>
      </p:sp>
      <p:sp>
        <p:nvSpPr>
          <p:cNvPr id="55" name="Rectangle 54">
            <a:extLst>
              <a:ext uri="{FF2B5EF4-FFF2-40B4-BE49-F238E27FC236}">
                <a16:creationId xmlns:a16="http://schemas.microsoft.com/office/drawing/2014/main" id="{E048BCE7-E7F9-4773-8BA6-3F72BE438FF2}"/>
              </a:ext>
            </a:extLst>
          </p:cNvPr>
          <p:cNvSpPr>
            <a:spLocks noGrp="1"/>
          </p:cNvSpPr>
          <p:nvPr/>
        </p:nvSpPr>
        <p:spPr>
          <a:xfrm>
            <a:off x="7239000" y="4752975"/>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3</a:t>
            </a:r>
          </a:p>
        </p:txBody>
      </p:sp>
      <p:sp>
        <p:nvSpPr>
          <p:cNvPr id="56" name="Rectangle 55">
            <a:extLst>
              <a:ext uri="{FF2B5EF4-FFF2-40B4-BE49-F238E27FC236}">
                <a16:creationId xmlns:a16="http://schemas.microsoft.com/office/drawing/2014/main" id="{9387A74F-8BB3-40D3-A21A-CF3C68733FA0}"/>
              </a:ext>
            </a:extLst>
          </p:cNvPr>
          <p:cNvSpPr>
            <a:spLocks noGrp="1"/>
          </p:cNvSpPr>
          <p:nvPr/>
        </p:nvSpPr>
        <p:spPr>
          <a:xfrm>
            <a:off x="7581900" y="4733925"/>
            <a:ext cx="1419225" cy="581025"/>
          </a:xfrm>
          <a:prstGeom prst="rect">
            <a:avLst/>
          </a:prstGeom>
          <a:noFill/>
          <a:ln w="0">
            <a:noFill/>
          </a:ln>
        </p:spPr>
        <p:txBody>
          <a:bodyPr wrap="square" lIns="0" tIns="0" rIns="0" bIns="0" anchor="ctr">
            <a:normAutofit/>
          </a:bodyPr>
          <a:lstStyle/>
          <a:p>
            <a:pPr algn="l">
              <a:lnSpc>
                <a:spcPct val="98000"/>
              </a:lnSpc>
              <a:buNone/>
              <a:defRPr sz="1088" b="1" i="0">
                <a:solidFill>
                  <a:srgbClr val="111111"/>
                </a:solidFill>
                <a:latin typeface="Calibri"/>
                <a:ea typeface="Calibri"/>
                <a:cs typeface="Calibri"/>
              </a:defRPr>
            </a:pPr>
            <a:r>
              <a:rPr sz="1088" b="1" i="0">
                <a:solidFill>
                  <a:srgbClr val="111111"/>
                </a:solidFill>
                <a:latin typeface="Calibri"/>
                <a:ea typeface="Calibri"/>
                <a:cs typeface="Calibri"/>
              </a:rPr>
              <a:t>Table route: gpt-5.4 assessor + answer</a:t>
            </a:r>
          </a:p>
        </p:txBody>
      </p:sp>
      <p:sp>
        <p:nvSpPr>
          <p:cNvPr id="57" name="Rectangle 56">
            <a:extLst>
              <a:ext uri="{FF2B5EF4-FFF2-40B4-BE49-F238E27FC236}">
                <a16:creationId xmlns:a16="http://schemas.microsoft.com/office/drawing/2014/main" id="{2118575D-7C56-4DB7-AC79-0145B5067C3E}"/>
              </a:ext>
            </a:extLst>
          </p:cNvPr>
          <p:cNvSpPr>
            <a:spLocks noGrp="1"/>
          </p:cNvSpPr>
          <p:nvPr/>
        </p:nvSpPr>
        <p:spPr>
          <a:xfrm>
            <a:off x="9077325" y="4867275"/>
            <a:ext cx="171450" cy="19050"/>
          </a:xfrm>
          <a:prstGeom prst="rect">
            <a:avLst/>
          </a:prstGeom>
          <a:solidFill>
            <a:srgbClr val="A31F34"/>
          </a:solidFill>
          <a:ln w="0">
            <a:noFill/>
          </a:ln>
        </p:spPr>
        <p:txBody>
          <a:bodyPr/>
          <a:lstStyle/>
          <a:p>
            <a:endParaRPr lang="en-US"/>
          </a:p>
        </p:txBody>
      </p:sp>
      <p:sp>
        <p:nvSpPr>
          <p:cNvPr id="58" name="Rounded Rectangle 57">
            <a:extLst>
              <a:ext uri="{FF2B5EF4-FFF2-40B4-BE49-F238E27FC236}">
                <a16:creationId xmlns:a16="http://schemas.microsoft.com/office/drawing/2014/main" id="{78AC9B47-048A-4CD2-9495-2487C1FB282E}"/>
              </a:ext>
            </a:extLst>
          </p:cNvPr>
          <p:cNvSpPr>
            <a:spLocks noGrp="1"/>
          </p:cNvSpPr>
          <p:nvPr/>
        </p:nvSpPr>
        <p:spPr>
          <a:xfrm>
            <a:off x="9286875" y="4743450"/>
            <a:ext cx="266700" cy="266700"/>
          </a:xfrm>
          <a:prstGeom prst="roundRect">
            <a:avLst>
              <a:gd name="adj" fmla="val 50000"/>
            </a:avLst>
          </a:prstGeom>
          <a:solidFill>
            <a:srgbClr val="A31F34"/>
          </a:solidFill>
          <a:ln w="0">
            <a:noFill/>
          </a:ln>
        </p:spPr>
        <p:txBody>
          <a:bodyPr/>
          <a:lstStyle/>
          <a:p>
            <a:endParaRPr lang="en-US"/>
          </a:p>
        </p:txBody>
      </p:sp>
      <p:sp>
        <p:nvSpPr>
          <p:cNvPr id="59" name="Rectangle 58">
            <a:extLst>
              <a:ext uri="{FF2B5EF4-FFF2-40B4-BE49-F238E27FC236}">
                <a16:creationId xmlns:a16="http://schemas.microsoft.com/office/drawing/2014/main" id="{3ED7F2B9-3CF6-4D31-9E62-FF703F21D127}"/>
              </a:ext>
            </a:extLst>
          </p:cNvPr>
          <p:cNvSpPr>
            <a:spLocks noGrp="1"/>
          </p:cNvSpPr>
          <p:nvPr/>
        </p:nvSpPr>
        <p:spPr>
          <a:xfrm>
            <a:off x="9286875" y="4752975"/>
            <a:ext cx="266700" cy="247650"/>
          </a:xfrm>
          <a:prstGeom prst="rect">
            <a:avLst/>
          </a:prstGeom>
          <a:noFill/>
          <a:ln w="0">
            <a:noFill/>
          </a:ln>
        </p:spPr>
        <p:txBody>
          <a:bodyPr wrap="square" lIns="0" tIns="0" rIns="0" bIns="0" anchor="ctr">
            <a:normAutofit/>
          </a:bodyPr>
          <a:lstStyle/>
          <a:p>
            <a:pPr algn="ctr">
              <a:lnSpc>
                <a:spcPct val="100000"/>
              </a:lnSpc>
              <a:buNone/>
              <a:defRPr sz="1088" b="1" i="0">
                <a:solidFill>
                  <a:srgbClr val="FFFFFF"/>
                </a:solidFill>
                <a:latin typeface="Calibri"/>
                <a:ea typeface="Calibri"/>
                <a:cs typeface="Calibri"/>
              </a:defRPr>
            </a:pPr>
            <a:r>
              <a:rPr sz="1088" b="1" i="0">
                <a:solidFill>
                  <a:srgbClr val="FFFFFF"/>
                </a:solidFill>
                <a:latin typeface="Calibri"/>
                <a:ea typeface="Calibri"/>
                <a:cs typeface="Calibri"/>
              </a:rPr>
              <a:t>4</a:t>
            </a:r>
          </a:p>
        </p:txBody>
      </p:sp>
      <p:sp>
        <p:nvSpPr>
          <p:cNvPr id="60" name="Rectangle 59">
            <a:extLst>
              <a:ext uri="{FF2B5EF4-FFF2-40B4-BE49-F238E27FC236}">
                <a16:creationId xmlns:a16="http://schemas.microsoft.com/office/drawing/2014/main" id="{90ADA98D-CD9E-4393-A91C-03D3398DFC70}"/>
              </a:ext>
            </a:extLst>
          </p:cNvPr>
          <p:cNvSpPr>
            <a:spLocks noGrp="1"/>
          </p:cNvSpPr>
          <p:nvPr/>
        </p:nvSpPr>
        <p:spPr>
          <a:xfrm>
            <a:off x="9629775" y="4733925"/>
            <a:ext cx="1419225" cy="581025"/>
          </a:xfrm>
          <a:prstGeom prst="rect">
            <a:avLst/>
          </a:prstGeom>
          <a:noFill/>
          <a:ln w="0">
            <a:noFill/>
          </a:ln>
        </p:spPr>
        <p:txBody>
          <a:bodyPr wrap="square" lIns="0" tIns="0" rIns="0" bIns="0" anchor="ctr">
            <a:normAutofit/>
          </a:bodyPr>
          <a:lstStyle/>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Mini planner</a:t>
            </a:r>
          </a:p>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No extra router call</a:t>
            </a:r>
          </a:p>
          <a:p>
            <a:pPr algn="l">
              <a:lnSpc>
                <a:spcPct val="98000"/>
              </a:lnSpc>
              <a:buNone/>
              <a:defRPr sz="1088" b="0" i="0">
                <a:solidFill>
                  <a:srgbClr val="111111"/>
                </a:solidFill>
                <a:latin typeface="Calibri"/>
                <a:ea typeface="Calibri"/>
                <a:cs typeface="Calibri"/>
              </a:defRPr>
            </a:pPr>
            <a:r>
              <a:rPr sz="1088" b="0" i="0">
                <a:solidFill>
                  <a:srgbClr val="111111"/>
                </a:solidFill>
                <a:latin typeface="Calibri"/>
                <a:ea typeface="Calibri"/>
                <a:cs typeface="Calibri"/>
              </a:rPr>
              <a:t>3 repeated runs</a:t>
            </a:r>
          </a:p>
        </p:txBody>
      </p:sp>
      <p:sp>
        <p:nvSpPr>
          <p:cNvPr id="61" name="Rectangle 60">
            <a:extLst>
              <a:ext uri="{FF2B5EF4-FFF2-40B4-BE49-F238E27FC236}">
                <a16:creationId xmlns:a16="http://schemas.microsoft.com/office/drawing/2014/main" id="{5BAADEEE-5DBC-4F59-9832-5F94F6B6FEA4}"/>
              </a:ext>
            </a:extLst>
          </p:cNvPr>
          <p:cNvSpPr>
            <a:spLocks noGrp="1"/>
          </p:cNvSpPr>
          <p:nvPr/>
        </p:nvSpPr>
        <p:spPr>
          <a:xfrm>
            <a:off x="1143000" y="6096000"/>
            <a:ext cx="9906000" cy="323850"/>
          </a:xfrm>
          <a:prstGeom prst="rect">
            <a:avLst/>
          </a:prstGeom>
          <a:noFill/>
          <a:ln w="0">
            <a:noFill/>
          </a:ln>
        </p:spPr>
        <p:txBody>
          <a:bodyPr wrap="square" lIns="0" tIns="0" rIns="0" bIns="0" anchor="ctr">
            <a:normAutofit fontScale="91437"/>
          </a:bodyPr>
          <a:lstStyle/>
          <a:p>
            <a:pPr algn="ctr">
              <a:lnSpc>
                <a:spcPct val="100000"/>
              </a:lnSpc>
              <a:buNone/>
              <a:defRPr sz="1313" b="1" i="0">
                <a:solidFill>
                  <a:srgbClr val="5E5E5E"/>
                </a:solidFill>
                <a:latin typeface="Calibri"/>
                <a:ea typeface="Calibri"/>
                <a:cs typeface="Calibri"/>
              </a:defRPr>
            </a:pPr>
            <a:r>
              <a:rPr sz="1313" b="1" i="0">
                <a:solidFill>
                  <a:srgbClr val="5E5E5E"/>
                </a:solidFill>
                <a:latin typeface="Calibri"/>
                <a:ea typeface="Calibri"/>
                <a:cs typeface="Calibri"/>
              </a:rPr>
              <a:t>The final route waits for retrieval, uses the article and table structure already selected, and avoids both a separate router call and a full second pass.</a:t>
            </a:r>
          </a:p>
        </p:txBody>
      </p:sp>
    </p:spTree>
    <p:extLst>
      <p:ext uri="{BB962C8B-B14F-4D97-AF65-F5344CB8AC3E}">
        <p14:creationId xmlns:p14="http://schemas.microsoft.com/office/powerpoint/2010/main" val="1964713223"/>
      </p:ext>
    </p:extLst>
  </p:cSld>
  <p:clrMapOvr>
    <a:masterClrMapping/>
  </p:clrMapOvr>
</p:sld>
</file>

<file path=ppt/theme/theme1.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Wa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Wa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3990</TotalTime>
  <Words>4814</Words>
  <Application>Microsoft Macintosh PowerPoint</Application>
  <DocSecurity>0</DocSecurity>
  <PresentationFormat>Widescreen</PresentationFormat>
  <Paragraphs>553</Paragraphs>
  <Slides>23</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1_MIT 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Elena Baron</cp:lastModifiedBy>
  <cp:revision>2</cp:revision>
  <dcterms:created xsi:type="dcterms:W3CDTF">2026-10-06T23:35:30Z</dcterms:created>
  <dcterms:modified xsi:type="dcterms:W3CDTF">2026-10-11T15:20:12Z</dcterms:modified>
</cp:coreProperties>
</file>